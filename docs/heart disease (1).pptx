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Lst>
  <p:sldSz cy="5143500" cx="9144000"/>
  <p:notesSz cx="6858000" cy="9144000"/>
  <p:embeddedFontLst>
    <p:embeddedFont>
      <p:font typeface="Roboto Black"/>
      <p:bold r:id="rId30"/>
      <p:boldItalic r:id="rId31"/>
    </p:embeddedFont>
    <p:embeddedFont>
      <p:font typeface="Montserrat"/>
      <p:regular r:id="rId32"/>
      <p:bold r:id="rId33"/>
      <p:italic r:id="rId34"/>
      <p:boldItalic r:id="rId35"/>
    </p:embeddedFont>
    <p:embeddedFont>
      <p:font typeface="Lato"/>
      <p:regular r:id="rId36"/>
      <p:bold r:id="rId37"/>
      <p:italic r:id="rId38"/>
      <p:boldItalic r:id="rId39"/>
    </p:embeddedFont>
    <p:embeddedFont>
      <p:font typeface="Assistant"/>
      <p:regular r:id="rId40"/>
      <p:bold r:id="rId41"/>
    </p:embeddedFont>
    <p:embeddedFont>
      <p:font typeface="Assistant ExtraBold"/>
      <p:bold r:id="rId4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9F3E54F5-BDC7-40B5-AFDF-021B44CC6DB0}">
  <a:tblStyle styleId="{9F3E54F5-BDC7-40B5-AFDF-021B44CC6DB0}"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Assistant-regular.fntdata"/><Relationship Id="rId20" Type="http://schemas.openxmlformats.org/officeDocument/2006/relationships/slide" Target="slides/slide14.xml"/><Relationship Id="rId42" Type="http://schemas.openxmlformats.org/officeDocument/2006/relationships/font" Target="fonts/AssistantExtraBold-bold.fntdata"/><Relationship Id="rId41" Type="http://schemas.openxmlformats.org/officeDocument/2006/relationships/font" Target="fonts/Assistant-bold.fntdata"/><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RobotoBlack-boldItalic.fntdata"/><Relationship Id="rId30" Type="http://schemas.openxmlformats.org/officeDocument/2006/relationships/font" Target="fonts/RobotoBlack-bold.fntdata"/><Relationship Id="rId11" Type="http://schemas.openxmlformats.org/officeDocument/2006/relationships/slide" Target="slides/slide5.xml"/><Relationship Id="rId33" Type="http://schemas.openxmlformats.org/officeDocument/2006/relationships/font" Target="fonts/Montserrat-bold.fntdata"/><Relationship Id="rId10" Type="http://schemas.openxmlformats.org/officeDocument/2006/relationships/slide" Target="slides/slide4.xml"/><Relationship Id="rId32" Type="http://schemas.openxmlformats.org/officeDocument/2006/relationships/font" Target="fonts/Montserrat-regular.fntdata"/><Relationship Id="rId13" Type="http://schemas.openxmlformats.org/officeDocument/2006/relationships/slide" Target="slides/slide7.xml"/><Relationship Id="rId35" Type="http://schemas.openxmlformats.org/officeDocument/2006/relationships/font" Target="fonts/Montserrat-boldItalic.fntdata"/><Relationship Id="rId12" Type="http://schemas.openxmlformats.org/officeDocument/2006/relationships/slide" Target="slides/slide6.xml"/><Relationship Id="rId34" Type="http://schemas.openxmlformats.org/officeDocument/2006/relationships/font" Target="fonts/Montserrat-italic.fntdata"/><Relationship Id="rId15" Type="http://schemas.openxmlformats.org/officeDocument/2006/relationships/slide" Target="slides/slide9.xml"/><Relationship Id="rId37" Type="http://schemas.openxmlformats.org/officeDocument/2006/relationships/font" Target="fonts/Lato-bold.fntdata"/><Relationship Id="rId14" Type="http://schemas.openxmlformats.org/officeDocument/2006/relationships/slide" Target="slides/slide8.xml"/><Relationship Id="rId36" Type="http://schemas.openxmlformats.org/officeDocument/2006/relationships/font" Target="fonts/Lato-regular.fntdata"/><Relationship Id="rId17" Type="http://schemas.openxmlformats.org/officeDocument/2006/relationships/slide" Target="slides/slide11.xml"/><Relationship Id="rId39" Type="http://schemas.openxmlformats.org/officeDocument/2006/relationships/font" Target="fonts/Lato-boldItalic.fntdata"/><Relationship Id="rId16" Type="http://schemas.openxmlformats.org/officeDocument/2006/relationships/slide" Target="slides/slide10.xml"/><Relationship Id="rId38" Type="http://schemas.openxmlformats.org/officeDocument/2006/relationships/font" Target="fonts/Lato-italic.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3f5390e222b_0_2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g3f5390e222b_0_2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3f5390e222b_0_9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6" name="Google Shape;176;g3f5390e222b_0_9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3f5390e222b_55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5" name="Google Shape;195;g3f5390e222b_55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3f5390e222b_0_11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0" name="Google Shape;200;g3f5390e222b_0_11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3f5390e222b_55_1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1" name="Google Shape;221;g3f5390e222b_55_1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3f5390e222b_55_40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0" name="Google Shape;240;g3f5390e222b_55_40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g3f5390e222b_55_40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0" name="Google Shape;260;g3f5390e222b_55_40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g3f5390e222b_55_7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0" name="Google Shape;270;g3f5390e222b_55_7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g3f5390e222b_55_11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7" name="Google Shape;307;g3f5390e222b_55_11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g3f5390e222b_55_14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4" name="Google Shape;354;g3f5390e222b_55_14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g3f5390e222b_55_17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1" name="Google Shape;381;g3f5390e222b_55_17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g3f5390e222b_55_20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0" name="Google Shape;400;g3f5390e222b_55_20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7" name="Shape 417"/>
        <p:cNvGrpSpPr/>
        <p:nvPr/>
      </p:nvGrpSpPr>
      <p:grpSpPr>
        <a:xfrm>
          <a:off x="0" y="0"/>
          <a:ext cx="0" cy="0"/>
          <a:chOff x="0" y="0"/>
          <a:chExt cx="0" cy="0"/>
        </a:xfrm>
      </p:grpSpPr>
      <p:sp>
        <p:nvSpPr>
          <p:cNvPr id="418" name="Google Shape;418;g3f5390e222b_55_23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9" name="Google Shape;419;g3f5390e222b_55_23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6" name="Shape 436"/>
        <p:cNvGrpSpPr/>
        <p:nvPr/>
      </p:nvGrpSpPr>
      <p:grpSpPr>
        <a:xfrm>
          <a:off x="0" y="0"/>
          <a:ext cx="0" cy="0"/>
          <a:chOff x="0" y="0"/>
          <a:chExt cx="0" cy="0"/>
        </a:xfrm>
      </p:grpSpPr>
      <p:sp>
        <p:nvSpPr>
          <p:cNvPr id="437" name="Google Shape;437;g3f5390e222b_55_26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8" name="Google Shape;438;g3f5390e222b_55_26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5" name="Shape 455"/>
        <p:cNvGrpSpPr/>
        <p:nvPr/>
      </p:nvGrpSpPr>
      <p:grpSpPr>
        <a:xfrm>
          <a:off x="0" y="0"/>
          <a:ext cx="0" cy="0"/>
          <a:chOff x="0" y="0"/>
          <a:chExt cx="0" cy="0"/>
        </a:xfrm>
      </p:grpSpPr>
      <p:sp>
        <p:nvSpPr>
          <p:cNvPr id="456" name="Google Shape;456;g3f5390e222b_55_48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7" name="Google Shape;457;g3f5390e222b_55_48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8" name="Shape 468"/>
        <p:cNvGrpSpPr/>
        <p:nvPr/>
      </p:nvGrpSpPr>
      <p:grpSpPr>
        <a:xfrm>
          <a:off x="0" y="0"/>
          <a:ext cx="0" cy="0"/>
          <a:chOff x="0" y="0"/>
          <a:chExt cx="0" cy="0"/>
        </a:xfrm>
      </p:grpSpPr>
      <p:sp>
        <p:nvSpPr>
          <p:cNvPr id="469" name="Google Shape;469;g3f5390e222b_55_49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0" name="Google Shape;470;g3f5390e222b_55_49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1" name="Shape 481"/>
        <p:cNvGrpSpPr/>
        <p:nvPr/>
      </p:nvGrpSpPr>
      <p:grpSpPr>
        <a:xfrm>
          <a:off x="0" y="0"/>
          <a:ext cx="0" cy="0"/>
          <a:chOff x="0" y="0"/>
          <a:chExt cx="0" cy="0"/>
        </a:xfrm>
      </p:grpSpPr>
      <p:sp>
        <p:nvSpPr>
          <p:cNvPr id="482" name="Google Shape;482;g3f5390e222b_55_49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3" name="Google Shape;483;g3f5390e222b_55_49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3" name="Shape 493"/>
        <p:cNvGrpSpPr/>
        <p:nvPr/>
      </p:nvGrpSpPr>
      <p:grpSpPr>
        <a:xfrm>
          <a:off x="0" y="0"/>
          <a:ext cx="0" cy="0"/>
          <a:chOff x="0" y="0"/>
          <a:chExt cx="0" cy="0"/>
        </a:xfrm>
      </p:grpSpPr>
      <p:sp>
        <p:nvSpPr>
          <p:cNvPr id="494" name="Google Shape;494;g3f5390e222b_55_52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5" name="Google Shape;495;g3f5390e222b_55_52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5" name="Shape 505"/>
        <p:cNvGrpSpPr/>
        <p:nvPr/>
      </p:nvGrpSpPr>
      <p:grpSpPr>
        <a:xfrm>
          <a:off x="0" y="0"/>
          <a:ext cx="0" cy="0"/>
          <a:chOff x="0" y="0"/>
          <a:chExt cx="0" cy="0"/>
        </a:xfrm>
      </p:grpSpPr>
      <p:sp>
        <p:nvSpPr>
          <p:cNvPr id="506" name="Google Shape;506;g3f5390e222b_55_36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7" name="Google Shape;507;g3f5390e222b_55_36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4" name="Shape 524"/>
        <p:cNvGrpSpPr/>
        <p:nvPr/>
      </p:nvGrpSpPr>
      <p:grpSpPr>
        <a:xfrm>
          <a:off x="0" y="0"/>
          <a:ext cx="0" cy="0"/>
          <a:chOff x="0" y="0"/>
          <a:chExt cx="0" cy="0"/>
        </a:xfrm>
      </p:grpSpPr>
      <p:sp>
        <p:nvSpPr>
          <p:cNvPr id="525" name="Google Shape;525;g3f5390e222b_55_58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6" name="Google Shape;526;g3f5390e222b_55_58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3" name="Shape 533"/>
        <p:cNvGrpSpPr/>
        <p:nvPr/>
      </p:nvGrpSpPr>
      <p:grpSpPr>
        <a:xfrm>
          <a:off x="0" y="0"/>
          <a:ext cx="0" cy="0"/>
          <a:chOff x="0" y="0"/>
          <a:chExt cx="0" cy="0"/>
        </a:xfrm>
      </p:grpSpPr>
      <p:sp>
        <p:nvSpPr>
          <p:cNvPr id="534" name="Google Shape;534;g3f5390e222b_55_58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5" name="Google Shape;535;g3f5390e222b_55_58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1" name="Shape 551"/>
        <p:cNvGrpSpPr/>
        <p:nvPr/>
      </p:nvGrpSpPr>
      <p:grpSpPr>
        <a:xfrm>
          <a:off x="0" y="0"/>
          <a:ext cx="0" cy="0"/>
          <a:chOff x="0" y="0"/>
          <a:chExt cx="0" cy="0"/>
        </a:xfrm>
      </p:grpSpPr>
      <p:sp>
        <p:nvSpPr>
          <p:cNvPr id="552" name="Google Shape;552;g3f5390e222b_55_39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3" name="Google Shape;553;g3f5390e222b_55_39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rot="5400000">
            <a:off x="7500300" y="505"/>
            <a:ext cx="1643700" cy="1643700"/>
          </a:xfrm>
          <a:prstGeom prst="diagStripe">
            <a:avLst>
              <a:gd fmla="val 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0" y="490"/>
            <a:ext cx="5153705" cy="5134399"/>
            <a:chOff x="0" y="75"/>
            <a:chExt cx="5153705" cy="5152950"/>
          </a:xfrm>
        </p:grpSpPr>
        <p:sp>
          <p:nvSpPr>
            <p:cNvPr id="12" name="Google Shape;12;p2"/>
            <p:cNvSpPr/>
            <p:nvPr/>
          </p:nvSpPr>
          <p:spPr>
            <a:xfrm rot="-5400000">
              <a:off x="455" y="-225"/>
              <a:ext cx="5152800" cy="5153700"/>
            </a:xfrm>
            <a:prstGeom prst="diagStripe">
              <a:avLst>
                <a:gd fmla="val 5000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150" y="1145825"/>
              <a:ext cx="3996600" cy="3996900"/>
            </a:xfrm>
            <a:prstGeom prst="diagStripe">
              <a:avLst>
                <a:gd fmla="val 58774"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rot="-5400000">
              <a:off x="1646" y="-75"/>
              <a:ext cx="2299800" cy="23001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flipH="1">
              <a:off x="652821" y="590035"/>
              <a:ext cx="2300100" cy="2299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 name="Google Shape;16;p2"/>
          <p:cNvSpPr txBox="1"/>
          <p:nvPr>
            <p:ph type="ctrTitle"/>
          </p:nvPr>
        </p:nvSpPr>
        <p:spPr>
          <a:xfrm>
            <a:off x="3537150" y="1578400"/>
            <a:ext cx="5017500" cy="1578900"/>
          </a:xfrm>
          <a:prstGeom prst="rect">
            <a:avLst/>
          </a:prstGeom>
        </p:spPr>
        <p:txBody>
          <a:bodyPr anchorCtr="0" anchor="t" bIns="91425" lIns="91425" spcFirstLastPara="1" rIns="91425" wrap="square" tIns="91425">
            <a:normAutofit/>
          </a:bodyPr>
          <a:lstStyle>
            <a:lvl1pPr lvl="0">
              <a:spcBef>
                <a:spcPts val="0"/>
              </a:spcBef>
              <a:spcAft>
                <a:spcPts val="0"/>
              </a:spcAft>
              <a:buSzPts val="4000"/>
              <a:buNone/>
              <a:defRPr sz="4000"/>
            </a:lvl1pPr>
            <a:lvl2pPr lvl="1">
              <a:spcBef>
                <a:spcPts val="0"/>
              </a:spcBef>
              <a:spcAft>
                <a:spcPts val="0"/>
              </a:spcAft>
              <a:buSzPts val="4000"/>
              <a:buNone/>
              <a:defRPr sz="4000"/>
            </a:lvl2pPr>
            <a:lvl3pPr lvl="2">
              <a:spcBef>
                <a:spcPts val="0"/>
              </a:spcBef>
              <a:spcAft>
                <a:spcPts val="0"/>
              </a:spcAft>
              <a:buSzPts val="4000"/>
              <a:buNone/>
              <a:defRPr sz="4000"/>
            </a:lvl3pPr>
            <a:lvl4pPr lvl="3">
              <a:spcBef>
                <a:spcPts val="0"/>
              </a:spcBef>
              <a:spcAft>
                <a:spcPts val="0"/>
              </a:spcAft>
              <a:buSzPts val="4000"/>
              <a:buNone/>
              <a:defRPr sz="4000"/>
            </a:lvl4pPr>
            <a:lvl5pPr lvl="4">
              <a:spcBef>
                <a:spcPts val="0"/>
              </a:spcBef>
              <a:spcAft>
                <a:spcPts val="0"/>
              </a:spcAft>
              <a:buSzPts val="4000"/>
              <a:buNone/>
              <a:defRPr sz="4000"/>
            </a:lvl5pPr>
            <a:lvl6pPr lvl="5">
              <a:spcBef>
                <a:spcPts val="0"/>
              </a:spcBef>
              <a:spcAft>
                <a:spcPts val="0"/>
              </a:spcAft>
              <a:buSzPts val="4000"/>
              <a:buNone/>
              <a:defRPr sz="4000"/>
            </a:lvl6pPr>
            <a:lvl7pPr lvl="6">
              <a:spcBef>
                <a:spcPts val="0"/>
              </a:spcBef>
              <a:spcAft>
                <a:spcPts val="0"/>
              </a:spcAft>
              <a:buSzPts val="4000"/>
              <a:buNone/>
              <a:defRPr sz="4000"/>
            </a:lvl7pPr>
            <a:lvl8pPr lvl="7">
              <a:spcBef>
                <a:spcPts val="0"/>
              </a:spcBef>
              <a:spcAft>
                <a:spcPts val="0"/>
              </a:spcAft>
              <a:buSzPts val="4000"/>
              <a:buNone/>
              <a:defRPr sz="4000"/>
            </a:lvl8pPr>
            <a:lvl9pPr lvl="8">
              <a:spcBef>
                <a:spcPts val="0"/>
              </a:spcBef>
              <a:spcAft>
                <a:spcPts val="0"/>
              </a:spcAft>
              <a:buSzPts val="4000"/>
              <a:buNone/>
              <a:defRPr sz="4000"/>
            </a:lvl9pPr>
          </a:lstStyle>
          <a:p/>
        </p:txBody>
      </p:sp>
      <p:sp>
        <p:nvSpPr>
          <p:cNvPr id="17" name="Google Shape;17;p2"/>
          <p:cNvSpPr txBox="1"/>
          <p:nvPr>
            <p:ph idx="1" type="subTitle"/>
          </p:nvPr>
        </p:nvSpPr>
        <p:spPr>
          <a:xfrm>
            <a:off x="5083950" y="3924925"/>
            <a:ext cx="3470700" cy="5061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18" name="Google Shape;18;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w"/>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9" name="Shape 19"/>
        <p:cNvGrpSpPr/>
        <p:nvPr/>
      </p:nvGrpSpPr>
      <p:grpSpPr>
        <a:xfrm>
          <a:off x="0" y="0"/>
          <a:ext cx="0" cy="0"/>
          <a:chOff x="0" y="0"/>
          <a:chExt cx="0" cy="0"/>
        </a:xfrm>
      </p:grpSpPr>
      <p:grpSp>
        <p:nvGrpSpPr>
          <p:cNvPr id="20" name="Google Shape;20;p3"/>
          <p:cNvGrpSpPr/>
          <p:nvPr/>
        </p:nvGrpSpPr>
        <p:grpSpPr>
          <a:xfrm>
            <a:off x="4406400" y="0"/>
            <a:ext cx="4737600" cy="5143065"/>
            <a:chOff x="4406400" y="0"/>
            <a:chExt cx="4737600" cy="5143065"/>
          </a:xfrm>
        </p:grpSpPr>
        <p:sp>
          <p:nvSpPr>
            <p:cNvPr id="21" name="Google Shape;21;p3"/>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3"/>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3"/>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3"/>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3"/>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3"/>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3"/>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3"/>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3"/>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3"/>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3"/>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3"/>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3"/>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3"/>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3"/>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9" name="Google Shape;39;p3"/>
          <p:cNvSpPr txBox="1"/>
          <p:nvPr>
            <p:ph type="title"/>
          </p:nvPr>
        </p:nvSpPr>
        <p:spPr>
          <a:xfrm>
            <a:off x="823850" y="2053000"/>
            <a:ext cx="4587000" cy="1148700"/>
          </a:xfrm>
          <a:prstGeom prst="rect">
            <a:avLst/>
          </a:prstGeom>
        </p:spPr>
        <p:txBody>
          <a:bodyPr anchorCtr="0" anchor="ctr"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0" name="Google Shape;40;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w"/>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41" name="Shape 41"/>
        <p:cNvGrpSpPr/>
        <p:nvPr/>
      </p:nvGrpSpPr>
      <p:grpSpPr>
        <a:xfrm>
          <a:off x="0" y="0"/>
          <a:ext cx="0" cy="0"/>
          <a:chOff x="0" y="0"/>
          <a:chExt cx="0" cy="0"/>
        </a:xfrm>
      </p:grpSpPr>
      <p:grpSp>
        <p:nvGrpSpPr>
          <p:cNvPr id="42" name="Google Shape;42;p4"/>
          <p:cNvGrpSpPr/>
          <p:nvPr/>
        </p:nvGrpSpPr>
        <p:grpSpPr>
          <a:xfrm>
            <a:off x="0" y="381001"/>
            <a:ext cx="1037850" cy="1016287"/>
            <a:chOff x="0" y="381001"/>
            <a:chExt cx="1037850" cy="1016287"/>
          </a:xfrm>
        </p:grpSpPr>
        <p:sp>
          <p:nvSpPr>
            <p:cNvPr id="43" name="Google Shape;43;p4"/>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4"/>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4"/>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6" name="Google Shape;46;p4"/>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47" name="Google Shape;47;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w"/>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48" name="Shape 48"/>
        <p:cNvGrpSpPr/>
        <p:nvPr/>
      </p:nvGrpSpPr>
      <p:grpSpPr>
        <a:xfrm>
          <a:off x="0" y="0"/>
          <a:ext cx="0" cy="0"/>
          <a:chOff x="0" y="0"/>
          <a:chExt cx="0" cy="0"/>
        </a:xfrm>
      </p:grpSpPr>
      <p:grpSp>
        <p:nvGrpSpPr>
          <p:cNvPr id="49" name="Google Shape;49;p5"/>
          <p:cNvGrpSpPr/>
          <p:nvPr/>
        </p:nvGrpSpPr>
        <p:grpSpPr>
          <a:xfrm>
            <a:off x="0" y="381001"/>
            <a:ext cx="1037850" cy="1016287"/>
            <a:chOff x="0" y="381001"/>
            <a:chExt cx="1037850" cy="1016287"/>
          </a:xfrm>
        </p:grpSpPr>
        <p:sp>
          <p:nvSpPr>
            <p:cNvPr id="50" name="Google Shape;50;p5"/>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5"/>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5"/>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53" name="Google Shape;53;p5"/>
          <p:cNvSpPr txBox="1"/>
          <p:nvPr>
            <p:ph idx="1" type="body"/>
          </p:nvPr>
        </p:nvSpPr>
        <p:spPr>
          <a:xfrm>
            <a:off x="1297500" y="1567550"/>
            <a:ext cx="34032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4" name="Google Shape;54;p5"/>
          <p:cNvSpPr txBox="1"/>
          <p:nvPr>
            <p:ph idx="2" type="body"/>
          </p:nvPr>
        </p:nvSpPr>
        <p:spPr>
          <a:xfrm>
            <a:off x="4933221" y="1567550"/>
            <a:ext cx="34032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5" name="Google Shape;55;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w"/>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6" name="Shape 56"/>
        <p:cNvGrpSpPr/>
        <p:nvPr/>
      </p:nvGrpSpPr>
      <p:grpSpPr>
        <a:xfrm>
          <a:off x="0" y="0"/>
          <a:ext cx="0" cy="0"/>
          <a:chOff x="0" y="0"/>
          <a:chExt cx="0" cy="0"/>
        </a:xfrm>
      </p:grpSpPr>
      <p:grpSp>
        <p:nvGrpSpPr>
          <p:cNvPr id="57" name="Google Shape;57;p6"/>
          <p:cNvGrpSpPr/>
          <p:nvPr/>
        </p:nvGrpSpPr>
        <p:grpSpPr>
          <a:xfrm>
            <a:off x="0" y="381001"/>
            <a:ext cx="1037850" cy="1016287"/>
            <a:chOff x="0" y="381001"/>
            <a:chExt cx="1037850" cy="1016287"/>
          </a:xfrm>
        </p:grpSpPr>
        <p:sp>
          <p:nvSpPr>
            <p:cNvPr id="58" name="Google Shape;58;p6"/>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6"/>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0" name="Google Shape;60;p6"/>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1" name="Google Shape;61;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w"/>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62" name="Shape 62"/>
        <p:cNvGrpSpPr/>
        <p:nvPr/>
      </p:nvGrpSpPr>
      <p:grpSpPr>
        <a:xfrm>
          <a:off x="0" y="0"/>
          <a:ext cx="0" cy="0"/>
          <a:chOff x="0" y="0"/>
          <a:chExt cx="0" cy="0"/>
        </a:xfrm>
      </p:grpSpPr>
      <p:grpSp>
        <p:nvGrpSpPr>
          <p:cNvPr id="63" name="Google Shape;63;p7"/>
          <p:cNvGrpSpPr/>
          <p:nvPr/>
        </p:nvGrpSpPr>
        <p:grpSpPr>
          <a:xfrm>
            <a:off x="0" y="381001"/>
            <a:ext cx="1037850" cy="1016287"/>
            <a:chOff x="0" y="381001"/>
            <a:chExt cx="1037850" cy="1016287"/>
          </a:xfrm>
        </p:grpSpPr>
        <p:sp>
          <p:nvSpPr>
            <p:cNvPr id="64" name="Google Shape;64;p7"/>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7"/>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7"/>
          <p:cNvSpPr txBox="1"/>
          <p:nvPr>
            <p:ph type="title"/>
          </p:nvPr>
        </p:nvSpPr>
        <p:spPr>
          <a:xfrm>
            <a:off x="1297500" y="393750"/>
            <a:ext cx="3798900" cy="1493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7" name="Google Shape;67;p7"/>
          <p:cNvSpPr txBox="1"/>
          <p:nvPr>
            <p:ph idx="1" type="body"/>
          </p:nvPr>
        </p:nvSpPr>
        <p:spPr>
          <a:xfrm>
            <a:off x="1297500" y="1972550"/>
            <a:ext cx="3798900" cy="24159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8" name="Google Shape;68;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w"/>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69" name="Shape 69"/>
        <p:cNvGrpSpPr/>
        <p:nvPr/>
      </p:nvGrpSpPr>
      <p:grpSpPr>
        <a:xfrm>
          <a:off x="0" y="0"/>
          <a:ext cx="0" cy="0"/>
          <a:chOff x="0" y="0"/>
          <a:chExt cx="0" cy="0"/>
        </a:xfrm>
      </p:grpSpPr>
      <p:grpSp>
        <p:nvGrpSpPr>
          <p:cNvPr id="70" name="Google Shape;70;p8"/>
          <p:cNvGrpSpPr/>
          <p:nvPr/>
        </p:nvGrpSpPr>
        <p:grpSpPr>
          <a:xfrm>
            <a:off x="4406400" y="0"/>
            <a:ext cx="4737600" cy="5143500"/>
            <a:chOff x="4406400" y="0"/>
            <a:chExt cx="4737600" cy="5143500"/>
          </a:xfrm>
        </p:grpSpPr>
        <p:sp>
          <p:nvSpPr>
            <p:cNvPr id="71" name="Google Shape;71;p8"/>
            <p:cNvSpPr/>
            <p:nvPr/>
          </p:nvSpPr>
          <p:spPr>
            <a:xfrm rot="5400000">
              <a:off x="4407900" y="-1500"/>
              <a:ext cx="47346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8"/>
            <p:cNvSpPr/>
            <p:nvPr/>
          </p:nvSpPr>
          <p:spPr>
            <a:xfrm rot="5400000">
              <a:off x="4840825" y="6000"/>
              <a:ext cx="42987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8"/>
            <p:cNvSpPr/>
            <p:nvPr/>
          </p:nvSpPr>
          <p:spPr>
            <a:xfrm rot="-5400000">
              <a:off x="5618399" y="123664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8"/>
            <p:cNvSpPr/>
            <p:nvPr/>
          </p:nvSpPr>
          <p:spPr>
            <a:xfrm flipH="1">
              <a:off x="5849857" y="144407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8"/>
            <p:cNvSpPr/>
            <p:nvPr/>
          </p:nvSpPr>
          <p:spPr>
            <a:xfrm rot="-5400000">
              <a:off x="5987081" y="246974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8"/>
            <p:cNvSpPr/>
            <p:nvPr/>
          </p:nvSpPr>
          <p:spPr>
            <a:xfrm flipH="1">
              <a:off x="6222115" y="2677179"/>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8"/>
            <p:cNvSpPr/>
            <p:nvPr/>
          </p:nvSpPr>
          <p:spPr>
            <a:xfrm rot="-5400000">
              <a:off x="6675341" y="186224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8"/>
            <p:cNvSpPr/>
            <p:nvPr/>
          </p:nvSpPr>
          <p:spPr>
            <a:xfrm flipH="1">
              <a:off x="6908099" y="2069680"/>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8"/>
            <p:cNvSpPr/>
            <p:nvPr/>
          </p:nvSpPr>
          <p:spPr>
            <a:xfrm rot="-5400000">
              <a:off x="6861141" y="247808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8"/>
            <p:cNvSpPr/>
            <p:nvPr/>
          </p:nvSpPr>
          <p:spPr>
            <a:xfrm flipH="1">
              <a:off x="7965266" y="269319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8"/>
            <p:cNvSpPr/>
            <p:nvPr/>
          </p:nvSpPr>
          <p:spPr>
            <a:xfrm flipH="1">
              <a:off x="8145082" y="330903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8"/>
            <p:cNvSpPr/>
            <p:nvPr/>
          </p:nvSpPr>
          <p:spPr>
            <a:xfrm rot="-5400000">
              <a:off x="7047599" y="309534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8"/>
            <p:cNvSpPr/>
            <p:nvPr/>
          </p:nvSpPr>
          <p:spPr>
            <a:xfrm flipH="1">
              <a:off x="7276649" y="330278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8"/>
            <p:cNvSpPr/>
            <p:nvPr/>
          </p:nvSpPr>
          <p:spPr>
            <a:xfrm rot="-5400000">
              <a:off x="7227414" y="3711189"/>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8"/>
            <p:cNvSpPr/>
            <p:nvPr/>
          </p:nvSpPr>
          <p:spPr>
            <a:xfrm flipH="1">
              <a:off x="7462448" y="391862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8"/>
            <p:cNvSpPr/>
            <p:nvPr/>
          </p:nvSpPr>
          <p:spPr>
            <a:xfrm rot="-5400000">
              <a:off x="8102491" y="37188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8"/>
            <p:cNvSpPr/>
            <p:nvPr/>
          </p:nvSpPr>
          <p:spPr>
            <a:xfrm flipH="1">
              <a:off x="8334533" y="392629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8"/>
            <p:cNvSpPr/>
            <p:nvPr/>
          </p:nvSpPr>
          <p:spPr>
            <a:xfrm rot="-5400000">
              <a:off x="8288290" y="433470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9" name="Google Shape;89;p8"/>
          <p:cNvSpPr txBox="1"/>
          <p:nvPr>
            <p:ph type="title"/>
          </p:nvPr>
        </p:nvSpPr>
        <p:spPr>
          <a:xfrm>
            <a:off x="823850" y="866775"/>
            <a:ext cx="4587000" cy="3521100"/>
          </a:xfrm>
          <a:prstGeom prst="rect">
            <a:avLst/>
          </a:prstGeom>
        </p:spPr>
        <p:txBody>
          <a:bodyPr anchorCtr="0" anchor="ctr"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0" name="Google Shape;90;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w"/>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91" name="Shape 91"/>
        <p:cNvGrpSpPr/>
        <p:nvPr/>
      </p:nvGrpSpPr>
      <p:grpSpPr>
        <a:xfrm>
          <a:off x="0" y="0"/>
          <a:ext cx="0" cy="0"/>
          <a:chOff x="0" y="0"/>
          <a:chExt cx="0" cy="0"/>
        </a:xfrm>
      </p:grpSpPr>
      <p:grpSp>
        <p:nvGrpSpPr>
          <p:cNvPr id="92" name="Google Shape;92;p9"/>
          <p:cNvGrpSpPr/>
          <p:nvPr/>
        </p:nvGrpSpPr>
        <p:grpSpPr>
          <a:xfrm>
            <a:off x="0" y="381001"/>
            <a:ext cx="1037850" cy="1016287"/>
            <a:chOff x="0" y="381001"/>
            <a:chExt cx="1037850" cy="1016287"/>
          </a:xfrm>
        </p:grpSpPr>
        <p:sp>
          <p:nvSpPr>
            <p:cNvPr id="93" name="Google Shape;93;p9"/>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9"/>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5" name="Google Shape;95;p9"/>
          <p:cNvSpPr txBox="1"/>
          <p:nvPr>
            <p:ph type="title"/>
          </p:nvPr>
        </p:nvSpPr>
        <p:spPr>
          <a:xfrm>
            <a:off x="1297500" y="1658325"/>
            <a:ext cx="3036300" cy="17517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96" name="Google Shape;96;p9"/>
          <p:cNvSpPr txBox="1"/>
          <p:nvPr>
            <p:ph idx="1" type="subTitle"/>
          </p:nvPr>
        </p:nvSpPr>
        <p:spPr>
          <a:xfrm>
            <a:off x="1297500" y="3538000"/>
            <a:ext cx="3036300" cy="5061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97" name="Google Shape;97;p9"/>
          <p:cNvSpPr txBox="1"/>
          <p:nvPr>
            <p:ph idx="2" type="body"/>
          </p:nvPr>
        </p:nvSpPr>
        <p:spPr>
          <a:xfrm>
            <a:off x="4648200" y="1696600"/>
            <a:ext cx="3676800" cy="234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8" name="Google Shape;98;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w"/>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99" name="Shape 99"/>
        <p:cNvGrpSpPr/>
        <p:nvPr/>
      </p:nvGrpSpPr>
      <p:grpSpPr>
        <a:xfrm>
          <a:off x="0" y="0"/>
          <a:ext cx="0" cy="0"/>
          <a:chOff x="0" y="0"/>
          <a:chExt cx="0" cy="0"/>
        </a:xfrm>
      </p:grpSpPr>
      <p:grpSp>
        <p:nvGrpSpPr>
          <p:cNvPr id="100" name="Google Shape;100;p10"/>
          <p:cNvGrpSpPr/>
          <p:nvPr/>
        </p:nvGrpSpPr>
        <p:grpSpPr>
          <a:xfrm>
            <a:off x="0" y="4128572"/>
            <a:ext cx="698925" cy="684657"/>
            <a:chOff x="0" y="3785672"/>
            <a:chExt cx="698925" cy="684657"/>
          </a:xfrm>
        </p:grpSpPr>
        <p:sp>
          <p:nvSpPr>
            <p:cNvPr id="101" name="Google Shape;101;p10"/>
            <p:cNvSpPr/>
            <p:nvPr/>
          </p:nvSpPr>
          <p:spPr>
            <a:xfrm rot="-5400000">
              <a:off x="0" y="3785672"/>
              <a:ext cx="544800" cy="544800"/>
            </a:xfrm>
            <a:prstGeom prst="diagStripe">
              <a:avLst>
                <a:gd fmla="val 50000" name="adj"/>
              </a:avLst>
            </a:prstGeom>
            <a:solidFill>
              <a:schemeClr val="lt1">
                <a:alpha val="96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10"/>
            <p:cNvSpPr/>
            <p:nvPr/>
          </p:nvSpPr>
          <p:spPr>
            <a:xfrm flipH="1">
              <a:off x="154125" y="3925529"/>
              <a:ext cx="544800" cy="544800"/>
            </a:xfrm>
            <a:prstGeom prst="diagStripe">
              <a:avLst>
                <a:gd fmla="val 50000" name="adj"/>
              </a:avLst>
            </a:prstGeom>
            <a:solidFill>
              <a:schemeClr val="lt1">
                <a:alpha val="96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3" name="Google Shape;103;p10"/>
          <p:cNvSpPr txBox="1"/>
          <p:nvPr>
            <p:ph idx="1" type="body"/>
          </p:nvPr>
        </p:nvSpPr>
        <p:spPr>
          <a:xfrm>
            <a:off x="812725" y="4305375"/>
            <a:ext cx="6936000" cy="523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04" name="Google Shape;104;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w"/>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05" name="Shape 105"/>
        <p:cNvGrpSpPr/>
        <p:nvPr/>
      </p:nvGrpSpPr>
      <p:grpSpPr>
        <a:xfrm>
          <a:off x="0" y="0"/>
          <a:ext cx="0" cy="0"/>
          <a:chOff x="0" y="0"/>
          <a:chExt cx="0" cy="0"/>
        </a:xfrm>
      </p:grpSpPr>
      <p:grpSp>
        <p:nvGrpSpPr>
          <p:cNvPr id="106" name="Google Shape;106;p11"/>
          <p:cNvGrpSpPr/>
          <p:nvPr/>
        </p:nvGrpSpPr>
        <p:grpSpPr>
          <a:xfrm>
            <a:off x="4406400" y="0"/>
            <a:ext cx="4737600" cy="5143065"/>
            <a:chOff x="4406400" y="0"/>
            <a:chExt cx="4737600" cy="5143065"/>
          </a:xfrm>
        </p:grpSpPr>
        <p:sp>
          <p:nvSpPr>
            <p:cNvPr id="107" name="Google Shape;107;p11"/>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11"/>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11"/>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11"/>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11"/>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1"/>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1"/>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1"/>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11"/>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11"/>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1"/>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1"/>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11"/>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11"/>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11"/>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11"/>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11"/>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11"/>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5" name="Google Shape;125;p11"/>
          <p:cNvSpPr txBox="1"/>
          <p:nvPr>
            <p:ph hasCustomPrompt="1" type="title"/>
          </p:nvPr>
        </p:nvSpPr>
        <p:spPr>
          <a:xfrm>
            <a:off x="823850" y="1284675"/>
            <a:ext cx="4776000" cy="1300800"/>
          </a:xfrm>
          <a:prstGeom prst="rect">
            <a:avLst/>
          </a:prstGeom>
        </p:spPr>
        <p:txBody>
          <a:bodyPr anchorCtr="0" anchor="t" bIns="91425" lIns="91425" spcFirstLastPara="1" rIns="91425" wrap="square" tIns="91425">
            <a:normAutofit/>
          </a:bodyPr>
          <a:lstStyle>
            <a:lvl1pPr lvl="0">
              <a:spcBef>
                <a:spcPts val="0"/>
              </a:spcBef>
              <a:spcAft>
                <a:spcPts val="0"/>
              </a:spcAft>
              <a:buSzPts val="8000"/>
              <a:buNone/>
              <a:defRPr sz="8000"/>
            </a:lvl1pPr>
            <a:lvl2pPr lvl="1">
              <a:spcBef>
                <a:spcPts val="0"/>
              </a:spcBef>
              <a:spcAft>
                <a:spcPts val="0"/>
              </a:spcAft>
              <a:buSzPts val="8000"/>
              <a:buNone/>
              <a:defRPr sz="8000"/>
            </a:lvl2pPr>
            <a:lvl3pPr lvl="2">
              <a:spcBef>
                <a:spcPts val="0"/>
              </a:spcBef>
              <a:spcAft>
                <a:spcPts val="0"/>
              </a:spcAft>
              <a:buSzPts val="8000"/>
              <a:buNone/>
              <a:defRPr sz="8000"/>
            </a:lvl3pPr>
            <a:lvl4pPr lvl="3">
              <a:spcBef>
                <a:spcPts val="0"/>
              </a:spcBef>
              <a:spcAft>
                <a:spcPts val="0"/>
              </a:spcAft>
              <a:buSzPts val="8000"/>
              <a:buNone/>
              <a:defRPr sz="8000"/>
            </a:lvl4pPr>
            <a:lvl5pPr lvl="4">
              <a:spcBef>
                <a:spcPts val="0"/>
              </a:spcBef>
              <a:spcAft>
                <a:spcPts val="0"/>
              </a:spcAft>
              <a:buSzPts val="8000"/>
              <a:buNone/>
              <a:defRPr sz="8000"/>
            </a:lvl5pPr>
            <a:lvl6pPr lvl="5">
              <a:spcBef>
                <a:spcPts val="0"/>
              </a:spcBef>
              <a:spcAft>
                <a:spcPts val="0"/>
              </a:spcAft>
              <a:buSzPts val="8000"/>
              <a:buNone/>
              <a:defRPr sz="8000"/>
            </a:lvl6pPr>
            <a:lvl7pPr lvl="6">
              <a:spcBef>
                <a:spcPts val="0"/>
              </a:spcBef>
              <a:spcAft>
                <a:spcPts val="0"/>
              </a:spcAft>
              <a:buSzPts val="8000"/>
              <a:buNone/>
              <a:defRPr sz="8000"/>
            </a:lvl7pPr>
            <a:lvl8pPr lvl="7">
              <a:spcBef>
                <a:spcPts val="0"/>
              </a:spcBef>
              <a:spcAft>
                <a:spcPts val="0"/>
              </a:spcAft>
              <a:buSzPts val="8000"/>
              <a:buNone/>
              <a:defRPr sz="8000"/>
            </a:lvl8pPr>
            <a:lvl9pPr lvl="8">
              <a:spcBef>
                <a:spcPts val="0"/>
              </a:spcBef>
              <a:spcAft>
                <a:spcPts val="0"/>
              </a:spcAft>
              <a:buSzPts val="8000"/>
              <a:buNone/>
              <a:defRPr sz="8000"/>
            </a:lvl9pPr>
          </a:lstStyle>
          <a:p>
            <a:r>
              <a:t>xx%</a:t>
            </a:r>
          </a:p>
        </p:txBody>
      </p:sp>
      <p:sp>
        <p:nvSpPr>
          <p:cNvPr id="126" name="Google Shape;126;p11"/>
          <p:cNvSpPr txBox="1"/>
          <p:nvPr>
            <p:ph idx="1" type="body"/>
          </p:nvPr>
        </p:nvSpPr>
        <p:spPr>
          <a:xfrm>
            <a:off x="823850" y="2643124"/>
            <a:ext cx="4776000" cy="12189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27" name="Google Shape;12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w"/>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8" name="Shape 128"/>
        <p:cNvGrpSpPr/>
        <p:nvPr/>
      </p:nvGrpSpPr>
      <p:grpSpPr>
        <a:xfrm>
          <a:off x="0" y="0"/>
          <a:ext cx="0" cy="0"/>
          <a:chOff x="0" y="0"/>
          <a:chExt cx="0" cy="0"/>
        </a:xfrm>
      </p:grpSpPr>
      <p:sp>
        <p:nvSpPr>
          <p:cNvPr id="129" name="Google Shape;12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w"/>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nerated (g3f5390e222b_7_0)">
  <p:cSld name="Generated (g3f5390e222b_7_0)">
    <p:spTree>
      <p:nvGrpSpPr>
        <p:cNvPr id="130" name="Shape 13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focus">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1pPr>
            <a:lvl2pPr lvl="1">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2pPr>
            <a:lvl3pPr lvl="2">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3pPr>
            <a:lvl4pPr lvl="3">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4pPr>
            <a:lvl5pPr lvl="4">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5pPr>
            <a:lvl6pPr lvl="5">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6pPr>
            <a:lvl7pPr lvl="6">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7pPr>
            <a:lvl8pPr lvl="7">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8pPr>
            <a:lvl9pPr lvl="8">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lt1"/>
              </a:buClr>
              <a:buSzPts val="1300"/>
              <a:buFont typeface="Lato"/>
              <a:buChar char="●"/>
              <a:defRPr sz="1300">
                <a:solidFill>
                  <a:schemeClr val="lt1"/>
                </a:solidFill>
                <a:latin typeface="Lato"/>
                <a:ea typeface="Lato"/>
                <a:cs typeface="Lato"/>
                <a:sym typeface="Lato"/>
              </a:defRPr>
            </a:lvl1pPr>
            <a:lvl2pPr indent="-298450" lvl="1" marL="914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2pPr>
            <a:lvl3pPr indent="-298450" lvl="2" marL="1371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3pPr>
            <a:lvl4pPr indent="-298450" lvl="3" marL="1828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4pPr>
            <a:lvl5pPr indent="-298450" lvl="4" marL="22860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5pPr>
            <a:lvl6pPr indent="-298450" lvl="5" marL="27432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6pPr>
            <a:lvl7pPr indent="-298450" lvl="6" marL="3200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7pPr>
            <a:lvl8pPr indent="-298450" lvl="7" marL="3657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8pPr>
            <a:lvl9pPr indent="-298450" lvl="8" marL="4114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1"/>
                </a:solidFill>
                <a:latin typeface="Lato"/>
                <a:ea typeface="Lato"/>
                <a:cs typeface="Lato"/>
                <a:sym typeface="Lato"/>
              </a:defRPr>
            </a:lvl1pPr>
            <a:lvl2pPr lvl="1" algn="r">
              <a:buNone/>
              <a:defRPr sz="1000">
                <a:solidFill>
                  <a:schemeClr val="lt1"/>
                </a:solidFill>
                <a:latin typeface="Lato"/>
                <a:ea typeface="Lato"/>
                <a:cs typeface="Lato"/>
                <a:sym typeface="Lato"/>
              </a:defRPr>
            </a:lvl2pPr>
            <a:lvl3pPr lvl="2" algn="r">
              <a:buNone/>
              <a:defRPr sz="1000">
                <a:solidFill>
                  <a:schemeClr val="lt1"/>
                </a:solidFill>
                <a:latin typeface="Lato"/>
                <a:ea typeface="Lato"/>
                <a:cs typeface="Lato"/>
                <a:sym typeface="Lato"/>
              </a:defRPr>
            </a:lvl3pPr>
            <a:lvl4pPr lvl="3" algn="r">
              <a:buNone/>
              <a:defRPr sz="1000">
                <a:solidFill>
                  <a:schemeClr val="lt1"/>
                </a:solidFill>
                <a:latin typeface="Lato"/>
                <a:ea typeface="Lato"/>
                <a:cs typeface="Lato"/>
                <a:sym typeface="Lato"/>
              </a:defRPr>
            </a:lvl4pPr>
            <a:lvl5pPr lvl="4" algn="r">
              <a:buNone/>
              <a:defRPr sz="1000">
                <a:solidFill>
                  <a:schemeClr val="lt1"/>
                </a:solidFill>
                <a:latin typeface="Lato"/>
                <a:ea typeface="Lato"/>
                <a:cs typeface="Lato"/>
                <a:sym typeface="Lato"/>
              </a:defRPr>
            </a:lvl5pPr>
            <a:lvl6pPr lvl="5" algn="r">
              <a:buNone/>
              <a:defRPr sz="1000">
                <a:solidFill>
                  <a:schemeClr val="lt1"/>
                </a:solidFill>
                <a:latin typeface="Lato"/>
                <a:ea typeface="Lato"/>
                <a:cs typeface="Lato"/>
                <a:sym typeface="Lato"/>
              </a:defRPr>
            </a:lvl6pPr>
            <a:lvl7pPr lvl="6" algn="r">
              <a:buNone/>
              <a:defRPr sz="1000">
                <a:solidFill>
                  <a:schemeClr val="lt1"/>
                </a:solidFill>
                <a:latin typeface="Lato"/>
                <a:ea typeface="Lato"/>
                <a:cs typeface="Lato"/>
                <a:sym typeface="Lato"/>
              </a:defRPr>
            </a:lvl7pPr>
            <a:lvl8pPr lvl="7" algn="r">
              <a:buNone/>
              <a:defRPr sz="1000">
                <a:solidFill>
                  <a:schemeClr val="lt1"/>
                </a:solidFill>
                <a:latin typeface="Lato"/>
                <a:ea typeface="Lato"/>
                <a:cs typeface="Lato"/>
                <a:sym typeface="Lato"/>
              </a:defRPr>
            </a:lvl8pPr>
            <a:lvl9pPr lvl="8" algn="r">
              <a:buNone/>
              <a:defRPr sz="1000">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iw"/>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6.png"/></Relationships>
</file>

<file path=ppt/slides/_rels/slide2.xml.rels><?xml version="1.0" encoding="UTF-8" standalone="yes"?><Relationships xmlns="http://schemas.openxmlformats.org/package/2006/relationships"><Relationship Id="rId11" Type="http://schemas.openxmlformats.org/officeDocument/2006/relationships/image" Target="../media/image12.png"/><Relationship Id="rId10" Type="http://schemas.openxmlformats.org/officeDocument/2006/relationships/image" Target="../media/image14.png"/><Relationship Id="rId13" Type="http://schemas.openxmlformats.org/officeDocument/2006/relationships/image" Target="../media/image18.png"/><Relationship Id="rId12" Type="http://schemas.openxmlformats.org/officeDocument/2006/relationships/image" Target="../media/image9.png"/><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13.png"/><Relationship Id="rId4" Type="http://schemas.openxmlformats.org/officeDocument/2006/relationships/image" Target="../media/image20.png"/><Relationship Id="rId9" Type="http://schemas.openxmlformats.org/officeDocument/2006/relationships/image" Target="../media/image8.png"/><Relationship Id="rId14" Type="http://schemas.openxmlformats.org/officeDocument/2006/relationships/image" Target="../media/image19.png"/><Relationship Id="rId5" Type="http://schemas.openxmlformats.org/officeDocument/2006/relationships/image" Target="../media/image11.png"/><Relationship Id="rId6" Type="http://schemas.openxmlformats.org/officeDocument/2006/relationships/image" Target="../media/image10.png"/><Relationship Id="rId7" Type="http://schemas.openxmlformats.org/officeDocument/2006/relationships/image" Target="../media/image4.png"/><Relationship Id="rId8" Type="http://schemas.openxmlformats.org/officeDocument/2006/relationships/image" Target="../media/image1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17.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xml"/><Relationship Id="rId3" Type="http://schemas.openxmlformats.org/officeDocument/2006/relationships/image" Target="../media/image7.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2.png"/><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image" Target="../media/image21.png"/><Relationship Id="rId4" Type="http://schemas.openxmlformats.org/officeDocument/2006/relationships/image" Target="../media/image2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 Id="rId3" Type="http://schemas.openxmlformats.org/officeDocument/2006/relationships/image" Target="../media/image38.png"/><Relationship Id="rId4" Type="http://schemas.openxmlformats.org/officeDocument/2006/relationships/image" Target="../media/image4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 Id="rId3" Type="http://schemas.openxmlformats.org/officeDocument/2006/relationships/image" Target="../media/image22.png"/><Relationship Id="rId4" Type="http://schemas.openxmlformats.org/officeDocument/2006/relationships/image" Target="../media/image2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 Id="rId3" Type="http://schemas.openxmlformats.org/officeDocument/2006/relationships/image" Target="../media/image4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 Id="rId3" Type="http://schemas.openxmlformats.org/officeDocument/2006/relationships/image" Target="../media/image4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 Id="rId3" Type="http://schemas.openxmlformats.org/officeDocument/2006/relationships/image" Target="../media/image2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 Id="rId3" Type="http://schemas.openxmlformats.org/officeDocument/2006/relationships/image" Target="../media/image48.png"/><Relationship Id="rId4" Type="http://schemas.openxmlformats.org/officeDocument/2006/relationships/image" Target="../media/image4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1.xml"/><Relationship Id="rId3" Type="http://schemas.openxmlformats.org/officeDocument/2006/relationships/image" Target="../media/image3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2.xml"/><Relationship Id="rId3" Type="http://schemas.openxmlformats.org/officeDocument/2006/relationships/image" Target="../media/image30.png"/><Relationship Id="rId4" Type="http://schemas.openxmlformats.org/officeDocument/2006/relationships/image" Target="../media/image3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14"/>
          <p:cNvSpPr txBox="1"/>
          <p:nvPr>
            <p:ph type="ctrTitle"/>
          </p:nvPr>
        </p:nvSpPr>
        <p:spPr>
          <a:xfrm>
            <a:off x="2407300" y="1494100"/>
            <a:ext cx="5017500" cy="15789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b="1" lang="iw"/>
              <a:t>heart disease </a:t>
            </a:r>
            <a:endParaRPr b="1"/>
          </a:p>
        </p:txBody>
      </p:sp>
      <p:sp>
        <p:nvSpPr>
          <p:cNvPr id="136" name="Google Shape;136;p14"/>
          <p:cNvSpPr txBox="1"/>
          <p:nvPr>
            <p:ph idx="1" type="subTitle"/>
          </p:nvPr>
        </p:nvSpPr>
        <p:spPr>
          <a:xfrm>
            <a:off x="3092400" y="4074075"/>
            <a:ext cx="3470700" cy="506100"/>
          </a:xfrm>
          <a:prstGeom prst="rect">
            <a:avLst/>
          </a:prstGeom>
        </p:spPr>
        <p:txBody>
          <a:bodyPr anchorCtr="0" anchor="t" bIns="91425" lIns="91425" spcFirstLastPara="1" rIns="91425" wrap="square" tIns="91425">
            <a:normAutofit lnSpcReduction="20000"/>
          </a:bodyPr>
          <a:lstStyle/>
          <a:p>
            <a:pPr indent="0" lvl="0" marL="0" rtl="1" algn="ctr">
              <a:spcBef>
                <a:spcPts val="0"/>
              </a:spcBef>
              <a:spcAft>
                <a:spcPts val="0"/>
              </a:spcAft>
              <a:buNone/>
            </a:pPr>
            <a:r>
              <a:rPr lang="iw"/>
              <a:t>מגישות: דניאל חיים 315573998</a:t>
            </a:r>
            <a:br>
              <a:rPr lang="iw"/>
            </a:br>
            <a:r>
              <a:rPr lang="iw"/>
              <a:t>עופרי עזר 208581561</a:t>
            </a:r>
            <a:endParaRPr/>
          </a:p>
        </p:txBody>
      </p:sp>
      <p:sp>
        <p:nvSpPr>
          <p:cNvPr id="137" name="Google Shape;137;p14"/>
          <p:cNvSpPr txBox="1"/>
          <p:nvPr/>
        </p:nvSpPr>
        <p:spPr>
          <a:xfrm>
            <a:off x="1368950" y="673575"/>
            <a:ext cx="6858000" cy="7143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iw" sz="2960">
                <a:solidFill>
                  <a:srgbClr val="FFFFFF"/>
                </a:solidFill>
                <a:latin typeface="Roboto Black"/>
                <a:ea typeface="Roboto Black"/>
                <a:cs typeface="Roboto Black"/>
                <a:sym typeface="Roboto Black"/>
              </a:rPr>
              <a:t>קורס למידת מכונה</a:t>
            </a:r>
            <a:endParaRPr b="0" sz="2960">
              <a:solidFill>
                <a:srgbClr val="FFFFFF"/>
              </a:solidFill>
              <a:latin typeface="Roboto Black"/>
              <a:ea typeface="Roboto Black"/>
              <a:cs typeface="Roboto Black"/>
              <a:sym typeface="Roboto Black"/>
            </a:endParaRPr>
          </a:p>
          <a:p>
            <a:pPr indent="0" lvl="0" marL="0" rtl="0" algn="ctr">
              <a:spcBef>
                <a:spcPts val="375"/>
              </a:spcBef>
              <a:spcAft>
                <a:spcPts val="0"/>
              </a:spcAft>
              <a:buNone/>
            </a:pPr>
            <a:r>
              <a:rPr b="1" lang="iw" sz="1295">
                <a:solidFill>
                  <a:srgbClr val="00E5FF"/>
                </a:solidFill>
                <a:latin typeface="Courier New"/>
                <a:ea typeface="Courier New"/>
                <a:cs typeface="Courier New"/>
                <a:sym typeface="Courier New"/>
              </a:rPr>
              <a:t>MACHINE LEARNING ARCHITECTURES</a:t>
            </a:r>
            <a:endParaRPr b="1" sz="1295">
              <a:solidFill>
                <a:srgbClr val="00E5FF"/>
              </a:solidFill>
              <a:latin typeface="Courier New"/>
              <a:ea typeface="Courier New"/>
              <a:cs typeface="Courier New"/>
              <a:sym typeface="Courier New"/>
            </a:endParaRPr>
          </a:p>
        </p:txBody>
      </p:sp>
      <p:pic>
        <p:nvPicPr>
          <p:cNvPr id="138" name="Google Shape;138;p14"/>
          <p:cNvPicPr preferRelativeResize="0"/>
          <p:nvPr/>
        </p:nvPicPr>
        <p:blipFill>
          <a:blip r:embed="rId3">
            <a:alphaModFix/>
          </a:blip>
          <a:stretch>
            <a:fillRect/>
          </a:stretch>
        </p:blipFill>
        <p:spPr>
          <a:xfrm>
            <a:off x="4027475" y="2350375"/>
            <a:ext cx="1600551" cy="1600551"/>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pic>
        <p:nvPicPr>
          <p:cNvPr id="143" name="Google Shape;143;p15"/>
          <p:cNvPicPr preferRelativeResize="0"/>
          <p:nvPr/>
        </p:nvPicPr>
        <p:blipFill rotWithShape="1">
          <a:blip r:embed="rId3">
            <a:alphaModFix/>
          </a:blip>
          <a:srcRect b="0" l="0" r="0" t="0"/>
          <a:stretch/>
        </p:blipFill>
        <p:spPr>
          <a:xfrm>
            <a:off x="0" y="0"/>
            <a:ext cx="9144000" cy="5143500"/>
          </a:xfrm>
          <a:prstGeom prst="rect">
            <a:avLst/>
          </a:prstGeom>
          <a:noFill/>
          <a:ln>
            <a:noFill/>
          </a:ln>
        </p:spPr>
      </p:pic>
      <p:pic>
        <p:nvPicPr>
          <p:cNvPr id="144" name="Google Shape;144;p15"/>
          <p:cNvPicPr preferRelativeResize="0"/>
          <p:nvPr/>
        </p:nvPicPr>
        <p:blipFill rotWithShape="1">
          <a:blip r:embed="rId4">
            <a:alphaModFix/>
          </a:blip>
          <a:srcRect b="0" l="0" r="0" t="0"/>
          <a:stretch/>
        </p:blipFill>
        <p:spPr>
          <a:xfrm>
            <a:off x="5843588" y="-1404937"/>
            <a:ext cx="3300300" cy="4524300"/>
          </a:xfrm>
          <a:prstGeom prst="rect">
            <a:avLst/>
          </a:prstGeom>
          <a:noFill/>
          <a:ln>
            <a:noFill/>
          </a:ln>
        </p:spPr>
      </p:pic>
      <p:pic>
        <p:nvPicPr>
          <p:cNvPr id="145" name="Google Shape;145;p15"/>
          <p:cNvPicPr preferRelativeResize="0"/>
          <p:nvPr/>
        </p:nvPicPr>
        <p:blipFill rotWithShape="1">
          <a:blip r:embed="rId5">
            <a:alphaModFix/>
          </a:blip>
          <a:srcRect b="0" l="0" r="0" t="0"/>
          <a:stretch/>
        </p:blipFill>
        <p:spPr>
          <a:xfrm>
            <a:off x="-2009775" y="1309688"/>
            <a:ext cx="5924700" cy="3833700"/>
          </a:xfrm>
          <a:prstGeom prst="rect">
            <a:avLst/>
          </a:prstGeom>
          <a:noFill/>
          <a:ln>
            <a:noFill/>
          </a:ln>
        </p:spPr>
      </p:pic>
      <p:grpSp>
        <p:nvGrpSpPr>
          <p:cNvPr id="146" name="Google Shape;146;p15"/>
          <p:cNvGrpSpPr/>
          <p:nvPr/>
        </p:nvGrpSpPr>
        <p:grpSpPr>
          <a:xfrm>
            <a:off x="0" y="0"/>
            <a:ext cx="9067800" cy="5067300"/>
            <a:chOff x="0" y="0"/>
            <a:chExt cx="9067800" cy="5067300"/>
          </a:xfrm>
        </p:grpSpPr>
        <p:pic>
          <p:nvPicPr>
            <p:cNvPr id="147" name="Google Shape;147;p15"/>
            <p:cNvPicPr preferRelativeResize="0"/>
            <p:nvPr/>
          </p:nvPicPr>
          <p:blipFill rotWithShape="1">
            <a:blip r:embed="rId6">
              <a:alphaModFix/>
            </a:blip>
            <a:srcRect b="0" l="0" r="0" t="0"/>
            <a:stretch/>
          </p:blipFill>
          <p:spPr>
            <a:xfrm>
              <a:off x="0" y="947738"/>
              <a:ext cx="9067800" cy="3438600"/>
            </a:xfrm>
            <a:prstGeom prst="rect">
              <a:avLst/>
            </a:prstGeom>
            <a:noFill/>
            <a:ln>
              <a:noFill/>
            </a:ln>
          </p:spPr>
        </p:pic>
        <p:pic>
          <p:nvPicPr>
            <p:cNvPr id="148" name="Google Shape;148;p15"/>
            <p:cNvPicPr preferRelativeResize="0"/>
            <p:nvPr/>
          </p:nvPicPr>
          <p:blipFill rotWithShape="1">
            <a:blip r:embed="rId7">
              <a:alphaModFix/>
            </a:blip>
            <a:srcRect b="0" l="0" r="0" t="0"/>
            <a:stretch/>
          </p:blipFill>
          <p:spPr>
            <a:xfrm>
              <a:off x="1138238" y="0"/>
              <a:ext cx="6105600" cy="5067300"/>
            </a:xfrm>
            <a:prstGeom prst="rect">
              <a:avLst/>
            </a:prstGeom>
            <a:noFill/>
            <a:ln>
              <a:noFill/>
            </a:ln>
          </p:spPr>
        </p:pic>
      </p:grpSp>
      <p:pic>
        <p:nvPicPr>
          <p:cNvPr id="149" name="Google Shape;149;p15"/>
          <p:cNvPicPr preferRelativeResize="0"/>
          <p:nvPr/>
        </p:nvPicPr>
        <p:blipFill rotWithShape="1">
          <a:blip r:embed="rId8">
            <a:alphaModFix/>
          </a:blip>
          <a:srcRect b="0" l="0" r="0" t="0"/>
          <a:stretch/>
        </p:blipFill>
        <p:spPr>
          <a:xfrm>
            <a:off x="285750" y="285750"/>
            <a:ext cx="285900" cy="285900"/>
          </a:xfrm>
          <a:prstGeom prst="rect">
            <a:avLst/>
          </a:prstGeom>
          <a:noFill/>
          <a:ln>
            <a:noFill/>
          </a:ln>
        </p:spPr>
      </p:pic>
      <p:pic>
        <p:nvPicPr>
          <p:cNvPr id="150" name="Google Shape;150;p15"/>
          <p:cNvPicPr preferRelativeResize="0"/>
          <p:nvPr/>
        </p:nvPicPr>
        <p:blipFill rotWithShape="1">
          <a:blip r:embed="rId9">
            <a:alphaModFix/>
          </a:blip>
          <a:srcRect b="0" l="0" r="0" t="0"/>
          <a:stretch/>
        </p:blipFill>
        <p:spPr>
          <a:xfrm>
            <a:off x="8572500" y="4572000"/>
            <a:ext cx="285900" cy="285900"/>
          </a:xfrm>
          <a:prstGeom prst="rect">
            <a:avLst/>
          </a:prstGeom>
          <a:noFill/>
          <a:ln>
            <a:noFill/>
          </a:ln>
        </p:spPr>
      </p:pic>
      <p:grpSp>
        <p:nvGrpSpPr>
          <p:cNvPr id="151" name="Google Shape;151;p15"/>
          <p:cNvGrpSpPr/>
          <p:nvPr/>
        </p:nvGrpSpPr>
        <p:grpSpPr>
          <a:xfrm>
            <a:off x="0" y="-19050"/>
            <a:ext cx="1905000" cy="419100"/>
            <a:chOff x="0" y="-19050"/>
            <a:chExt cx="1905000" cy="419100"/>
          </a:xfrm>
        </p:grpSpPr>
        <p:pic>
          <p:nvPicPr>
            <p:cNvPr id="152" name="Google Shape;152;p15"/>
            <p:cNvPicPr preferRelativeResize="0"/>
            <p:nvPr/>
          </p:nvPicPr>
          <p:blipFill rotWithShape="1">
            <a:blip r:embed="rId10">
              <a:alphaModFix/>
            </a:blip>
            <a:srcRect b="0" l="0" r="0" t="0"/>
            <a:stretch/>
          </p:blipFill>
          <p:spPr>
            <a:xfrm>
              <a:off x="0" y="-19050"/>
              <a:ext cx="1905000" cy="419100"/>
            </a:xfrm>
            <a:prstGeom prst="rect">
              <a:avLst/>
            </a:prstGeom>
            <a:noFill/>
            <a:ln>
              <a:noFill/>
            </a:ln>
          </p:spPr>
        </p:pic>
        <p:pic>
          <p:nvPicPr>
            <p:cNvPr id="153" name="Google Shape;153;p15"/>
            <p:cNvPicPr preferRelativeResize="0"/>
            <p:nvPr/>
          </p:nvPicPr>
          <p:blipFill rotWithShape="1">
            <a:blip r:embed="rId11">
              <a:alphaModFix/>
            </a:blip>
            <a:srcRect b="0" l="0" r="0" t="0"/>
            <a:stretch/>
          </p:blipFill>
          <p:spPr>
            <a:xfrm>
              <a:off x="114300" y="-9525"/>
              <a:ext cx="657300" cy="324000"/>
            </a:xfrm>
            <a:prstGeom prst="rect">
              <a:avLst/>
            </a:prstGeom>
            <a:noFill/>
            <a:ln>
              <a:noFill/>
            </a:ln>
          </p:spPr>
        </p:pic>
      </p:grpSp>
      <p:sp>
        <p:nvSpPr>
          <p:cNvPr id="154" name="Google Shape;154;p15"/>
          <p:cNvSpPr txBox="1"/>
          <p:nvPr/>
        </p:nvSpPr>
        <p:spPr>
          <a:xfrm>
            <a:off x="2000400" y="113825"/>
            <a:ext cx="6858000" cy="714300"/>
          </a:xfrm>
          <a:prstGeom prst="rect">
            <a:avLst/>
          </a:prstGeom>
          <a:solidFill>
            <a:srgbClr val="000000">
              <a:alpha val="0"/>
            </a:srgbClr>
          </a:solidFill>
          <a:ln>
            <a:noFill/>
          </a:ln>
        </p:spPr>
        <p:txBody>
          <a:bodyPr anchorCtr="0" anchor="ctr" bIns="0" lIns="0" spcFirstLastPara="1" rIns="0" wrap="square" tIns="0">
            <a:noAutofit/>
          </a:bodyPr>
          <a:lstStyle/>
          <a:p>
            <a:pPr indent="0" lvl="0" marL="0" rtl="1" algn="r">
              <a:spcBef>
                <a:spcPts val="0"/>
              </a:spcBef>
              <a:spcAft>
                <a:spcPts val="0"/>
              </a:spcAft>
              <a:buNone/>
            </a:pPr>
            <a:r>
              <a:rPr lang="iw" sz="2960">
                <a:solidFill>
                  <a:srgbClr val="FFFFFF"/>
                </a:solidFill>
                <a:latin typeface="Assistant ExtraBold"/>
                <a:ea typeface="Assistant ExtraBold"/>
                <a:cs typeface="Assistant ExtraBold"/>
                <a:sym typeface="Assistant ExtraBold"/>
              </a:rPr>
              <a:t>מבוא</a:t>
            </a:r>
            <a:endParaRPr sz="1295">
              <a:solidFill>
                <a:srgbClr val="FFFFFF"/>
              </a:solidFill>
              <a:latin typeface="Assistant ExtraBold"/>
              <a:ea typeface="Assistant ExtraBold"/>
              <a:cs typeface="Assistant ExtraBold"/>
              <a:sym typeface="Assistant ExtraBold"/>
            </a:endParaRPr>
          </a:p>
        </p:txBody>
      </p:sp>
      <p:pic>
        <p:nvPicPr>
          <p:cNvPr id="155" name="Google Shape;155;p15"/>
          <p:cNvPicPr preferRelativeResize="0"/>
          <p:nvPr/>
        </p:nvPicPr>
        <p:blipFill rotWithShape="1">
          <a:blip r:embed="rId12">
            <a:alphaModFix/>
          </a:blip>
          <a:srcRect b="0" l="0" r="0" t="0"/>
          <a:stretch/>
        </p:blipFill>
        <p:spPr>
          <a:xfrm>
            <a:off x="1143000" y="2000250"/>
            <a:ext cx="6858000" cy="19200"/>
          </a:xfrm>
          <a:prstGeom prst="rect">
            <a:avLst/>
          </a:prstGeom>
          <a:noFill/>
          <a:ln>
            <a:noFill/>
          </a:ln>
        </p:spPr>
      </p:pic>
      <p:grpSp>
        <p:nvGrpSpPr>
          <p:cNvPr id="156" name="Google Shape;156;p15"/>
          <p:cNvGrpSpPr/>
          <p:nvPr/>
        </p:nvGrpSpPr>
        <p:grpSpPr>
          <a:xfrm>
            <a:off x="1143000" y="2238375"/>
            <a:ext cx="6858000" cy="1714500"/>
            <a:chOff x="1143000" y="2238375"/>
            <a:chExt cx="6858000" cy="1714500"/>
          </a:xfrm>
        </p:grpSpPr>
        <p:grpSp>
          <p:nvGrpSpPr>
            <p:cNvPr id="157" name="Google Shape;157;p15"/>
            <p:cNvGrpSpPr/>
            <p:nvPr/>
          </p:nvGrpSpPr>
          <p:grpSpPr>
            <a:xfrm>
              <a:off x="1143000" y="2238375"/>
              <a:ext cx="2095500" cy="1714500"/>
              <a:chOff x="1143000" y="2238375"/>
              <a:chExt cx="2095500" cy="1714500"/>
            </a:xfrm>
          </p:grpSpPr>
          <p:sp>
            <p:nvSpPr>
              <p:cNvPr id="158" name="Google Shape;158;p15"/>
              <p:cNvSpPr/>
              <p:nvPr/>
            </p:nvSpPr>
            <p:spPr>
              <a:xfrm>
                <a:off x="1143000" y="2238375"/>
                <a:ext cx="2095500" cy="1714500"/>
              </a:xfrm>
              <a:prstGeom prst="roundRect">
                <a:avLst>
                  <a:gd fmla="val 3333" name="adj"/>
                </a:avLst>
              </a:prstGeom>
              <a:solidFill>
                <a:srgbClr val="0E1524"/>
              </a:solidFill>
              <a:ln cap="flat" cmpd="sng" w="9525">
                <a:solidFill>
                  <a:srgbClr val="1F2E4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159" name="Google Shape;159;p15"/>
              <p:cNvPicPr preferRelativeResize="0"/>
              <p:nvPr/>
            </p:nvPicPr>
            <p:blipFill rotWithShape="1">
              <a:blip r:embed="rId13">
                <a:alphaModFix/>
              </a:blip>
              <a:srcRect b="0" l="0" r="0" t="0"/>
              <a:stretch/>
            </p:blipFill>
            <p:spPr>
              <a:xfrm>
                <a:off x="1143000" y="2238375"/>
                <a:ext cx="2095500" cy="38100"/>
              </a:xfrm>
              <a:prstGeom prst="rect">
                <a:avLst/>
              </a:prstGeom>
              <a:noFill/>
              <a:ln>
                <a:noFill/>
              </a:ln>
            </p:spPr>
          </p:pic>
          <p:sp>
            <p:nvSpPr>
              <p:cNvPr id="160" name="Google Shape;160;p15"/>
              <p:cNvSpPr txBox="1"/>
              <p:nvPr/>
            </p:nvSpPr>
            <p:spPr>
              <a:xfrm>
                <a:off x="1333500" y="2428875"/>
                <a:ext cx="1714500" cy="13335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r">
                  <a:spcBef>
                    <a:spcPts val="0"/>
                  </a:spcBef>
                  <a:spcAft>
                    <a:spcPts val="0"/>
                  </a:spcAft>
                  <a:buNone/>
                </a:pPr>
                <a:r>
                  <a:rPr b="1" lang="iw" sz="1000">
                    <a:solidFill>
                      <a:srgbClr val="00E5FF"/>
                    </a:solidFill>
                    <a:latin typeface="Assistant"/>
                    <a:ea typeface="Assistant"/>
                    <a:cs typeface="Assistant"/>
                    <a:sym typeface="Assistant"/>
                  </a:rPr>
                  <a:t>01 / CHALLENGE</a:t>
                </a:r>
                <a:endParaRPr b="1" sz="1000">
                  <a:solidFill>
                    <a:srgbClr val="00E5FF"/>
                  </a:solidFill>
                  <a:latin typeface="Assistant"/>
                  <a:ea typeface="Assistant"/>
                  <a:cs typeface="Assistant"/>
                  <a:sym typeface="Assistant"/>
                </a:endParaRPr>
              </a:p>
              <a:p>
                <a:pPr indent="0" lvl="0" marL="0" rtl="0" algn="r">
                  <a:spcBef>
                    <a:spcPts val="750"/>
                  </a:spcBef>
                  <a:spcAft>
                    <a:spcPts val="0"/>
                  </a:spcAft>
                  <a:buNone/>
                </a:pPr>
                <a:r>
                  <a:rPr b="1" lang="iw" sz="1600">
                    <a:solidFill>
                      <a:srgbClr val="FFFFFF"/>
                    </a:solidFill>
                    <a:latin typeface="Assistant"/>
                    <a:ea typeface="Assistant"/>
                    <a:cs typeface="Assistant"/>
                    <a:sym typeface="Assistant"/>
                  </a:rPr>
                  <a:t>האתגר הרפואי</a:t>
                </a:r>
                <a:endParaRPr b="1" sz="1000">
                  <a:solidFill>
                    <a:srgbClr val="00E5FF"/>
                  </a:solidFill>
                  <a:latin typeface="Assistant"/>
                  <a:ea typeface="Assistant"/>
                  <a:cs typeface="Assistant"/>
                  <a:sym typeface="Assistant"/>
                </a:endParaRPr>
              </a:p>
              <a:p>
                <a:pPr indent="0" lvl="0" marL="0" rtl="0" algn="r">
                  <a:spcBef>
                    <a:spcPts val="600"/>
                  </a:spcBef>
                  <a:spcAft>
                    <a:spcPts val="0"/>
                  </a:spcAft>
                  <a:buNone/>
                </a:pPr>
                <a:r>
                  <a:rPr lang="iw" sz="1000">
                    <a:solidFill>
                      <a:srgbClr val="7A8D9E"/>
                    </a:solidFill>
                    <a:latin typeface="Assistant"/>
                    <a:ea typeface="Assistant"/>
                    <a:cs typeface="Assistant"/>
                    <a:sym typeface="Assistant"/>
                  </a:rPr>
                  <a:t>מחלות לב הן גורם תמותה מוביל. אבחון מוקדם מציל חיים, אך שיטות מסורתיות (ECG, אקו) דורשות משאבים ומומחיות רבה.</a:t>
                </a:r>
                <a:endParaRPr b="1" sz="1000">
                  <a:solidFill>
                    <a:srgbClr val="00E5FF"/>
                  </a:solidFill>
                  <a:latin typeface="Assistant"/>
                  <a:ea typeface="Assistant"/>
                  <a:cs typeface="Assistant"/>
                  <a:sym typeface="Assistant"/>
                </a:endParaRPr>
              </a:p>
            </p:txBody>
          </p:sp>
        </p:grpSp>
        <p:grpSp>
          <p:nvGrpSpPr>
            <p:cNvPr id="161" name="Google Shape;161;p15"/>
            <p:cNvGrpSpPr/>
            <p:nvPr/>
          </p:nvGrpSpPr>
          <p:grpSpPr>
            <a:xfrm>
              <a:off x="3524250" y="2238375"/>
              <a:ext cx="2095500" cy="1714500"/>
              <a:chOff x="3524250" y="2238375"/>
              <a:chExt cx="2095500" cy="1714500"/>
            </a:xfrm>
          </p:grpSpPr>
          <p:sp>
            <p:nvSpPr>
              <p:cNvPr id="162" name="Google Shape;162;p15"/>
              <p:cNvSpPr/>
              <p:nvPr/>
            </p:nvSpPr>
            <p:spPr>
              <a:xfrm>
                <a:off x="3524250" y="2238375"/>
                <a:ext cx="2095500" cy="1714500"/>
              </a:xfrm>
              <a:prstGeom prst="roundRect">
                <a:avLst>
                  <a:gd fmla="val 3333" name="adj"/>
                </a:avLst>
              </a:prstGeom>
              <a:solidFill>
                <a:srgbClr val="0E1524"/>
              </a:solidFill>
              <a:ln cap="flat" cmpd="sng" w="9525">
                <a:solidFill>
                  <a:srgbClr val="1F2E4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163" name="Google Shape;163;p15"/>
              <p:cNvPicPr preferRelativeResize="0"/>
              <p:nvPr/>
            </p:nvPicPr>
            <p:blipFill rotWithShape="1">
              <a:blip r:embed="rId14">
                <a:alphaModFix/>
              </a:blip>
              <a:srcRect b="0" l="0" r="0" t="0"/>
              <a:stretch/>
            </p:blipFill>
            <p:spPr>
              <a:xfrm>
                <a:off x="3524250" y="2238375"/>
                <a:ext cx="2095500" cy="38100"/>
              </a:xfrm>
              <a:prstGeom prst="rect">
                <a:avLst/>
              </a:prstGeom>
              <a:noFill/>
              <a:ln>
                <a:noFill/>
              </a:ln>
            </p:spPr>
          </p:pic>
          <p:sp>
            <p:nvSpPr>
              <p:cNvPr id="164" name="Google Shape;164;p15"/>
              <p:cNvSpPr txBox="1"/>
              <p:nvPr/>
            </p:nvSpPr>
            <p:spPr>
              <a:xfrm>
                <a:off x="3714750" y="2428875"/>
                <a:ext cx="1714500" cy="13335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r">
                  <a:spcBef>
                    <a:spcPts val="0"/>
                  </a:spcBef>
                  <a:spcAft>
                    <a:spcPts val="0"/>
                  </a:spcAft>
                  <a:buNone/>
                </a:pPr>
                <a:r>
                  <a:rPr b="1" lang="iw" sz="1000">
                    <a:solidFill>
                      <a:srgbClr val="10B981"/>
                    </a:solidFill>
                    <a:latin typeface="Assistant"/>
                    <a:ea typeface="Assistant"/>
                    <a:cs typeface="Assistant"/>
                    <a:sym typeface="Assistant"/>
                  </a:rPr>
                  <a:t>02 / TECHNOLOGY</a:t>
                </a:r>
                <a:endParaRPr b="1" sz="1000">
                  <a:solidFill>
                    <a:srgbClr val="10B981"/>
                  </a:solidFill>
                  <a:latin typeface="Assistant"/>
                  <a:ea typeface="Assistant"/>
                  <a:cs typeface="Assistant"/>
                  <a:sym typeface="Assistant"/>
                </a:endParaRPr>
              </a:p>
              <a:p>
                <a:pPr indent="0" lvl="0" marL="0" rtl="0" algn="r">
                  <a:spcBef>
                    <a:spcPts val="750"/>
                  </a:spcBef>
                  <a:spcAft>
                    <a:spcPts val="0"/>
                  </a:spcAft>
                  <a:buNone/>
                </a:pPr>
                <a:r>
                  <a:rPr b="1" lang="iw" sz="1600">
                    <a:solidFill>
                      <a:srgbClr val="FFFFFF"/>
                    </a:solidFill>
                    <a:latin typeface="Assistant"/>
                    <a:ea typeface="Assistant"/>
                    <a:cs typeface="Assistant"/>
                    <a:sym typeface="Assistant"/>
                  </a:rPr>
                  <a:t>למידת מכונה</a:t>
                </a:r>
                <a:endParaRPr b="1" sz="1000">
                  <a:solidFill>
                    <a:srgbClr val="10B981"/>
                  </a:solidFill>
                  <a:latin typeface="Assistant"/>
                  <a:ea typeface="Assistant"/>
                  <a:cs typeface="Assistant"/>
                  <a:sym typeface="Assistant"/>
                </a:endParaRPr>
              </a:p>
              <a:p>
                <a:pPr indent="0" lvl="0" marL="0" rtl="0" algn="r">
                  <a:spcBef>
                    <a:spcPts val="600"/>
                  </a:spcBef>
                  <a:spcAft>
                    <a:spcPts val="0"/>
                  </a:spcAft>
                  <a:buNone/>
                </a:pPr>
                <a:r>
                  <a:rPr lang="iw" sz="1000">
                    <a:solidFill>
                      <a:srgbClr val="7A8D9E"/>
                    </a:solidFill>
                    <a:latin typeface="Assistant"/>
                    <a:ea typeface="Assistant"/>
                    <a:cs typeface="Assistant"/>
                    <a:sym typeface="Assistant"/>
                  </a:rPr>
                  <a:t>טכנולוגיית ML מאפשרת ניתוח מאגרי מידע רפואיים ענקיים, זיהוי דפוסים מורכבים וחיזוי מהיר ומדויק של מחלות לב.</a:t>
                </a:r>
                <a:endParaRPr b="1" sz="1000">
                  <a:solidFill>
                    <a:srgbClr val="10B981"/>
                  </a:solidFill>
                  <a:latin typeface="Assistant"/>
                  <a:ea typeface="Assistant"/>
                  <a:cs typeface="Assistant"/>
                  <a:sym typeface="Assistant"/>
                </a:endParaRPr>
              </a:p>
            </p:txBody>
          </p:sp>
        </p:grpSp>
        <p:grpSp>
          <p:nvGrpSpPr>
            <p:cNvPr id="165" name="Google Shape;165;p15"/>
            <p:cNvGrpSpPr/>
            <p:nvPr/>
          </p:nvGrpSpPr>
          <p:grpSpPr>
            <a:xfrm>
              <a:off x="5905500" y="2238375"/>
              <a:ext cx="2095500" cy="1714500"/>
              <a:chOff x="5905500" y="2238375"/>
              <a:chExt cx="2095500" cy="1714500"/>
            </a:xfrm>
          </p:grpSpPr>
          <p:sp>
            <p:nvSpPr>
              <p:cNvPr id="166" name="Google Shape;166;p15"/>
              <p:cNvSpPr/>
              <p:nvPr/>
            </p:nvSpPr>
            <p:spPr>
              <a:xfrm>
                <a:off x="5905500" y="2238375"/>
                <a:ext cx="2095500" cy="1714500"/>
              </a:xfrm>
              <a:prstGeom prst="roundRect">
                <a:avLst>
                  <a:gd fmla="val 3333" name="adj"/>
                </a:avLst>
              </a:prstGeom>
              <a:solidFill>
                <a:srgbClr val="0E1524"/>
              </a:solidFill>
              <a:ln cap="flat" cmpd="sng" w="9525">
                <a:solidFill>
                  <a:srgbClr val="1F2E4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167" name="Google Shape;167;p15"/>
              <p:cNvPicPr preferRelativeResize="0"/>
              <p:nvPr/>
            </p:nvPicPr>
            <p:blipFill rotWithShape="1">
              <a:blip r:embed="rId13">
                <a:alphaModFix/>
              </a:blip>
              <a:srcRect b="0" l="0" r="0" t="0"/>
              <a:stretch/>
            </p:blipFill>
            <p:spPr>
              <a:xfrm>
                <a:off x="5905500" y="2238375"/>
                <a:ext cx="2095500" cy="38100"/>
              </a:xfrm>
              <a:prstGeom prst="rect">
                <a:avLst/>
              </a:prstGeom>
              <a:noFill/>
              <a:ln>
                <a:noFill/>
              </a:ln>
            </p:spPr>
          </p:pic>
          <p:sp>
            <p:nvSpPr>
              <p:cNvPr id="168" name="Google Shape;168;p15"/>
              <p:cNvSpPr txBox="1"/>
              <p:nvPr/>
            </p:nvSpPr>
            <p:spPr>
              <a:xfrm>
                <a:off x="6096000" y="2428875"/>
                <a:ext cx="1714500" cy="13335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r">
                  <a:spcBef>
                    <a:spcPts val="0"/>
                  </a:spcBef>
                  <a:spcAft>
                    <a:spcPts val="0"/>
                  </a:spcAft>
                  <a:buNone/>
                </a:pPr>
                <a:r>
                  <a:rPr b="1" lang="iw" sz="1000">
                    <a:solidFill>
                      <a:srgbClr val="00E5FF"/>
                    </a:solidFill>
                    <a:latin typeface="Assistant"/>
                    <a:ea typeface="Assistant"/>
                    <a:cs typeface="Assistant"/>
                    <a:sym typeface="Assistant"/>
                  </a:rPr>
                  <a:t>03 / RESEARCH</a:t>
                </a:r>
                <a:endParaRPr b="1" sz="1000">
                  <a:solidFill>
                    <a:srgbClr val="00E5FF"/>
                  </a:solidFill>
                  <a:latin typeface="Assistant"/>
                  <a:ea typeface="Assistant"/>
                  <a:cs typeface="Assistant"/>
                  <a:sym typeface="Assistant"/>
                </a:endParaRPr>
              </a:p>
              <a:p>
                <a:pPr indent="0" lvl="0" marL="0" rtl="0" algn="r">
                  <a:spcBef>
                    <a:spcPts val="750"/>
                  </a:spcBef>
                  <a:spcAft>
                    <a:spcPts val="0"/>
                  </a:spcAft>
                  <a:buNone/>
                </a:pPr>
                <a:r>
                  <a:rPr b="1" lang="iw" sz="1600">
                    <a:solidFill>
                      <a:srgbClr val="FFFFFF"/>
                    </a:solidFill>
                    <a:latin typeface="Assistant"/>
                    <a:ea typeface="Assistant"/>
                    <a:cs typeface="Assistant"/>
                    <a:sym typeface="Assistant"/>
                  </a:rPr>
                  <a:t>מטרת המחקר</a:t>
                </a:r>
                <a:endParaRPr b="1" sz="1000">
                  <a:solidFill>
                    <a:srgbClr val="00E5FF"/>
                  </a:solidFill>
                  <a:latin typeface="Assistant"/>
                  <a:ea typeface="Assistant"/>
                  <a:cs typeface="Assistant"/>
                  <a:sym typeface="Assistant"/>
                </a:endParaRPr>
              </a:p>
              <a:p>
                <a:pPr indent="0" lvl="0" marL="0" rtl="0" algn="r">
                  <a:spcBef>
                    <a:spcPts val="600"/>
                  </a:spcBef>
                  <a:spcAft>
                    <a:spcPts val="0"/>
                  </a:spcAft>
                  <a:buNone/>
                </a:pPr>
                <a:r>
                  <a:rPr lang="iw" sz="1000">
                    <a:solidFill>
                      <a:srgbClr val="7A8D9E"/>
                    </a:solidFill>
                    <a:latin typeface="Assistant"/>
                    <a:ea typeface="Assistant"/>
                    <a:cs typeface="Assistant"/>
                    <a:sym typeface="Assistant"/>
                  </a:rPr>
                  <a:t>בחינת מודלי סיווג לחיזוי מחלות לב על בסיס נתונים קליניים, לשיפור קבלת ההחלטות הרפואיות והאבחון המוקדם.</a:t>
                </a:r>
                <a:endParaRPr b="1" sz="1000">
                  <a:solidFill>
                    <a:srgbClr val="00E5FF"/>
                  </a:solidFill>
                  <a:latin typeface="Assistant"/>
                  <a:ea typeface="Assistant"/>
                  <a:cs typeface="Assistant"/>
                  <a:sym typeface="Assistant"/>
                </a:endParaRPr>
              </a:p>
            </p:txBody>
          </p:sp>
        </p:grpSp>
      </p:grpSp>
      <p:grpSp>
        <p:nvGrpSpPr>
          <p:cNvPr id="169" name="Google Shape;169;p15"/>
          <p:cNvGrpSpPr/>
          <p:nvPr/>
        </p:nvGrpSpPr>
        <p:grpSpPr>
          <a:xfrm>
            <a:off x="1143000" y="4238625"/>
            <a:ext cx="6858000" cy="333300"/>
            <a:chOff x="1143000" y="4238625"/>
            <a:chExt cx="6858000" cy="333300"/>
          </a:xfrm>
        </p:grpSpPr>
        <p:sp>
          <p:nvSpPr>
            <p:cNvPr id="170" name="Google Shape;170;p15"/>
            <p:cNvSpPr/>
            <p:nvPr/>
          </p:nvSpPr>
          <p:spPr>
            <a:xfrm>
              <a:off x="1143000" y="4238625"/>
              <a:ext cx="6858000" cy="333300"/>
            </a:xfrm>
            <a:prstGeom prst="roundRect">
              <a:avLst>
                <a:gd fmla="val 11428" name="adj"/>
              </a:avLst>
            </a:prstGeom>
            <a:solidFill>
              <a:srgbClr val="0A0E1A"/>
            </a:solidFill>
            <a:ln cap="flat" cmpd="sng" w="9525">
              <a:solidFill>
                <a:srgbClr val="1F2E4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1" name="Google Shape;171;p15"/>
            <p:cNvSpPr/>
            <p:nvPr/>
          </p:nvSpPr>
          <p:spPr>
            <a:xfrm>
              <a:off x="1295400" y="4362450"/>
              <a:ext cx="76200" cy="76200"/>
            </a:xfrm>
            <a:prstGeom prst="ellipse">
              <a:avLst/>
            </a:prstGeom>
            <a:solidFill>
              <a:srgbClr val="10B98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2" name="Google Shape;172;p15"/>
            <p:cNvSpPr txBox="1"/>
            <p:nvPr/>
          </p:nvSpPr>
          <p:spPr>
            <a:xfrm>
              <a:off x="1476375" y="4238625"/>
              <a:ext cx="6334200" cy="333300"/>
            </a:xfrm>
            <a:prstGeom prst="rect">
              <a:avLst/>
            </a:prstGeom>
            <a:solidFill>
              <a:srgbClr val="000000">
                <a:alpha val="0"/>
              </a:srgbClr>
            </a:solidFill>
            <a:ln>
              <a:noFill/>
            </a:ln>
          </p:spPr>
          <p:txBody>
            <a:bodyPr anchorCtr="0" anchor="ctr" bIns="0" lIns="47625" spcFirstLastPara="1" rIns="47625" wrap="square" tIns="0">
              <a:noAutofit/>
            </a:bodyPr>
            <a:lstStyle/>
            <a:p>
              <a:pPr indent="0" lvl="0" marL="0" rtl="0" algn="r">
                <a:spcBef>
                  <a:spcPts val="0"/>
                </a:spcBef>
                <a:spcAft>
                  <a:spcPts val="0"/>
                </a:spcAft>
                <a:buNone/>
              </a:pPr>
              <a:r>
                <a:rPr b="1" lang="iw" sz="850">
                  <a:solidFill>
                    <a:srgbClr val="00E5FF"/>
                  </a:solidFill>
                  <a:latin typeface="Assistant"/>
                  <a:ea typeface="Assistant"/>
                  <a:cs typeface="Assistant"/>
                  <a:sym typeface="Assistant"/>
                </a:rPr>
                <a:t>SYSTEM_STATUS: ACTIVE // TARGET: CLINICAL_DATA </a:t>
              </a:r>
              <a:r>
                <a:rPr lang="iw" sz="950">
                  <a:solidFill>
                    <a:srgbClr val="7A8D9E"/>
                  </a:solidFill>
                  <a:latin typeface="Assistant"/>
                  <a:ea typeface="Assistant"/>
                  <a:cs typeface="Assistant"/>
                  <a:sym typeface="Assistant"/>
                </a:rPr>
                <a:t>שימוש במודלי למידת מכונה לשיפור האבחון המוקדם והתמיכה בצוותים הרפואיים</a:t>
              </a:r>
              <a:endParaRPr b="1" sz="850">
                <a:solidFill>
                  <a:srgbClr val="00E5FF"/>
                </a:solidFill>
                <a:latin typeface="Assistant"/>
                <a:ea typeface="Assistant"/>
                <a:cs typeface="Assistant"/>
                <a:sym typeface="Assistant"/>
              </a:endParaRPr>
            </a:p>
          </p:txBody>
        </p:sp>
      </p:grpSp>
      <p:sp>
        <p:nvSpPr>
          <p:cNvPr id="173" name="Google Shape;173;p15"/>
          <p:cNvSpPr txBox="1"/>
          <p:nvPr/>
        </p:nvSpPr>
        <p:spPr>
          <a:xfrm>
            <a:off x="692950" y="708025"/>
            <a:ext cx="8165400" cy="1092000"/>
          </a:xfrm>
          <a:prstGeom prst="rect">
            <a:avLst/>
          </a:prstGeom>
          <a:noFill/>
          <a:ln>
            <a:noFill/>
          </a:ln>
        </p:spPr>
        <p:txBody>
          <a:bodyPr anchorCtr="0" anchor="t" bIns="91425" lIns="91425" spcFirstLastPara="1" rIns="91425" wrap="square" tIns="91425">
            <a:spAutoFit/>
          </a:bodyPr>
          <a:lstStyle/>
          <a:p>
            <a:pPr indent="0" lvl="0" marL="0" rtl="1" algn="ctr">
              <a:lnSpc>
                <a:spcPct val="115000"/>
              </a:lnSpc>
              <a:spcBef>
                <a:spcPts val="1200"/>
              </a:spcBef>
              <a:spcAft>
                <a:spcPts val="0"/>
              </a:spcAft>
              <a:buNone/>
            </a:pPr>
            <a:r>
              <a:rPr lang="iw" sz="1100">
                <a:solidFill>
                  <a:schemeClr val="lt1"/>
                </a:solidFill>
                <a:latin typeface="Assistant"/>
                <a:ea typeface="Assistant"/>
                <a:cs typeface="Assistant"/>
                <a:sym typeface="Assistant"/>
              </a:rPr>
              <a:t>מחלות לב וכלי דם מהוות את אחד מגורמי התמותה המרכזיים בעולם. אבחון מוקדם של המחלה מאפשר התחלת טיפול בשלב מוקדם, מפחית את שיעור התמותה ומשפר את איכות חיי המטופלים. עם זאת, שיטות האבחון המסורתיות, כגון ECG, בדיקות מאמץ ואקו־לב, דורשות ציוד יקר, זמן רב ומומחיות רפואית.</a:t>
            </a:r>
            <a:endParaRPr sz="1100">
              <a:solidFill>
                <a:schemeClr val="lt1"/>
              </a:solidFill>
              <a:latin typeface="Assistant"/>
              <a:ea typeface="Assistant"/>
              <a:cs typeface="Assistant"/>
              <a:sym typeface="Assistant"/>
            </a:endParaRPr>
          </a:p>
          <a:p>
            <a:pPr indent="0" lvl="0" marL="0" rtl="1" algn="ctr">
              <a:lnSpc>
                <a:spcPct val="115000"/>
              </a:lnSpc>
              <a:spcBef>
                <a:spcPts val="1200"/>
              </a:spcBef>
              <a:spcAft>
                <a:spcPts val="1200"/>
              </a:spcAft>
              <a:buNone/>
            </a:pPr>
            <a:r>
              <a:rPr lang="iw" sz="1100">
                <a:solidFill>
                  <a:schemeClr val="lt1"/>
                </a:solidFill>
                <a:latin typeface="Assistant"/>
                <a:ea typeface="Assistant"/>
                <a:cs typeface="Assistant"/>
                <a:sym typeface="Assistant"/>
              </a:rPr>
              <a:t>בשנים האחרונות תחום </a:t>
            </a:r>
            <a:r>
              <a:rPr b="1" lang="iw" sz="1100">
                <a:solidFill>
                  <a:schemeClr val="lt1"/>
                </a:solidFill>
                <a:latin typeface="Assistant"/>
                <a:ea typeface="Assistant"/>
                <a:cs typeface="Assistant"/>
                <a:sym typeface="Assistant"/>
              </a:rPr>
              <a:t>למידת המכונה (Machine Learning)</a:t>
            </a:r>
            <a:r>
              <a:rPr lang="iw" sz="1100">
                <a:solidFill>
                  <a:schemeClr val="lt1"/>
                </a:solidFill>
                <a:latin typeface="Assistant"/>
                <a:ea typeface="Assistant"/>
                <a:cs typeface="Assistant"/>
                <a:sym typeface="Assistant"/>
              </a:rPr>
              <a:t> הפך לכלי משמעותי בתחום הרפואה, בזכות היכולת לנתח מאגרי מידע רפואיים גדולים, לזהות דפוסים מורכבים ולבצע חיזוי מדויק של מחלות. </a:t>
            </a:r>
            <a:endParaRPr sz="1100">
              <a:solidFill>
                <a:schemeClr val="lt1"/>
              </a:solidFill>
              <a:latin typeface="Assistant"/>
              <a:ea typeface="Assistant"/>
              <a:cs typeface="Assistant"/>
              <a:sym typeface="Assistant"/>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212C"/>
        </a:solidFill>
      </p:bgPr>
    </p:bg>
    <p:spTree>
      <p:nvGrpSpPr>
        <p:cNvPr id="177" name="Shape 177"/>
        <p:cNvGrpSpPr/>
        <p:nvPr/>
      </p:nvGrpSpPr>
      <p:grpSpPr>
        <a:xfrm>
          <a:off x="0" y="0"/>
          <a:ext cx="0" cy="0"/>
          <a:chOff x="0" y="0"/>
          <a:chExt cx="0" cy="0"/>
        </a:xfrm>
      </p:grpSpPr>
      <p:pic>
        <p:nvPicPr>
          <p:cNvPr id="178" name="Google Shape;178;p16"/>
          <p:cNvPicPr preferRelativeResize="0"/>
          <p:nvPr/>
        </p:nvPicPr>
        <p:blipFill rotWithShape="1">
          <a:blip r:embed="rId3">
            <a:alphaModFix/>
          </a:blip>
          <a:srcRect b="0" l="0" r="0" t="0"/>
          <a:stretch/>
        </p:blipFill>
        <p:spPr>
          <a:xfrm>
            <a:off x="285750" y="285750"/>
            <a:ext cx="285900" cy="285900"/>
          </a:xfrm>
          <a:prstGeom prst="rect">
            <a:avLst/>
          </a:prstGeom>
          <a:noFill/>
          <a:ln>
            <a:noFill/>
          </a:ln>
        </p:spPr>
      </p:pic>
      <p:pic>
        <p:nvPicPr>
          <p:cNvPr id="179" name="Google Shape;179;p16"/>
          <p:cNvPicPr preferRelativeResize="0"/>
          <p:nvPr/>
        </p:nvPicPr>
        <p:blipFill rotWithShape="1">
          <a:blip r:embed="rId4">
            <a:alphaModFix/>
          </a:blip>
          <a:srcRect b="0" l="0" r="0" t="0"/>
          <a:stretch/>
        </p:blipFill>
        <p:spPr>
          <a:xfrm>
            <a:off x="8572500" y="4572000"/>
            <a:ext cx="285900" cy="285900"/>
          </a:xfrm>
          <a:prstGeom prst="rect">
            <a:avLst/>
          </a:prstGeom>
          <a:noFill/>
          <a:ln>
            <a:noFill/>
          </a:ln>
        </p:spPr>
      </p:pic>
      <p:sp>
        <p:nvSpPr>
          <p:cNvPr id="180" name="Google Shape;180;p16"/>
          <p:cNvSpPr txBox="1"/>
          <p:nvPr/>
        </p:nvSpPr>
        <p:spPr>
          <a:xfrm>
            <a:off x="2000250" y="238125"/>
            <a:ext cx="6858000" cy="571500"/>
          </a:xfrm>
          <a:prstGeom prst="rect">
            <a:avLst/>
          </a:prstGeom>
          <a:noFill/>
          <a:ln>
            <a:noFill/>
          </a:ln>
        </p:spPr>
        <p:txBody>
          <a:bodyPr anchorCtr="0" anchor="ctr" bIns="0" lIns="0" spcFirstLastPara="1" rIns="0" wrap="square" tIns="0">
            <a:noAutofit/>
          </a:bodyPr>
          <a:lstStyle/>
          <a:p>
            <a:pPr indent="0" lvl="0" marL="0" rtl="1" algn="r">
              <a:spcBef>
                <a:spcPts val="0"/>
              </a:spcBef>
              <a:spcAft>
                <a:spcPts val="0"/>
              </a:spcAft>
              <a:buNone/>
            </a:pPr>
            <a:r>
              <a:rPr b="0" lang="iw" sz="2600">
                <a:solidFill>
                  <a:srgbClr val="FFFFFF"/>
                </a:solidFill>
                <a:latin typeface="Assistant ExtraBold"/>
                <a:ea typeface="Assistant ExtraBold"/>
                <a:cs typeface="Assistant ExtraBold"/>
                <a:sym typeface="Assistant ExtraBold"/>
              </a:rPr>
              <a:t>מטרת העבודה</a:t>
            </a:r>
            <a:endParaRPr b="0" sz="2600">
              <a:solidFill>
                <a:srgbClr val="FFFFFF"/>
              </a:solidFill>
              <a:latin typeface="Assistant ExtraBold"/>
              <a:ea typeface="Assistant ExtraBold"/>
              <a:cs typeface="Assistant ExtraBold"/>
              <a:sym typeface="Assistant ExtraBold"/>
            </a:endParaRPr>
          </a:p>
        </p:txBody>
      </p:sp>
      <p:grpSp>
        <p:nvGrpSpPr>
          <p:cNvPr id="181" name="Google Shape;181;p16"/>
          <p:cNvGrpSpPr/>
          <p:nvPr/>
        </p:nvGrpSpPr>
        <p:grpSpPr>
          <a:xfrm>
            <a:off x="4714875" y="1095375"/>
            <a:ext cx="3286200" cy="3143400"/>
            <a:chOff x="4714875" y="1095375"/>
            <a:chExt cx="3286200" cy="3143400"/>
          </a:xfrm>
        </p:grpSpPr>
        <p:sp>
          <p:nvSpPr>
            <p:cNvPr id="182" name="Google Shape;182;p16"/>
            <p:cNvSpPr/>
            <p:nvPr/>
          </p:nvSpPr>
          <p:spPr>
            <a:xfrm>
              <a:off x="4714875" y="1095375"/>
              <a:ext cx="3286200" cy="3143400"/>
            </a:xfrm>
            <a:prstGeom prst="roundRect">
              <a:avLst>
                <a:gd fmla="val 1818" name="adj"/>
              </a:avLst>
            </a:prstGeom>
            <a:solidFill>
              <a:srgbClr val="0E1524"/>
            </a:solidFill>
            <a:ln cap="flat" cmpd="sng" w="9525">
              <a:solidFill>
                <a:srgbClr val="1F2E4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3" name="Google Shape;183;p16"/>
            <p:cNvSpPr/>
            <p:nvPr/>
          </p:nvSpPr>
          <p:spPr>
            <a:xfrm>
              <a:off x="4714875" y="1095375"/>
              <a:ext cx="3286200" cy="38100"/>
            </a:xfrm>
            <a:prstGeom prst="rect">
              <a:avLst/>
            </a:prstGeom>
            <a:solidFill>
              <a:srgbClr val="00E5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4" name="Google Shape;184;p16"/>
            <p:cNvSpPr txBox="1"/>
            <p:nvPr/>
          </p:nvSpPr>
          <p:spPr>
            <a:xfrm>
              <a:off x="4905375" y="1285875"/>
              <a:ext cx="2905200" cy="2762400"/>
            </a:xfrm>
            <a:prstGeom prst="rect">
              <a:avLst/>
            </a:prstGeom>
            <a:noFill/>
            <a:ln>
              <a:noFill/>
            </a:ln>
          </p:spPr>
          <p:txBody>
            <a:bodyPr anchorCtr="0" anchor="ctr" bIns="0" lIns="0" spcFirstLastPara="1" rIns="0" wrap="square" tIns="0">
              <a:noAutofit/>
            </a:bodyPr>
            <a:lstStyle/>
            <a:p>
              <a:pPr indent="0" lvl="0" marL="0" rtl="1" algn="r">
                <a:spcBef>
                  <a:spcPts val="0"/>
                </a:spcBef>
                <a:spcAft>
                  <a:spcPts val="0"/>
                </a:spcAft>
                <a:buNone/>
              </a:pPr>
              <a:r>
                <a:rPr b="1" lang="iw" sz="1000">
                  <a:solidFill>
                    <a:srgbClr val="00E5FF"/>
                  </a:solidFill>
                  <a:latin typeface="Assistant"/>
                  <a:ea typeface="Assistant"/>
                  <a:cs typeface="Assistant"/>
                  <a:sym typeface="Assistant"/>
                </a:rPr>
                <a:t>01 / REPLICATION</a:t>
              </a:r>
              <a:endParaRPr b="1" sz="1000">
                <a:solidFill>
                  <a:srgbClr val="00E5FF"/>
                </a:solidFill>
                <a:latin typeface="Assistant"/>
                <a:ea typeface="Assistant"/>
                <a:cs typeface="Assistant"/>
                <a:sym typeface="Assistant"/>
              </a:endParaRPr>
            </a:p>
            <a:p>
              <a:pPr indent="0" lvl="0" marL="0" rtl="1" algn="r">
                <a:spcBef>
                  <a:spcPts val="450"/>
                </a:spcBef>
                <a:spcAft>
                  <a:spcPts val="0"/>
                </a:spcAft>
                <a:buNone/>
              </a:pPr>
              <a:r>
                <a:rPr b="1" lang="iw" sz="1500">
                  <a:solidFill>
                    <a:srgbClr val="FFFFFF"/>
                  </a:solidFill>
                  <a:latin typeface="Assistant"/>
                  <a:ea typeface="Assistant"/>
                  <a:cs typeface="Assistant"/>
                  <a:sym typeface="Assistant"/>
                </a:rPr>
                <a:t>שחזור המאמר המדעי</a:t>
              </a:r>
              <a:endParaRPr b="1" sz="1500">
                <a:solidFill>
                  <a:srgbClr val="FFFFFF"/>
                </a:solidFill>
                <a:latin typeface="Assistant"/>
                <a:ea typeface="Assistant"/>
                <a:cs typeface="Assistant"/>
                <a:sym typeface="Assistant"/>
              </a:endParaRPr>
            </a:p>
            <a:p>
              <a:pPr indent="0" lvl="0" marL="0" rtl="1" algn="r">
                <a:spcBef>
                  <a:spcPts val="750"/>
                </a:spcBef>
                <a:spcAft>
                  <a:spcPts val="0"/>
                </a:spcAft>
                <a:buNone/>
              </a:pPr>
              <a:r>
                <a:rPr b="0" lang="iw" sz="1000">
                  <a:solidFill>
                    <a:srgbClr val="7A8D9E"/>
                  </a:solidFill>
                  <a:latin typeface="Assistant"/>
                  <a:ea typeface="Assistant"/>
                  <a:cs typeface="Assistant"/>
                  <a:sym typeface="Assistant"/>
                </a:rPr>
                <a:t>שחזור מלא ומדויק (Replication) של המאמר המחקרי:</a:t>
              </a:r>
              <a:endParaRPr b="0" sz="1000">
                <a:solidFill>
                  <a:srgbClr val="7A8D9E"/>
                </a:solidFill>
                <a:latin typeface="Assistant"/>
                <a:ea typeface="Assistant"/>
                <a:cs typeface="Assistant"/>
                <a:sym typeface="Assistant"/>
              </a:endParaRPr>
            </a:p>
            <a:p>
              <a:pPr indent="0" lvl="0" marL="0" rtl="1" algn="r">
                <a:spcBef>
                  <a:spcPts val="600"/>
                </a:spcBef>
                <a:spcAft>
                  <a:spcPts val="0"/>
                </a:spcAft>
                <a:buNone/>
              </a:pPr>
              <a:r>
                <a:rPr b="0" lang="iw" sz="900">
                  <a:solidFill>
                    <a:srgbClr val="00E5FF"/>
                  </a:solidFill>
                  <a:latin typeface="Courier New"/>
                  <a:ea typeface="Courier New"/>
                  <a:cs typeface="Courier New"/>
                  <a:sym typeface="Courier New"/>
                </a:rPr>
                <a:t>"Comparative Analysis of Classification Models for Heart Disease Prediction Using Machine Learning"</a:t>
              </a:r>
              <a:endParaRPr b="0" sz="900">
                <a:solidFill>
                  <a:srgbClr val="00E5FF"/>
                </a:solidFill>
                <a:latin typeface="Courier New"/>
                <a:ea typeface="Courier New"/>
                <a:cs typeface="Courier New"/>
                <a:sym typeface="Courier New"/>
              </a:endParaRPr>
            </a:p>
            <a:p>
              <a:pPr indent="0" lvl="0" marL="0" rtl="1" algn="r">
                <a:spcBef>
                  <a:spcPts val="900"/>
                </a:spcBef>
                <a:spcAft>
                  <a:spcPts val="0"/>
                </a:spcAft>
                <a:buNone/>
              </a:pPr>
              <a:r>
                <a:rPr b="1" lang="iw" sz="1000">
                  <a:solidFill>
                    <a:srgbClr val="FFFFFF"/>
                  </a:solidFill>
                  <a:latin typeface="Assistant"/>
                  <a:ea typeface="Assistant"/>
                  <a:cs typeface="Assistant"/>
                  <a:sym typeface="Assistant"/>
                </a:rPr>
                <a:t>במסגרת השחזור נבצע:</a:t>
              </a:r>
              <a:endParaRPr b="1" sz="1000">
                <a:solidFill>
                  <a:srgbClr val="FFFFFF"/>
                </a:solidFill>
                <a:latin typeface="Assistant"/>
                <a:ea typeface="Assistant"/>
                <a:cs typeface="Assistant"/>
                <a:sym typeface="Assistant"/>
              </a:endParaRPr>
            </a:p>
            <a:p>
              <a:pPr indent="-292100" lvl="0" marL="457200" rtl="1" algn="r">
                <a:spcBef>
                  <a:spcPts val="450"/>
                </a:spcBef>
                <a:spcAft>
                  <a:spcPts val="0"/>
                </a:spcAft>
                <a:buClr>
                  <a:srgbClr val="7A8D9E"/>
                </a:buClr>
                <a:buSzPts val="1000"/>
                <a:buFont typeface="Assistant"/>
                <a:buChar char="●"/>
              </a:pPr>
              <a:r>
                <a:rPr b="0" lang="iw" sz="1000">
                  <a:solidFill>
                    <a:srgbClr val="7A8D9E"/>
                  </a:solidFill>
                  <a:latin typeface="Assistant"/>
                  <a:ea typeface="Assistant"/>
                  <a:cs typeface="Assistant"/>
                  <a:sym typeface="Assistant"/>
                </a:rPr>
                <a:t>יישום שלבי העבודה ב-Python וב-scikit-learn.</a:t>
              </a:r>
              <a:endParaRPr b="0" sz="1000">
                <a:solidFill>
                  <a:srgbClr val="7A8D9E"/>
                </a:solidFill>
                <a:latin typeface="Assistant"/>
                <a:ea typeface="Assistant"/>
                <a:cs typeface="Assistant"/>
                <a:sym typeface="Assistant"/>
              </a:endParaRPr>
            </a:p>
            <a:p>
              <a:pPr indent="-292100" lvl="0" marL="457200" rtl="1" algn="r">
                <a:spcBef>
                  <a:spcPts val="450"/>
                </a:spcBef>
                <a:spcAft>
                  <a:spcPts val="0"/>
                </a:spcAft>
                <a:buClr>
                  <a:srgbClr val="7A8D9E"/>
                </a:buClr>
                <a:buSzPts val="1000"/>
                <a:buFont typeface="Assistant"/>
                <a:buChar char="●"/>
              </a:pPr>
              <a:r>
                <a:rPr b="0" lang="iw" sz="1000">
                  <a:solidFill>
                    <a:srgbClr val="7A8D9E"/>
                  </a:solidFill>
                  <a:latin typeface="Assistant"/>
                  <a:ea typeface="Assistant"/>
                  <a:cs typeface="Assistant"/>
                  <a:sym typeface="Assistant"/>
                </a:rPr>
                <a:t>אימון והשוואה בין מודלי הסיווג המרכזיים:</a:t>
              </a:r>
              <a:endParaRPr b="0" sz="1000">
                <a:solidFill>
                  <a:srgbClr val="7A8D9E"/>
                </a:solidFill>
                <a:latin typeface="Assistant"/>
                <a:ea typeface="Assistant"/>
                <a:cs typeface="Assistant"/>
                <a:sym typeface="Assistant"/>
              </a:endParaRPr>
            </a:p>
            <a:p>
              <a:pPr indent="0" lvl="0" marL="0" rtl="1" algn="r">
                <a:spcBef>
                  <a:spcPts val="450"/>
                </a:spcBef>
                <a:spcAft>
                  <a:spcPts val="0"/>
                </a:spcAft>
                <a:buNone/>
              </a:pPr>
              <a:r>
                <a:rPr b="0" lang="iw" sz="950">
                  <a:solidFill>
                    <a:srgbClr val="FFFFFF"/>
                  </a:solidFill>
                  <a:latin typeface="Assistant"/>
                  <a:ea typeface="Assistant"/>
                  <a:cs typeface="Assistant"/>
                  <a:sym typeface="Assistant"/>
                </a:rPr>
                <a:t>Logistic Regression</a:t>
              </a:r>
              <a:endParaRPr b="0" sz="950">
                <a:solidFill>
                  <a:srgbClr val="FFFFFF"/>
                </a:solidFill>
                <a:latin typeface="Assistant"/>
                <a:ea typeface="Assistant"/>
                <a:cs typeface="Assistant"/>
                <a:sym typeface="Assistant"/>
              </a:endParaRPr>
            </a:p>
            <a:p>
              <a:pPr indent="0" lvl="0" marL="0" rtl="1" algn="r">
                <a:spcBef>
                  <a:spcPts val="600"/>
                </a:spcBef>
                <a:spcAft>
                  <a:spcPts val="0"/>
                </a:spcAft>
                <a:buNone/>
              </a:pPr>
              <a:r>
                <a:rPr b="0" lang="iw" sz="950">
                  <a:solidFill>
                    <a:srgbClr val="FFFFFF"/>
                  </a:solidFill>
                  <a:latin typeface="Assistant"/>
                  <a:ea typeface="Assistant"/>
                  <a:cs typeface="Assistant"/>
                  <a:sym typeface="Assistant"/>
                </a:rPr>
                <a:t>KNN</a:t>
              </a:r>
              <a:endParaRPr b="0" sz="950">
                <a:solidFill>
                  <a:srgbClr val="FFFFFF"/>
                </a:solidFill>
                <a:latin typeface="Assistant"/>
                <a:ea typeface="Assistant"/>
                <a:cs typeface="Assistant"/>
                <a:sym typeface="Assistant"/>
              </a:endParaRPr>
            </a:p>
            <a:p>
              <a:pPr indent="0" lvl="0" marL="0" rtl="1" algn="r">
                <a:spcBef>
                  <a:spcPts val="600"/>
                </a:spcBef>
                <a:spcAft>
                  <a:spcPts val="0"/>
                </a:spcAft>
                <a:buNone/>
              </a:pPr>
              <a:r>
                <a:rPr b="0" lang="iw" sz="950">
                  <a:solidFill>
                    <a:srgbClr val="FFFFFF"/>
                  </a:solidFill>
                  <a:latin typeface="Assistant"/>
                  <a:ea typeface="Assistant"/>
                  <a:cs typeface="Assistant"/>
                  <a:sym typeface="Assistant"/>
                </a:rPr>
                <a:t>SVM</a:t>
              </a:r>
              <a:endParaRPr b="0" sz="950">
                <a:solidFill>
                  <a:srgbClr val="FFFFFF"/>
                </a:solidFill>
                <a:latin typeface="Assistant"/>
                <a:ea typeface="Assistant"/>
                <a:cs typeface="Assistant"/>
                <a:sym typeface="Assistant"/>
              </a:endParaRPr>
            </a:p>
            <a:p>
              <a:pPr indent="0" lvl="0" marL="0" rtl="1" algn="r">
                <a:spcBef>
                  <a:spcPts val="600"/>
                </a:spcBef>
                <a:spcAft>
                  <a:spcPts val="0"/>
                </a:spcAft>
                <a:buNone/>
              </a:pPr>
              <a:r>
                <a:rPr b="0" lang="iw" sz="950">
                  <a:solidFill>
                    <a:srgbClr val="FFFFFF"/>
                  </a:solidFill>
                  <a:latin typeface="Assistant"/>
                  <a:ea typeface="Assistant"/>
                  <a:cs typeface="Assistant"/>
                  <a:sym typeface="Assistant"/>
                </a:rPr>
                <a:t>Random Forest</a:t>
              </a:r>
              <a:endParaRPr b="0" sz="1000">
                <a:solidFill>
                  <a:srgbClr val="7A8D9E"/>
                </a:solidFill>
                <a:latin typeface="Assistant"/>
                <a:ea typeface="Assistant"/>
                <a:cs typeface="Assistant"/>
                <a:sym typeface="Assistant"/>
              </a:endParaRPr>
            </a:p>
            <a:p>
              <a:pPr indent="-292100" lvl="0" marL="457200" rtl="1" algn="r">
                <a:spcBef>
                  <a:spcPts val="600"/>
                </a:spcBef>
                <a:spcAft>
                  <a:spcPts val="450"/>
                </a:spcAft>
                <a:buClr>
                  <a:srgbClr val="7A8D9E"/>
                </a:buClr>
                <a:buSzPts val="1000"/>
                <a:buFont typeface="Assistant"/>
                <a:buChar char="●"/>
              </a:pPr>
              <a:r>
                <a:rPr b="0" lang="iw" sz="1000">
                  <a:solidFill>
                    <a:srgbClr val="7A8D9E"/>
                  </a:solidFill>
                  <a:latin typeface="Assistant"/>
                  <a:ea typeface="Assistant"/>
                  <a:cs typeface="Assistant"/>
                  <a:sym typeface="Assistant"/>
                </a:rPr>
                <a:t>הערכת ביצועים במדדים: Accuracy, Precision, Recall, F1-Score וגרף ROC.</a:t>
              </a:r>
              <a:endParaRPr b="0" sz="1000">
                <a:solidFill>
                  <a:srgbClr val="7A8D9E"/>
                </a:solidFill>
                <a:latin typeface="Assistant"/>
                <a:ea typeface="Assistant"/>
                <a:cs typeface="Assistant"/>
                <a:sym typeface="Assistant"/>
              </a:endParaRPr>
            </a:p>
          </p:txBody>
        </p:sp>
      </p:grpSp>
      <p:grpSp>
        <p:nvGrpSpPr>
          <p:cNvPr id="185" name="Google Shape;185;p16"/>
          <p:cNvGrpSpPr/>
          <p:nvPr/>
        </p:nvGrpSpPr>
        <p:grpSpPr>
          <a:xfrm>
            <a:off x="1143000" y="1095375"/>
            <a:ext cx="3286200" cy="3143400"/>
            <a:chOff x="1143000" y="1095375"/>
            <a:chExt cx="3286200" cy="3143400"/>
          </a:xfrm>
        </p:grpSpPr>
        <p:sp>
          <p:nvSpPr>
            <p:cNvPr id="186" name="Google Shape;186;p16"/>
            <p:cNvSpPr/>
            <p:nvPr/>
          </p:nvSpPr>
          <p:spPr>
            <a:xfrm>
              <a:off x="1143000" y="1095375"/>
              <a:ext cx="3286200" cy="3143400"/>
            </a:xfrm>
            <a:prstGeom prst="roundRect">
              <a:avLst>
                <a:gd fmla="val 1818" name="adj"/>
              </a:avLst>
            </a:prstGeom>
            <a:solidFill>
              <a:srgbClr val="0E1524"/>
            </a:solidFill>
            <a:ln cap="flat" cmpd="sng" w="9525">
              <a:solidFill>
                <a:srgbClr val="1F2E4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7" name="Google Shape;187;p16"/>
            <p:cNvSpPr/>
            <p:nvPr/>
          </p:nvSpPr>
          <p:spPr>
            <a:xfrm>
              <a:off x="1143000" y="1095375"/>
              <a:ext cx="3286200" cy="38100"/>
            </a:xfrm>
            <a:prstGeom prst="rect">
              <a:avLst/>
            </a:prstGeom>
            <a:solidFill>
              <a:srgbClr val="10B98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8" name="Google Shape;188;p16"/>
            <p:cNvSpPr txBox="1"/>
            <p:nvPr/>
          </p:nvSpPr>
          <p:spPr>
            <a:xfrm>
              <a:off x="1333500" y="1285875"/>
              <a:ext cx="2905200" cy="2762400"/>
            </a:xfrm>
            <a:prstGeom prst="rect">
              <a:avLst/>
            </a:prstGeom>
            <a:noFill/>
            <a:ln>
              <a:noFill/>
            </a:ln>
          </p:spPr>
          <p:txBody>
            <a:bodyPr anchorCtr="0" anchor="ctr" bIns="0" lIns="0" spcFirstLastPara="1" rIns="0" wrap="square" tIns="0">
              <a:noAutofit/>
            </a:bodyPr>
            <a:lstStyle/>
            <a:p>
              <a:pPr indent="0" lvl="0" marL="0" rtl="1" algn="r">
                <a:spcBef>
                  <a:spcPts val="0"/>
                </a:spcBef>
                <a:spcAft>
                  <a:spcPts val="0"/>
                </a:spcAft>
                <a:buNone/>
              </a:pPr>
              <a:r>
                <a:rPr b="1" lang="iw" sz="1000">
                  <a:solidFill>
                    <a:srgbClr val="10B981"/>
                  </a:solidFill>
                  <a:latin typeface="Assistant"/>
                  <a:ea typeface="Assistant"/>
                  <a:cs typeface="Assistant"/>
                  <a:sym typeface="Assistant"/>
                </a:rPr>
                <a:t>02 / EXTENSION</a:t>
              </a:r>
              <a:endParaRPr b="1" sz="1000">
                <a:solidFill>
                  <a:srgbClr val="10B981"/>
                </a:solidFill>
                <a:latin typeface="Assistant"/>
                <a:ea typeface="Assistant"/>
                <a:cs typeface="Assistant"/>
                <a:sym typeface="Assistant"/>
              </a:endParaRPr>
            </a:p>
            <a:p>
              <a:pPr indent="0" lvl="0" marL="0" rtl="1" algn="r">
                <a:spcBef>
                  <a:spcPts val="450"/>
                </a:spcBef>
                <a:spcAft>
                  <a:spcPts val="0"/>
                </a:spcAft>
                <a:buNone/>
              </a:pPr>
              <a:r>
                <a:rPr b="1" lang="iw" sz="1500">
                  <a:solidFill>
                    <a:srgbClr val="FFFFFF"/>
                  </a:solidFill>
                  <a:latin typeface="Assistant"/>
                  <a:ea typeface="Assistant"/>
                  <a:cs typeface="Assistant"/>
                  <a:sym typeface="Assistant"/>
                </a:rPr>
                <a:t>הרחבה מעבר למאמר</a:t>
              </a:r>
              <a:endParaRPr b="1" sz="1500">
                <a:solidFill>
                  <a:srgbClr val="FFFFFF"/>
                </a:solidFill>
                <a:latin typeface="Assistant"/>
                <a:ea typeface="Assistant"/>
                <a:cs typeface="Assistant"/>
                <a:sym typeface="Assistant"/>
              </a:endParaRPr>
            </a:p>
            <a:p>
              <a:pPr indent="0" lvl="0" marL="0" rtl="1" algn="r">
                <a:spcBef>
                  <a:spcPts val="750"/>
                </a:spcBef>
                <a:spcAft>
                  <a:spcPts val="0"/>
                </a:spcAft>
                <a:buNone/>
              </a:pPr>
              <a:r>
                <a:rPr b="0" lang="iw" sz="1000">
                  <a:solidFill>
                    <a:srgbClr val="7A8D9E"/>
                  </a:solidFill>
                  <a:latin typeface="Assistant"/>
                  <a:ea typeface="Assistant"/>
                  <a:cs typeface="Assistant"/>
                  <a:sym typeface="Assistant"/>
                </a:rPr>
                <a:t>בהתאם להמלצת המרצה, נבצע הרחבה משמעותית של המחקר המקורי במטרה לבחון האם ניתן לשפר את דיוק החיזוי מעבר לתוצאות שהוצגו בו.</a:t>
              </a:r>
              <a:endParaRPr b="0" sz="1000">
                <a:solidFill>
                  <a:srgbClr val="7A8D9E"/>
                </a:solidFill>
                <a:latin typeface="Assistant"/>
                <a:ea typeface="Assistant"/>
                <a:cs typeface="Assistant"/>
                <a:sym typeface="Assistant"/>
              </a:endParaRPr>
            </a:p>
            <a:p>
              <a:pPr indent="0" lvl="0" marL="0" rtl="1" algn="r">
                <a:spcBef>
                  <a:spcPts val="900"/>
                </a:spcBef>
                <a:spcAft>
                  <a:spcPts val="0"/>
                </a:spcAft>
                <a:buNone/>
              </a:pPr>
              <a:r>
                <a:rPr b="1" lang="iw" sz="1000">
                  <a:solidFill>
                    <a:srgbClr val="FFFFFF"/>
                  </a:solidFill>
                  <a:latin typeface="Assistant"/>
                  <a:ea typeface="Assistant"/>
                  <a:cs typeface="Assistant"/>
                  <a:sym typeface="Assistant"/>
                </a:rPr>
                <a:t>ההרחבה תכלול שני שלבים מרכזיים:</a:t>
              </a:r>
              <a:endParaRPr b="1" sz="1000">
                <a:solidFill>
                  <a:srgbClr val="FFFFFF"/>
                </a:solidFill>
                <a:latin typeface="Assistant"/>
                <a:ea typeface="Assistant"/>
                <a:cs typeface="Assistant"/>
                <a:sym typeface="Assistant"/>
              </a:endParaRPr>
            </a:p>
            <a:p>
              <a:pPr indent="0" lvl="0" marL="0" rtl="1" algn="r">
                <a:spcBef>
                  <a:spcPts val="750"/>
                </a:spcBef>
                <a:spcAft>
                  <a:spcPts val="0"/>
                </a:spcAft>
                <a:buNone/>
              </a:pPr>
              <a:r>
                <a:rPr b="1" lang="iw" sz="1000">
                  <a:solidFill>
                    <a:srgbClr val="10B981"/>
                  </a:solidFill>
                  <a:latin typeface="Assistant"/>
                  <a:ea typeface="Assistant"/>
                  <a:cs typeface="Assistant"/>
                  <a:sym typeface="Assistant"/>
                </a:rPr>
                <a:t>Hyperparameter Tuning</a:t>
              </a:r>
              <a:endParaRPr b="1" sz="1000">
                <a:solidFill>
                  <a:srgbClr val="10B981"/>
                </a:solidFill>
                <a:latin typeface="Assistant"/>
                <a:ea typeface="Assistant"/>
                <a:cs typeface="Assistant"/>
                <a:sym typeface="Assistant"/>
              </a:endParaRPr>
            </a:p>
            <a:p>
              <a:pPr indent="0" lvl="0" marL="0" rtl="1" algn="r">
                <a:spcBef>
                  <a:spcPts val="0"/>
                </a:spcBef>
                <a:spcAft>
                  <a:spcPts val="0"/>
                </a:spcAft>
                <a:buNone/>
              </a:pPr>
              <a:r>
                <a:rPr b="0" lang="iw" sz="950">
                  <a:solidFill>
                    <a:srgbClr val="7A8D9E"/>
                  </a:solidFill>
                  <a:latin typeface="Assistant"/>
                  <a:ea typeface="Assistant"/>
                  <a:cs typeface="Assistant"/>
                  <a:sym typeface="Assistant"/>
                </a:rPr>
                <a:t>אופטימיזציה של פרמטרי המודלים באמצעות כלי ה-GridSearchCV.</a:t>
              </a:r>
              <a:endParaRPr b="0" sz="950">
                <a:solidFill>
                  <a:srgbClr val="7A8D9E"/>
                </a:solidFill>
                <a:latin typeface="Assistant"/>
                <a:ea typeface="Assistant"/>
                <a:cs typeface="Assistant"/>
                <a:sym typeface="Assistant"/>
              </a:endParaRPr>
            </a:p>
            <a:p>
              <a:pPr indent="0" lvl="0" marL="0" rtl="1" algn="r">
                <a:spcBef>
                  <a:spcPts val="750"/>
                </a:spcBef>
                <a:spcAft>
                  <a:spcPts val="0"/>
                </a:spcAft>
                <a:buNone/>
              </a:pPr>
              <a:r>
                <a:rPr b="1" lang="iw" sz="1000">
                  <a:solidFill>
                    <a:srgbClr val="10B981"/>
                  </a:solidFill>
                  <a:latin typeface="Assistant"/>
                  <a:ea typeface="Assistant"/>
                  <a:cs typeface="Assistant"/>
                  <a:sym typeface="Assistant"/>
                </a:rPr>
                <a:t>5-Fold Cross Validation</a:t>
              </a:r>
              <a:endParaRPr b="1" sz="1000">
                <a:solidFill>
                  <a:srgbClr val="10B981"/>
                </a:solidFill>
                <a:latin typeface="Assistant"/>
                <a:ea typeface="Assistant"/>
                <a:cs typeface="Assistant"/>
                <a:sym typeface="Assistant"/>
              </a:endParaRPr>
            </a:p>
            <a:p>
              <a:pPr indent="0" lvl="0" marL="0" rtl="1" algn="r">
                <a:spcBef>
                  <a:spcPts val="0"/>
                </a:spcBef>
                <a:spcAft>
                  <a:spcPts val="0"/>
                </a:spcAft>
                <a:buNone/>
              </a:pPr>
              <a:r>
                <a:rPr b="0" lang="iw" sz="950">
                  <a:solidFill>
                    <a:srgbClr val="7A8D9E"/>
                  </a:solidFill>
                  <a:latin typeface="Assistant"/>
                  <a:ea typeface="Assistant"/>
                  <a:cs typeface="Assistant"/>
                  <a:sym typeface="Assistant"/>
                </a:rPr>
                <a:t>הערכה יציבה ומהימנה יותר של ביצועי המודלים למניעת Overfitting.</a:t>
              </a:r>
              <a:endParaRPr b="0" sz="950">
                <a:solidFill>
                  <a:srgbClr val="7A8D9E"/>
                </a:solidFill>
                <a:latin typeface="Assistant"/>
                <a:ea typeface="Assistant"/>
                <a:cs typeface="Assistant"/>
                <a:sym typeface="Assistant"/>
              </a:endParaRPr>
            </a:p>
          </p:txBody>
        </p:sp>
      </p:grpSp>
      <p:grpSp>
        <p:nvGrpSpPr>
          <p:cNvPr id="189" name="Google Shape;189;p16"/>
          <p:cNvGrpSpPr/>
          <p:nvPr/>
        </p:nvGrpSpPr>
        <p:grpSpPr>
          <a:xfrm>
            <a:off x="1143000" y="4381500"/>
            <a:ext cx="6858000" cy="333300"/>
            <a:chOff x="1143000" y="4381500"/>
            <a:chExt cx="6858000" cy="333300"/>
          </a:xfrm>
        </p:grpSpPr>
        <p:sp>
          <p:nvSpPr>
            <p:cNvPr id="190" name="Google Shape;190;p16"/>
            <p:cNvSpPr/>
            <p:nvPr/>
          </p:nvSpPr>
          <p:spPr>
            <a:xfrm>
              <a:off x="1143000" y="4381500"/>
              <a:ext cx="6858000" cy="333300"/>
            </a:xfrm>
            <a:prstGeom prst="roundRect">
              <a:avLst>
                <a:gd fmla="val 11428" name="adj"/>
              </a:avLst>
            </a:prstGeom>
            <a:solidFill>
              <a:srgbClr val="0A0E1A"/>
            </a:solidFill>
            <a:ln cap="flat" cmpd="sng" w="9525">
              <a:solidFill>
                <a:srgbClr val="1F2E4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1" name="Google Shape;191;p16"/>
            <p:cNvSpPr/>
            <p:nvPr/>
          </p:nvSpPr>
          <p:spPr>
            <a:xfrm>
              <a:off x="7772400" y="4510088"/>
              <a:ext cx="76200" cy="76200"/>
            </a:xfrm>
            <a:prstGeom prst="ellipse">
              <a:avLst/>
            </a:prstGeom>
            <a:solidFill>
              <a:srgbClr val="10B98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2" name="Google Shape;192;p16"/>
            <p:cNvSpPr txBox="1"/>
            <p:nvPr/>
          </p:nvSpPr>
          <p:spPr>
            <a:xfrm>
              <a:off x="1285875" y="4381500"/>
              <a:ext cx="6381900" cy="3333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r>
                <a:rPr b="1" lang="iw" sz="1000">
                  <a:solidFill>
                    <a:srgbClr val="00E5FF"/>
                  </a:solidFill>
                  <a:latin typeface="Courier New"/>
                  <a:ea typeface="Courier New"/>
                  <a:cs typeface="Courier New"/>
                  <a:sym typeface="Courier New"/>
                </a:rPr>
                <a:t>RESEARCH_GOAL: MODEL_REPLICATION // EXTENDED_TUNING </a:t>
              </a:r>
              <a:r>
                <a:rPr b="0" lang="iw" sz="1000">
                  <a:solidFill>
                    <a:srgbClr val="7A8D9E"/>
                  </a:solidFill>
                  <a:latin typeface="Assistant"/>
                  <a:ea typeface="Assistant"/>
                  <a:cs typeface="Assistant"/>
                  <a:sym typeface="Assistant"/>
                </a:rPr>
                <a:t>שיפור יכולות הניבוי של מחלות לב באמצעות כלי למידת מכונה מתקדמים</a:t>
              </a:r>
              <a:endParaRPr b="1" sz="1000">
                <a:solidFill>
                  <a:srgbClr val="00E5FF"/>
                </a:solidFill>
                <a:latin typeface="Courier New"/>
                <a:ea typeface="Courier New"/>
                <a:cs typeface="Courier New"/>
                <a:sym typeface="Courier New"/>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pic>
        <p:nvPicPr>
          <p:cNvPr descr="תערוך את השקף הזה שיהיה יותר מעניין ומעוצב יפה " id="197" name="Google Shape;197;p17"/>
          <p:cNvPicPr preferRelativeResize="0"/>
          <p:nvPr/>
        </p:nvPicPr>
        <p:blipFill>
          <a:blip r:embed="rId3">
            <a:alphaModFix/>
          </a:blip>
          <a:stretch>
            <a:fillRect/>
          </a:stretch>
        </p:blipFill>
        <p:spPr>
          <a:xfrm>
            <a:off x="-35700" y="0"/>
            <a:ext cx="9210675" cy="51435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212C"/>
        </a:solidFill>
      </p:bgPr>
    </p:bg>
    <p:spTree>
      <p:nvGrpSpPr>
        <p:cNvPr id="201" name="Shape 201"/>
        <p:cNvGrpSpPr/>
        <p:nvPr/>
      </p:nvGrpSpPr>
      <p:grpSpPr>
        <a:xfrm>
          <a:off x="0" y="0"/>
          <a:ext cx="0" cy="0"/>
          <a:chOff x="0" y="0"/>
          <a:chExt cx="0" cy="0"/>
        </a:xfrm>
      </p:grpSpPr>
      <p:sp>
        <p:nvSpPr>
          <p:cNvPr id="202" name="Google Shape;202;p18"/>
          <p:cNvSpPr txBox="1"/>
          <p:nvPr/>
        </p:nvSpPr>
        <p:spPr>
          <a:xfrm>
            <a:off x="2000250" y="238125"/>
            <a:ext cx="6858000" cy="571500"/>
          </a:xfrm>
          <a:prstGeom prst="rect">
            <a:avLst/>
          </a:prstGeom>
          <a:noFill/>
          <a:ln>
            <a:noFill/>
          </a:ln>
        </p:spPr>
        <p:txBody>
          <a:bodyPr anchorCtr="0" anchor="ctr" bIns="0" lIns="0" spcFirstLastPara="1" rIns="0" wrap="square" tIns="0">
            <a:noAutofit/>
          </a:bodyPr>
          <a:lstStyle/>
          <a:p>
            <a:pPr indent="0" lvl="0" marL="0" rtl="1" algn="r">
              <a:spcBef>
                <a:spcPts val="0"/>
              </a:spcBef>
              <a:spcAft>
                <a:spcPts val="0"/>
              </a:spcAft>
              <a:buNone/>
            </a:pPr>
            <a:r>
              <a:rPr b="0" lang="iw" sz="2600">
                <a:solidFill>
                  <a:srgbClr val="FFFFFF"/>
                </a:solidFill>
                <a:latin typeface="Assistant ExtraBold"/>
                <a:ea typeface="Assistant ExtraBold"/>
                <a:cs typeface="Assistant ExtraBold"/>
                <a:sym typeface="Assistant ExtraBold"/>
              </a:rPr>
              <a:t>סקירת ספרות</a:t>
            </a:r>
            <a:endParaRPr b="0" sz="2600">
              <a:solidFill>
                <a:srgbClr val="FFFFFF"/>
              </a:solidFill>
              <a:latin typeface="Assistant ExtraBold"/>
              <a:ea typeface="Assistant ExtraBold"/>
              <a:cs typeface="Assistant ExtraBold"/>
              <a:sym typeface="Assistant ExtraBold"/>
            </a:endParaRPr>
          </a:p>
        </p:txBody>
      </p:sp>
      <p:grpSp>
        <p:nvGrpSpPr>
          <p:cNvPr id="203" name="Google Shape;203;p18"/>
          <p:cNvGrpSpPr/>
          <p:nvPr/>
        </p:nvGrpSpPr>
        <p:grpSpPr>
          <a:xfrm>
            <a:off x="1143000" y="904875"/>
            <a:ext cx="6858000" cy="952500"/>
            <a:chOff x="1143000" y="904875"/>
            <a:chExt cx="6858000" cy="952500"/>
          </a:xfrm>
        </p:grpSpPr>
        <p:sp>
          <p:nvSpPr>
            <p:cNvPr id="204" name="Google Shape;204;p18"/>
            <p:cNvSpPr/>
            <p:nvPr/>
          </p:nvSpPr>
          <p:spPr>
            <a:xfrm>
              <a:off x="1143000" y="904875"/>
              <a:ext cx="6858000" cy="952500"/>
            </a:xfrm>
            <a:prstGeom prst="roundRect">
              <a:avLst>
                <a:gd fmla="val 6000" name="adj"/>
              </a:avLst>
            </a:prstGeom>
            <a:solidFill>
              <a:srgbClr val="0E1524"/>
            </a:solidFill>
            <a:ln cap="flat" cmpd="sng" w="9525">
              <a:solidFill>
                <a:srgbClr val="1F2E4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05" name="Google Shape;205;p18"/>
            <p:cNvSpPr/>
            <p:nvPr/>
          </p:nvSpPr>
          <p:spPr>
            <a:xfrm>
              <a:off x="7962900" y="904875"/>
              <a:ext cx="38100" cy="952500"/>
            </a:xfrm>
            <a:prstGeom prst="rect">
              <a:avLst/>
            </a:prstGeom>
            <a:solidFill>
              <a:srgbClr val="10B98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06" name="Google Shape;206;p18"/>
            <p:cNvSpPr txBox="1"/>
            <p:nvPr/>
          </p:nvSpPr>
          <p:spPr>
            <a:xfrm>
              <a:off x="1333500" y="1000125"/>
              <a:ext cx="6477000" cy="762000"/>
            </a:xfrm>
            <a:prstGeom prst="rect">
              <a:avLst/>
            </a:prstGeom>
            <a:noFill/>
            <a:ln>
              <a:noFill/>
            </a:ln>
          </p:spPr>
          <p:txBody>
            <a:bodyPr anchorCtr="0" anchor="ctr" bIns="0" lIns="0" spcFirstLastPara="1" rIns="0" wrap="square" tIns="0">
              <a:noAutofit/>
            </a:bodyPr>
            <a:lstStyle/>
            <a:p>
              <a:pPr indent="0" lvl="0" marL="0" rtl="1" algn="r">
                <a:spcBef>
                  <a:spcPts val="0"/>
                </a:spcBef>
                <a:spcAft>
                  <a:spcPts val="0"/>
                </a:spcAft>
                <a:buNone/>
              </a:pPr>
              <a:r>
                <a:rPr b="0" lang="iw" sz="1100">
                  <a:solidFill>
                    <a:srgbClr val="FFFFFF"/>
                  </a:solidFill>
                  <a:latin typeface="Assistant"/>
                  <a:ea typeface="Assistant"/>
                  <a:cs typeface="Assistant"/>
                  <a:sym typeface="Assistant"/>
                </a:rPr>
                <a:t>בשנים האחרונות פורסמו מחקרים רבים העוסקים בחיזוי מחלות לב באמצעות למידת מכונה. מרבית המחקרים משתמשים במאגרי מידע רפואיים הכוללים נתונים פיזיולוגיים, קליניים ואורח חיים של המטופלים.</a:t>
              </a:r>
              <a:endParaRPr b="0" sz="1100">
                <a:solidFill>
                  <a:srgbClr val="FFFFFF"/>
                </a:solidFill>
                <a:latin typeface="Assistant"/>
                <a:ea typeface="Assistant"/>
                <a:cs typeface="Assistant"/>
                <a:sym typeface="Assistant"/>
              </a:endParaRPr>
            </a:p>
          </p:txBody>
        </p:sp>
      </p:grpSp>
      <p:grpSp>
        <p:nvGrpSpPr>
          <p:cNvPr id="207" name="Google Shape;207;p18"/>
          <p:cNvGrpSpPr/>
          <p:nvPr/>
        </p:nvGrpSpPr>
        <p:grpSpPr>
          <a:xfrm>
            <a:off x="4714875" y="2000250"/>
            <a:ext cx="3286200" cy="2238300"/>
            <a:chOff x="4714875" y="2000250"/>
            <a:chExt cx="3286200" cy="2238300"/>
          </a:xfrm>
        </p:grpSpPr>
        <p:sp>
          <p:nvSpPr>
            <p:cNvPr id="208" name="Google Shape;208;p18"/>
            <p:cNvSpPr/>
            <p:nvPr/>
          </p:nvSpPr>
          <p:spPr>
            <a:xfrm>
              <a:off x="4714875" y="2000250"/>
              <a:ext cx="3286200" cy="2238300"/>
            </a:xfrm>
            <a:prstGeom prst="roundRect">
              <a:avLst>
                <a:gd fmla="val 2553" name="adj"/>
              </a:avLst>
            </a:prstGeom>
            <a:solidFill>
              <a:srgbClr val="0E1524"/>
            </a:solidFill>
            <a:ln cap="flat" cmpd="sng" w="9525">
              <a:solidFill>
                <a:srgbClr val="1F2E4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09" name="Google Shape;209;p18"/>
            <p:cNvSpPr/>
            <p:nvPr/>
          </p:nvSpPr>
          <p:spPr>
            <a:xfrm>
              <a:off x="4714875" y="2000250"/>
              <a:ext cx="3286200" cy="38100"/>
            </a:xfrm>
            <a:prstGeom prst="rect">
              <a:avLst/>
            </a:prstGeom>
            <a:solidFill>
              <a:srgbClr val="00E5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0" name="Google Shape;210;p18"/>
            <p:cNvSpPr txBox="1"/>
            <p:nvPr/>
          </p:nvSpPr>
          <p:spPr>
            <a:xfrm>
              <a:off x="4905375" y="2190750"/>
              <a:ext cx="2905200" cy="1857300"/>
            </a:xfrm>
            <a:prstGeom prst="rect">
              <a:avLst/>
            </a:prstGeom>
            <a:noFill/>
            <a:ln>
              <a:noFill/>
            </a:ln>
          </p:spPr>
          <p:txBody>
            <a:bodyPr anchorCtr="0" anchor="t" bIns="0" lIns="0" spcFirstLastPara="1" rIns="0" wrap="square" tIns="0">
              <a:noAutofit/>
            </a:bodyPr>
            <a:lstStyle/>
            <a:p>
              <a:pPr indent="0" lvl="0" marL="0" rtl="1" algn="r">
                <a:spcBef>
                  <a:spcPts val="0"/>
                </a:spcBef>
                <a:spcAft>
                  <a:spcPts val="0"/>
                </a:spcAft>
                <a:buNone/>
              </a:pPr>
              <a:r>
                <a:rPr b="1" lang="iw" sz="1000">
                  <a:solidFill>
                    <a:srgbClr val="00E5FF"/>
                  </a:solidFill>
                  <a:latin typeface="Assistant"/>
                  <a:ea typeface="Assistant"/>
                  <a:cs typeface="Assistant"/>
                  <a:sym typeface="Assistant"/>
                </a:rPr>
                <a:t>01 / FEATURE_VARIABLES</a:t>
              </a:r>
              <a:endParaRPr b="1" sz="1000">
                <a:solidFill>
                  <a:srgbClr val="00E5FF"/>
                </a:solidFill>
                <a:latin typeface="Assistant"/>
                <a:ea typeface="Assistant"/>
                <a:cs typeface="Assistant"/>
                <a:sym typeface="Assistant"/>
              </a:endParaRPr>
            </a:p>
            <a:p>
              <a:pPr indent="0" lvl="0" marL="0" rtl="1" algn="r">
                <a:spcBef>
                  <a:spcPts val="300"/>
                </a:spcBef>
                <a:spcAft>
                  <a:spcPts val="0"/>
                </a:spcAft>
                <a:buNone/>
              </a:pPr>
              <a:r>
                <a:rPr b="1" lang="iw" sz="1500">
                  <a:solidFill>
                    <a:srgbClr val="FFFFFF"/>
                  </a:solidFill>
                  <a:latin typeface="Assistant"/>
                  <a:ea typeface="Assistant"/>
                  <a:cs typeface="Assistant"/>
                  <a:sym typeface="Assistant"/>
                </a:rPr>
                <a:t>מדדים רפואיים נפוצים</a:t>
              </a:r>
              <a:endParaRPr b="1" sz="1500">
                <a:solidFill>
                  <a:srgbClr val="FFFFFF"/>
                </a:solidFill>
                <a:latin typeface="Assistant"/>
                <a:ea typeface="Assistant"/>
                <a:cs typeface="Assistant"/>
                <a:sym typeface="Assistant"/>
              </a:endParaRPr>
            </a:p>
            <a:p>
              <a:pPr indent="0" lvl="0" marL="0" rtl="1" algn="r">
                <a:spcBef>
                  <a:spcPts val="600"/>
                </a:spcBef>
                <a:spcAft>
                  <a:spcPts val="0"/>
                </a:spcAft>
                <a:buNone/>
              </a:pPr>
              <a:r>
                <a:rPr b="0" lang="iw" sz="1100">
                  <a:solidFill>
                    <a:srgbClr val="7A8D9E"/>
                  </a:solidFill>
                  <a:latin typeface="Assistant"/>
                  <a:ea typeface="Assistant"/>
                  <a:cs typeface="Assistant"/>
                  <a:sym typeface="Assistant"/>
                </a:rPr>
                <a:t>המשתנים המרכזיים המשמשים לאימון המודלים:</a:t>
              </a:r>
              <a:endParaRPr b="0" sz="1100">
                <a:solidFill>
                  <a:srgbClr val="7A8D9E"/>
                </a:solidFill>
                <a:latin typeface="Assistant"/>
                <a:ea typeface="Assistant"/>
                <a:cs typeface="Assistant"/>
                <a:sym typeface="Assistant"/>
              </a:endParaRPr>
            </a:p>
            <a:p>
              <a:pPr indent="0" lvl="0" marL="0" rtl="1" algn="r">
                <a:spcBef>
                  <a:spcPts val="450"/>
                </a:spcBef>
                <a:spcAft>
                  <a:spcPts val="0"/>
                </a:spcAft>
                <a:buNone/>
              </a:pPr>
              <a:r>
                <a:rPr b="0" lang="iw" sz="1100">
                  <a:solidFill>
                    <a:srgbClr val="FFFFFF"/>
                  </a:solidFill>
                  <a:latin typeface="Assistant"/>
                  <a:ea typeface="Assistant"/>
                  <a:cs typeface="Assistant"/>
                  <a:sym typeface="Assistant"/>
                </a:rPr>
                <a:t>• גיל, מין, לחץ דם ורמת כולסטרול</a:t>
              </a:r>
              <a:endParaRPr b="0" sz="1100">
                <a:solidFill>
                  <a:srgbClr val="FFFFFF"/>
                </a:solidFill>
                <a:latin typeface="Assistant"/>
                <a:ea typeface="Assistant"/>
                <a:cs typeface="Assistant"/>
                <a:sym typeface="Assistant"/>
              </a:endParaRPr>
            </a:p>
            <a:p>
              <a:pPr indent="0" lvl="0" marL="0" rtl="1" algn="r">
                <a:spcBef>
                  <a:spcPts val="300"/>
                </a:spcBef>
                <a:spcAft>
                  <a:spcPts val="0"/>
                </a:spcAft>
                <a:buNone/>
              </a:pPr>
              <a:r>
                <a:rPr b="0" lang="iw" sz="1100">
                  <a:solidFill>
                    <a:srgbClr val="FFFFFF"/>
                  </a:solidFill>
                  <a:latin typeface="Assistant"/>
                  <a:ea typeface="Assistant"/>
                  <a:cs typeface="Assistant"/>
                  <a:sym typeface="Assistant"/>
                </a:rPr>
                <a:t>• תסמינים קליניים (כמו כאבי חזה וסוגיהם)</a:t>
              </a:r>
              <a:endParaRPr b="0" sz="1100">
                <a:solidFill>
                  <a:srgbClr val="FFFFFF"/>
                </a:solidFill>
                <a:latin typeface="Assistant"/>
                <a:ea typeface="Assistant"/>
                <a:cs typeface="Assistant"/>
                <a:sym typeface="Assistant"/>
              </a:endParaRPr>
            </a:p>
            <a:p>
              <a:pPr indent="0" lvl="0" marL="0" rtl="1" algn="r">
                <a:spcBef>
                  <a:spcPts val="300"/>
                </a:spcBef>
                <a:spcAft>
                  <a:spcPts val="0"/>
                </a:spcAft>
                <a:buNone/>
              </a:pPr>
              <a:r>
                <a:rPr b="0" lang="iw" sz="1100">
                  <a:solidFill>
                    <a:srgbClr val="FFFFFF"/>
                  </a:solidFill>
                  <a:latin typeface="Assistant"/>
                  <a:ea typeface="Assistant"/>
                  <a:cs typeface="Assistant"/>
                  <a:sym typeface="Assistant"/>
                </a:rPr>
                <a:t>• תוצאות בדיקות ECG ומדדים פיזיולוגיים</a:t>
              </a:r>
              <a:endParaRPr b="0" sz="1100">
                <a:solidFill>
                  <a:srgbClr val="FFFFFF"/>
                </a:solidFill>
                <a:latin typeface="Assistant"/>
                <a:ea typeface="Assistant"/>
                <a:cs typeface="Assistant"/>
                <a:sym typeface="Assistant"/>
              </a:endParaRPr>
            </a:p>
            <a:p>
              <a:pPr indent="0" lvl="0" marL="0" rtl="1" algn="r">
                <a:spcBef>
                  <a:spcPts val="300"/>
                </a:spcBef>
                <a:spcAft>
                  <a:spcPts val="0"/>
                </a:spcAft>
                <a:buNone/>
              </a:pPr>
              <a:r>
                <a:rPr b="0" lang="iw" sz="1100">
                  <a:solidFill>
                    <a:srgbClr val="FFFFFF"/>
                  </a:solidFill>
                  <a:latin typeface="Assistant"/>
                  <a:ea typeface="Assistant"/>
                  <a:cs typeface="Assistant"/>
                  <a:sym typeface="Assistant"/>
                </a:rPr>
                <a:t>• הרגלי חיים והיסטוריה רפואית</a:t>
              </a:r>
              <a:endParaRPr b="0" sz="1100">
                <a:solidFill>
                  <a:srgbClr val="FFFFFF"/>
                </a:solidFill>
                <a:latin typeface="Assistant"/>
                <a:ea typeface="Assistant"/>
                <a:cs typeface="Assistant"/>
                <a:sym typeface="Assistant"/>
              </a:endParaRPr>
            </a:p>
          </p:txBody>
        </p:sp>
      </p:grpSp>
      <p:grpSp>
        <p:nvGrpSpPr>
          <p:cNvPr id="211" name="Google Shape;211;p18"/>
          <p:cNvGrpSpPr/>
          <p:nvPr/>
        </p:nvGrpSpPr>
        <p:grpSpPr>
          <a:xfrm>
            <a:off x="1143000" y="2000250"/>
            <a:ext cx="3286200" cy="2238300"/>
            <a:chOff x="1143000" y="2000250"/>
            <a:chExt cx="3286200" cy="2238300"/>
          </a:xfrm>
        </p:grpSpPr>
        <p:sp>
          <p:nvSpPr>
            <p:cNvPr id="212" name="Google Shape;212;p18"/>
            <p:cNvSpPr/>
            <p:nvPr/>
          </p:nvSpPr>
          <p:spPr>
            <a:xfrm>
              <a:off x="1143000" y="2000250"/>
              <a:ext cx="3286200" cy="2238300"/>
            </a:xfrm>
            <a:prstGeom prst="roundRect">
              <a:avLst>
                <a:gd fmla="val 2553" name="adj"/>
              </a:avLst>
            </a:prstGeom>
            <a:solidFill>
              <a:srgbClr val="0E1524"/>
            </a:solidFill>
            <a:ln cap="flat" cmpd="sng" w="9525">
              <a:solidFill>
                <a:srgbClr val="1F2E4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3" name="Google Shape;213;p18"/>
            <p:cNvSpPr/>
            <p:nvPr/>
          </p:nvSpPr>
          <p:spPr>
            <a:xfrm>
              <a:off x="1143000" y="2000250"/>
              <a:ext cx="3286200" cy="38100"/>
            </a:xfrm>
            <a:prstGeom prst="rect">
              <a:avLst/>
            </a:prstGeom>
            <a:solidFill>
              <a:srgbClr val="10B98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4" name="Google Shape;214;p18"/>
            <p:cNvSpPr txBox="1"/>
            <p:nvPr/>
          </p:nvSpPr>
          <p:spPr>
            <a:xfrm>
              <a:off x="1333500" y="2190750"/>
              <a:ext cx="2905200" cy="1857300"/>
            </a:xfrm>
            <a:prstGeom prst="rect">
              <a:avLst/>
            </a:prstGeom>
            <a:noFill/>
            <a:ln>
              <a:noFill/>
            </a:ln>
          </p:spPr>
          <p:txBody>
            <a:bodyPr anchorCtr="0" anchor="t" bIns="0" lIns="0" spcFirstLastPara="1" rIns="0" wrap="square" tIns="0">
              <a:noAutofit/>
            </a:bodyPr>
            <a:lstStyle/>
            <a:p>
              <a:pPr indent="0" lvl="0" marL="0" rtl="1" algn="r">
                <a:spcBef>
                  <a:spcPts val="0"/>
                </a:spcBef>
                <a:spcAft>
                  <a:spcPts val="0"/>
                </a:spcAft>
                <a:buNone/>
              </a:pPr>
              <a:r>
                <a:rPr b="1" lang="iw" sz="1000">
                  <a:solidFill>
                    <a:srgbClr val="10B981"/>
                  </a:solidFill>
                  <a:latin typeface="Assistant"/>
                  <a:ea typeface="Assistant"/>
                  <a:cs typeface="Assistant"/>
                  <a:sym typeface="Assistant"/>
                </a:rPr>
                <a:t>02 / ALGORITHMS</a:t>
              </a:r>
              <a:endParaRPr b="1" sz="1000">
                <a:solidFill>
                  <a:srgbClr val="10B981"/>
                </a:solidFill>
                <a:latin typeface="Assistant"/>
                <a:ea typeface="Assistant"/>
                <a:cs typeface="Assistant"/>
                <a:sym typeface="Assistant"/>
              </a:endParaRPr>
            </a:p>
            <a:p>
              <a:pPr indent="0" lvl="0" marL="0" rtl="1" algn="r">
                <a:spcBef>
                  <a:spcPts val="300"/>
                </a:spcBef>
                <a:spcAft>
                  <a:spcPts val="0"/>
                </a:spcAft>
                <a:buNone/>
              </a:pPr>
              <a:r>
                <a:rPr b="1" lang="iw" sz="1500">
                  <a:solidFill>
                    <a:srgbClr val="FFFFFF"/>
                  </a:solidFill>
                  <a:latin typeface="Assistant"/>
                  <a:ea typeface="Assistant"/>
                  <a:cs typeface="Assistant"/>
                  <a:sym typeface="Assistant"/>
                </a:rPr>
                <a:t>אלגוריתמים מובילים</a:t>
              </a:r>
              <a:endParaRPr b="1" sz="1500">
                <a:solidFill>
                  <a:srgbClr val="FFFFFF"/>
                </a:solidFill>
                <a:latin typeface="Assistant"/>
                <a:ea typeface="Assistant"/>
                <a:cs typeface="Assistant"/>
                <a:sym typeface="Assistant"/>
              </a:endParaRPr>
            </a:p>
            <a:p>
              <a:pPr indent="0" lvl="0" marL="0" rtl="1" algn="r">
                <a:spcBef>
                  <a:spcPts val="600"/>
                </a:spcBef>
                <a:spcAft>
                  <a:spcPts val="0"/>
                </a:spcAft>
                <a:buNone/>
              </a:pPr>
              <a:r>
                <a:rPr b="0" lang="iw" sz="1100">
                  <a:solidFill>
                    <a:srgbClr val="7A8D9E"/>
                  </a:solidFill>
                  <a:latin typeface="Assistant"/>
                  <a:ea typeface="Assistant"/>
                  <a:cs typeface="Assistant"/>
                  <a:sym typeface="Assistant"/>
                </a:rPr>
                <a:t>השיטות הנפוצות והנחקרות ביותר בספרות:</a:t>
              </a:r>
              <a:endParaRPr b="0" sz="1100">
                <a:solidFill>
                  <a:srgbClr val="7A8D9E"/>
                </a:solidFill>
                <a:latin typeface="Assistant"/>
                <a:ea typeface="Assistant"/>
                <a:cs typeface="Assistant"/>
                <a:sym typeface="Assistant"/>
              </a:endParaRPr>
            </a:p>
            <a:p>
              <a:pPr indent="0" lvl="0" marL="0" rtl="1" algn="r">
                <a:spcBef>
                  <a:spcPts val="450"/>
                </a:spcBef>
                <a:spcAft>
                  <a:spcPts val="0"/>
                </a:spcAft>
                <a:buNone/>
              </a:pPr>
              <a:r>
                <a:rPr b="0" lang="iw" sz="1100">
                  <a:solidFill>
                    <a:srgbClr val="FFFFFF"/>
                  </a:solidFill>
                  <a:latin typeface="Assistant"/>
                  <a:ea typeface="Assistant"/>
                  <a:cs typeface="Assistant"/>
                  <a:sym typeface="Assistant"/>
                </a:rPr>
                <a:t>• </a:t>
              </a:r>
              <a:r>
                <a:rPr b="1" lang="iw" sz="1100">
                  <a:solidFill>
                    <a:srgbClr val="FFFFFF"/>
                  </a:solidFill>
                  <a:latin typeface="Assistant"/>
                  <a:ea typeface="Assistant"/>
                  <a:cs typeface="Assistant"/>
                  <a:sym typeface="Assistant"/>
                </a:rPr>
                <a:t>رלמידת מכונה קלאסית:</a:t>
              </a:r>
              <a:r>
                <a:rPr b="0" lang="iw" sz="1100">
                  <a:solidFill>
                    <a:srgbClr val="FFFFFF"/>
                  </a:solidFill>
                  <a:latin typeface="Assistant"/>
                  <a:ea typeface="Assistant"/>
                  <a:cs typeface="Assistant"/>
                  <a:sym typeface="Assistant"/>
                </a:rPr>
                <a:t> SVM, Random Forest</a:t>
              </a:r>
              <a:endParaRPr b="0" sz="1100">
                <a:solidFill>
                  <a:srgbClr val="FFFFFF"/>
                </a:solidFill>
                <a:latin typeface="Assistant"/>
                <a:ea typeface="Assistant"/>
                <a:cs typeface="Assistant"/>
                <a:sym typeface="Assistant"/>
              </a:endParaRPr>
            </a:p>
            <a:p>
              <a:pPr indent="0" lvl="0" marL="0" rtl="1" algn="r">
                <a:spcBef>
                  <a:spcPts val="300"/>
                </a:spcBef>
                <a:spcAft>
                  <a:spcPts val="0"/>
                </a:spcAft>
                <a:buNone/>
              </a:pPr>
              <a:r>
                <a:rPr b="0" lang="iw" sz="1100">
                  <a:solidFill>
                    <a:srgbClr val="FFFFFF"/>
                  </a:solidFill>
                  <a:latin typeface="Assistant"/>
                  <a:ea typeface="Assistant"/>
                  <a:cs typeface="Assistant"/>
                  <a:sym typeface="Assistant"/>
                </a:rPr>
                <a:t>• </a:t>
              </a:r>
              <a:r>
                <a:rPr b="1" lang="iw" sz="1100">
                  <a:solidFill>
                    <a:srgbClr val="FFFFFF"/>
                  </a:solidFill>
                  <a:latin typeface="Assistant"/>
                  <a:ea typeface="Assistant"/>
                  <a:cs typeface="Assistant"/>
                  <a:sym typeface="Assistant"/>
                </a:rPr>
                <a:t>מודלים מבוססי מרחק:</a:t>
              </a:r>
              <a:r>
                <a:rPr b="0" lang="iw" sz="1100">
                  <a:solidFill>
                    <a:srgbClr val="FFFFFF"/>
                  </a:solidFill>
                  <a:latin typeface="Assistant"/>
                  <a:ea typeface="Assistant"/>
                  <a:cs typeface="Assistant"/>
                  <a:sym typeface="Assistant"/>
                </a:rPr>
                <a:t> K-Nearest Neighbors (KNN)</a:t>
              </a:r>
              <a:endParaRPr b="0" sz="1100">
                <a:solidFill>
                  <a:srgbClr val="FFFFFF"/>
                </a:solidFill>
                <a:latin typeface="Assistant"/>
                <a:ea typeface="Assistant"/>
                <a:cs typeface="Assistant"/>
                <a:sym typeface="Assistant"/>
              </a:endParaRPr>
            </a:p>
            <a:p>
              <a:pPr indent="0" lvl="0" marL="0" rtl="1" algn="r">
                <a:spcBef>
                  <a:spcPts val="300"/>
                </a:spcBef>
                <a:spcAft>
                  <a:spcPts val="0"/>
                </a:spcAft>
                <a:buNone/>
              </a:pPr>
              <a:r>
                <a:rPr b="0" lang="iw" sz="1100">
                  <a:solidFill>
                    <a:srgbClr val="FFFFFF"/>
                  </a:solidFill>
                  <a:latin typeface="Assistant"/>
                  <a:ea typeface="Assistant"/>
                  <a:cs typeface="Assistant"/>
                  <a:sym typeface="Assistant"/>
                </a:rPr>
                <a:t>• </a:t>
              </a:r>
              <a:r>
                <a:rPr b="1" lang="iw" sz="1100">
                  <a:solidFill>
                    <a:srgbClr val="FFFFFF"/>
                  </a:solidFill>
                  <a:latin typeface="Assistant"/>
                  <a:ea typeface="Assistant"/>
                  <a:cs typeface="Assistant"/>
                  <a:sym typeface="Assistant"/>
                </a:rPr>
                <a:t>מודלים סטטיסטיים:</a:t>
              </a:r>
              <a:r>
                <a:rPr b="0" lang="iw" sz="1100">
                  <a:solidFill>
                    <a:srgbClr val="FFFFFF"/>
                  </a:solidFill>
                  <a:latin typeface="Assistant"/>
                  <a:ea typeface="Assistant"/>
                  <a:cs typeface="Assistant"/>
                  <a:sym typeface="Assistant"/>
                </a:rPr>
                <a:t> Logistic Regression</a:t>
              </a:r>
              <a:endParaRPr b="0" sz="1100">
                <a:solidFill>
                  <a:srgbClr val="FFFFFF"/>
                </a:solidFill>
                <a:latin typeface="Assistant"/>
                <a:ea typeface="Assistant"/>
                <a:cs typeface="Assistant"/>
                <a:sym typeface="Assistant"/>
              </a:endParaRPr>
            </a:p>
            <a:p>
              <a:pPr indent="0" lvl="0" marL="0" rtl="1" algn="r">
                <a:spcBef>
                  <a:spcPts val="300"/>
                </a:spcBef>
                <a:spcAft>
                  <a:spcPts val="0"/>
                </a:spcAft>
                <a:buNone/>
              </a:pPr>
              <a:r>
                <a:rPr b="0" lang="iw" sz="1100">
                  <a:solidFill>
                    <a:srgbClr val="FFFFFF"/>
                  </a:solidFill>
                  <a:latin typeface="Assistant"/>
                  <a:ea typeface="Assistant"/>
                  <a:cs typeface="Assistant"/>
                  <a:sym typeface="Assistant"/>
                </a:rPr>
                <a:t>• שיפורים ושיטות Ensemble מורכבות</a:t>
              </a:r>
              <a:endParaRPr b="0" sz="1100">
                <a:solidFill>
                  <a:srgbClr val="FFFFFF"/>
                </a:solidFill>
                <a:latin typeface="Assistant"/>
                <a:ea typeface="Assistant"/>
                <a:cs typeface="Assistant"/>
                <a:sym typeface="Assistant"/>
              </a:endParaRPr>
            </a:p>
          </p:txBody>
        </p:sp>
      </p:grpSp>
      <p:grpSp>
        <p:nvGrpSpPr>
          <p:cNvPr id="215" name="Google Shape;215;p18"/>
          <p:cNvGrpSpPr/>
          <p:nvPr/>
        </p:nvGrpSpPr>
        <p:grpSpPr>
          <a:xfrm>
            <a:off x="1143000" y="4381500"/>
            <a:ext cx="6858000" cy="333300"/>
            <a:chOff x="1143000" y="4381500"/>
            <a:chExt cx="6858000" cy="333300"/>
          </a:xfrm>
        </p:grpSpPr>
        <p:sp>
          <p:nvSpPr>
            <p:cNvPr id="216" name="Google Shape;216;p18"/>
            <p:cNvSpPr/>
            <p:nvPr/>
          </p:nvSpPr>
          <p:spPr>
            <a:xfrm>
              <a:off x="1143000" y="4381500"/>
              <a:ext cx="6858000" cy="333300"/>
            </a:xfrm>
            <a:prstGeom prst="roundRect">
              <a:avLst>
                <a:gd fmla="val 11428" name="adj"/>
              </a:avLst>
            </a:prstGeom>
            <a:solidFill>
              <a:srgbClr val="0A0E1A"/>
            </a:solidFill>
            <a:ln cap="flat" cmpd="sng" w="9525">
              <a:solidFill>
                <a:srgbClr val="1F2E4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7" name="Google Shape;217;p18"/>
            <p:cNvSpPr/>
            <p:nvPr/>
          </p:nvSpPr>
          <p:spPr>
            <a:xfrm>
              <a:off x="7772400" y="4510088"/>
              <a:ext cx="76200" cy="76200"/>
            </a:xfrm>
            <a:prstGeom prst="ellipse">
              <a:avLst/>
            </a:prstGeom>
            <a:solidFill>
              <a:srgbClr val="10B98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8" name="Google Shape;218;p18"/>
            <p:cNvSpPr txBox="1"/>
            <p:nvPr/>
          </p:nvSpPr>
          <p:spPr>
            <a:xfrm>
              <a:off x="1285875" y="4381500"/>
              <a:ext cx="6381900" cy="3333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r>
                <a:rPr b="1" lang="iw" sz="1000">
                  <a:solidFill>
                    <a:srgbClr val="00E5FF"/>
                  </a:solidFill>
                  <a:latin typeface="Courier New"/>
                  <a:ea typeface="Courier New"/>
                  <a:cs typeface="Courier New"/>
                  <a:sym typeface="Courier New"/>
                </a:rPr>
                <a:t>LITERATURE_REVIEW: PATIENT_METRICS // COMMON_ALGORITHMS </a:t>
              </a:r>
              <a:r>
                <a:rPr b="0" lang="iw" sz="1000">
                  <a:solidFill>
                    <a:srgbClr val="7A8D9E"/>
                  </a:solidFill>
                  <a:latin typeface="Assistant"/>
                  <a:ea typeface="Assistant"/>
                  <a:cs typeface="Assistant"/>
                  <a:sym typeface="Assistant"/>
                </a:rPr>
                <a:t>סקירת הנתונים הקליניים והשיטות החישוביות המקובלות בספרות המחקרית</a:t>
              </a:r>
              <a:endParaRPr b="1" sz="1000">
                <a:solidFill>
                  <a:srgbClr val="00E5FF"/>
                </a:solidFill>
                <a:latin typeface="Courier New"/>
                <a:ea typeface="Courier New"/>
                <a:cs typeface="Courier New"/>
                <a:sym typeface="Courier New"/>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212C"/>
        </a:solidFill>
      </p:bgPr>
    </p:bg>
    <p:spTree>
      <p:nvGrpSpPr>
        <p:cNvPr id="222" name="Shape 222"/>
        <p:cNvGrpSpPr/>
        <p:nvPr/>
      </p:nvGrpSpPr>
      <p:grpSpPr>
        <a:xfrm>
          <a:off x="0" y="0"/>
          <a:ext cx="0" cy="0"/>
          <a:chOff x="0" y="0"/>
          <a:chExt cx="0" cy="0"/>
        </a:xfrm>
      </p:grpSpPr>
      <p:sp>
        <p:nvSpPr>
          <p:cNvPr id="223" name="Google Shape;223;p19"/>
          <p:cNvSpPr txBox="1"/>
          <p:nvPr/>
        </p:nvSpPr>
        <p:spPr>
          <a:xfrm>
            <a:off x="4286250" y="238125"/>
            <a:ext cx="4286400" cy="476400"/>
          </a:xfrm>
          <a:prstGeom prst="rect">
            <a:avLst/>
          </a:prstGeom>
          <a:noFill/>
          <a:ln>
            <a:noFill/>
          </a:ln>
        </p:spPr>
        <p:txBody>
          <a:bodyPr anchorCtr="0" anchor="ctr" bIns="0" lIns="0" spcFirstLastPara="1" rIns="0" wrap="square" tIns="0">
            <a:noAutofit/>
          </a:bodyPr>
          <a:lstStyle/>
          <a:p>
            <a:pPr indent="0" lvl="0" marL="0" rtl="1" algn="r">
              <a:spcBef>
                <a:spcPts val="0"/>
              </a:spcBef>
              <a:spcAft>
                <a:spcPts val="0"/>
              </a:spcAft>
              <a:buNone/>
            </a:pPr>
            <a:r>
              <a:rPr b="0" lang="iw" sz="2600">
                <a:solidFill>
                  <a:srgbClr val="FFFFFF"/>
                </a:solidFill>
                <a:latin typeface="Assistant ExtraBold"/>
                <a:ea typeface="Assistant ExtraBold"/>
                <a:cs typeface="Assistant ExtraBold"/>
                <a:sym typeface="Assistant ExtraBold"/>
              </a:rPr>
              <a:t>מאגר הנתונים (Dataset)</a:t>
            </a:r>
            <a:endParaRPr b="0" sz="2600">
              <a:solidFill>
                <a:srgbClr val="FFFFFF"/>
              </a:solidFill>
              <a:latin typeface="Assistant ExtraBold"/>
              <a:ea typeface="Assistant ExtraBold"/>
              <a:cs typeface="Assistant ExtraBold"/>
              <a:sym typeface="Assistant ExtraBold"/>
            </a:endParaRPr>
          </a:p>
        </p:txBody>
      </p:sp>
      <p:grpSp>
        <p:nvGrpSpPr>
          <p:cNvPr id="224" name="Google Shape;224;p19"/>
          <p:cNvGrpSpPr/>
          <p:nvPr/>
        </p:nvGrpSpPr>
        <p:grpSpPr>
          <a:xfrm>
            <a:off x="5143500" y="952500"/>
            <a:ext cx="3429000" cy="3238500"/>
            <a:chOff x="5143500" y="952500"/>
            <a:chExt cx="3429000" cy="3238500"/>
          </a:xfrm>
        </p:grpSpPr>
        <p:sp>
          <p:nvSpPr>
            <p:cNvPr id="225" name="Google Shape;225;p19"/>
            <p:cNvSpPr/>
            <p:nvPr/>
          </p:nvSpPr>
          <p:spPr>
            <a:xfrm>
              <a:off x="5143500" y="952500"/>
              <a:ext cx="3429000" cy="3238500"/>
            </a:xfrm>
            <a:prstGeom prst="roundRect">
              <a:avLst>
                <a:gd fmla="val 1764" name="adj"/>
              </a:avLst>
            </a:prstGeom>
            <a:solidFill>
              <a:srgbClr val="0E1524"/>
            </a:solidFill>
            <a:ln cap="flat" cmpd="sng" w="9525">
              <a:solidFill>
                <a:srgbClr val="1F2E4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6" name="Google Shape;226;p19"/>
            <p:cNvSpPr/>
            <p:nvPr/>
          </p:nvSpPr>
          <p:spPr>
            <a:xfrm>
              <a:off x="5143500" y="952500"/>
              <a:ext cx="3429000" cy="38100"/>
            </a:xfrm>
            <a:prstGeom prst="rect">
              <a:avLst/>
            </a:prstGeom>
            <a:solidFill>
              <a:srgbClr val="10B98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7" name="Google Shape;227;p19"/>
            <p:cNvSpPr txBox="1"/>
            <p:nvPr/>
          </p:nvSpPr>
          <p:spPr>
            <a:xfrm>
              <a:off x="5334000" y="1143000"/>
              <a:ext cx="3048000" cy="2857500"/>
            </a:xfrm>
            <a:prstGeom prst="rect">
              <a:avLst/>
            </a:prstGeom>
            <a:noFill/>
            <a:ln>
              <a:noFill/>
            </a:ln>
          </p:spPr>
          <p:txBody>
            <a:bodyPr anchorCtr="0" anchor="t" bIns="0" lIns="0" spcFirstLastPara="1" rIns="0" wrap="square" tIns="0">
              <a:noAutofit/>
            </a:bodyPr>
            <a:lstStyle/>
            <a:p>
              <a:pPr indent="0" lvl="0" marL="0" rtl="1" algn="r">
                <a:spcBef>
                  <a:spcPts val="0"/>
                </a:spcBef>
                <a:spcAft>
                  <a:spcPts val="0"/>
                </a:spcAft>
                <a:buNone/>
              </a:pPr>
              <a:r>
                <a:rPr b="1" lang="iw" sz="1000">
                  <a:solidFill>
                    <a:srgbClr val="00E5FF"/>
                  </a:solidFill>
                  <a:latin typeface="Courier New"/>
                  <a:ea typeface="Courier New"/>
                  <a:cs typeface="Courier New"/>
                  <a:sym typeface="Courier New"/>
                </a:rPr>
                <a:t>DATASET_OVERVIEW / 01</a:t>
              </a:r>
              <a:endParaRPr b="1" sz="1000">
                <a:solidFill>
                  <a:srgbClr val="00E5FF"/>
                </a:solidFill>
                <a:latin typeface="Courier New"/>
                <a:ea typeface="Courier New"/>
                <a:cs typeface="Courier New"/>
                <a:sym typeface="Courier New"/>
              </a:endParaRPr>
            </a:p>
            <a:p>
              <a:pPr indent="0" lvl="0" marL="0" rtl="1" algn="r">
                <a:spcBef>
                  <a:spcPts val="450"/>
                </a:spcBef>
                <a:spcAft>
                  <a:spcPts val="0"/>
                </a:spcAft>
                <a:buNone/>
              </a:pPr>
              <a:r>
                <a:rPr b="1" lang="iw" sz="1400">
                  <a:solidFill>
                    <a:srgbClr val="FFFFFF"/>
                  </a:solidFill>
                  <a:latin typeface="Assistant"/>
                  <a:ea typeface="Assistant"/>
                  <a:cs typeface="Assistant"/>
                  <a:sym typeface="Assistant"/>
                </a:rPr>
                <a:t>אודות המאגר</a:t>
              </a:r>
              <a:endParaRPr b="1" sz="1400">
                <a:solidFill>
                  <a:srgbClr val="FFFFFF"/>
                </a:solidFill>
                <a:latin typeface="Assistant"/>
                <a:ea typeface="Assistant"/>
                <a:cs typeface="Assistant"/>
                <a:sym typeface="Assistant"/>
              </a:endParaRPr>
            </a:p>
            <a:p>
              <a:pPr indent="0" lvl="0" marL="0" rtl="1" algn="r">
                <a:spcBef>
                  <a:spcPts val="750"/>
                </a:spcBef>
                <a:spcAft>
                  <a:spcPts val="0"/>
                </a:spcAft>
                <a:buNone/>
              </a:pPr>
              <a:r>
                <a:rPr b="0" lang="iw" sz="1050">
                  <a:solidFill>
                    <a:srgbClr val="7A8D9E"/>
                  </a:solidFill>
                  <a:latin typeface="Assistant"/>
                  <a:ea typeface="Assistant"/>
                  <a:cs typeface="Assistant"/>
                  <a:sym typeface="Assistant"/>
                </a:rPr>
                <a:t>במחקר נעשה שימוש במאגר הנתונים </a:t>
              </a:r>
              <a:r>
                <a:rPr b="1" lang="iw" sz="1050">
                  <a:solidFill>
                    <a:srgbClr val="FFFFFF"/>
                  </a:solidFill>
                  <a:latin typeface="Assistant"/>
                  <a:ea typeface="Assistant"/>
                  <a:cs typeface="Assistant"/>
                  <a:sym typeface="Assistant"/>
                </a:rPr>
                <a:t>Heart Disease Dataset</a:t>
              </a:r>
              <a:r>
                <a:rPr b="0" lang="iw" sz="1050">
                  <a:solidFill>
                    <a:srgbClr val="7A8D9E"/>
                  </a:solidFill>
                  <a:latin typeface="Assistant"/>
                  <a:ea typeface="Assistant"/>
                  <a:cs typeface="Assistant"/>
                  <a:sym typeface="Assistant"/>
                </a:rPr>
                <a:t>, הזמין באתר </a:t>
              </a:r>
              <a:r>
                <a:rPr b="1" lang="iw" sz="1050">
                  <a:solidFill>
                    <a:srgbClr val="FFFFFF"/>
                  </a:solidFill>
                  <a:latin typeface="Assistant"/>
                  <a:ea typeface="Assistant"/>
                  <a:cs typeface="Assistant"/>
                  <a:sym typeface="Assistant"/>
                </a:rPr>
                <a:t>Kaggle</a:t>
              </a:r>
              <a:r>
                <a:rPr b="0" lang="iw" sz="1050">
                  <a:solidFill>
                    <a:srgbClr val="7A8D9E"/>
                  </a:solidFill>
                  <a:latin typeface="Assistant"/>
                  <a:ea typeface="Assistant"/>
                  <a:cs typeface="Assistant"/>
                  <a:sym typeface="Assistant"/>
                </a:rPr>
                <a:t>. המאגר מבוסס על נתוני </a:t>
              </a:r>
              <a:r>
                <a:rPr b="0" lang="iw" sz="1050">
                  <a:solidFill>
                    <a:srgbClr val="00E5FF"/>
                  </a:solidFill>
                  <a:latin typeface="Assistant"/>
                  <a:ea typeface="Assistant"/>
                  <a:cs typeface="Assistant"/>
                  <a:sym typeface="Assistant"/>
                </a:rPr>
                <a:t>Statlog Heart Disease Dataset</a:t>
              </a:r>
              <a:r>
                <a:rPr b="0" lang="iw" sz="1050">
                  <a:solidFill>
                    <a:srgbClr val="7A8D9E"/>
                  </a:solidFill>
                  <a:latin typeface="Assistant"/>
                  <a:ea typeface="Assistant"/>
                  <a:cs typeface="Assistant"/>
                  <a:sym typeface="Assistant"/>
                </a:rPr>
                <a:t>, והוא כולל מידע רפואי של כ־</a:t>
              </a:r>
              <a:r>
                <a:rPr b="0" lang="iw" sz="1050">
                  <a:solidFill>
                    <a:srgbClr val="7A8D9E"/>
                  </a:solidFill>
                  <a:latin typeface="Assistant"/>
                  <a:ea typeface="Assistant"/>
                  <a:cs typeface="Assistant"/>
                  <a:sym typeface="Assistant"/>
                </a:rPr>
                <a:t>1,000</a:t>
              </a:r>
              <a:r>
                <a:rPr b="0" lang="iw" sz="1050">
                  <a:solidFill>
                    <a:srgbClr val="7A8D9E"/>
                  </a:solidFill>
                  <a:latin typeface="Assistant"/>
                  <a:ea typeface="Assistant"/>
                  <a:cs typeface="Assistant"/>
                  <a:sym typeface="Assistant"/>
                </a:rPr>
                <a:t> מטופלים.</a:t>
              </a:r>
              <a:endParaRPr b="0" sz="1050">
                <a:solidFill>
                  <a:srgbClr val="7A8D9E"/>
                </a:solidFill>
                <a:latin typeface="Assistant"/>
                <a:ea typeface="Assistant"/>
                <a:cs typeface="Assistant"/>
                <a:sym typeface="Assistant"/>
              </a:endParaRPr>
            </a:p>
            <a:p>
              <a:pPr indent="0" lvl="0" marL="0" rtl="1" algn="r">
                <a:spcBef>
                  <a:spcPts val="1050"/>
                </a:spcBef>
                <a:spcAft>
                  <a:spcPts val="0"/>
                </a:spcAft>
                <a:buNone/>
              </a:pPr>
              <a:r>
                <a:rPr b="1" lang="iw" sz="1400">
                  <a:solidFill>
                    <a:srgbClr val="FFFFFF"/>
                  </a:solidFill>
                  <a:latin typeface="Assistant"/>
                  <a:ea typeface="Assistant"/>
                  <a:cs typeface="Assistant"/>
                  <a:sym typeface="Assistant"/>
                </a:rPr>
                <a:t>מטרת המודל</a:t>
              </a:r>
              <a:endParaRPr b="1" sz="1400">
                <a:solidFill>
                  <a:srgbClr val="FFFFFF"/>
                </a:solidFill>
                <a:latin typeface="Assistant"/>
                <a:ea typeface="Assistant"/>
                <a:cs typeface="Assistant"/>
                <a:sym typeface="Assistant"/>
              </a:endParaRPr>
            </a:p>
            <a:p>
              <a:pPr indent="0" lvl="0" marL="0" rtl="1" algn="r">
                <a:spcBef>
                  <a:spcPts val="750"/>
                </a:spcBef>
                <a:spcAft>
                  <a:spcPts val="0"/>
                </a:spcAft>
                <a:buNone/>
              </a:pPr>
              <a:r>
                <a:rPr b="0" lang="iw" sz="1050">
                  <a:solidFill>
                    <a:srgbClr val="7A8D9E"/>
                  </a:solidFill>
                  <a:latin typeface="Assistant"/>
                  <a:ea typeface="Assistant"/>
                  <a:cs typeface="Assistant"/>
                  <a:sym typeface="Assistant"/>
                </a:rPr>
                <a:t>המודל נועד לחזות ברמת דיוק מירבית האם המטופל סובל ממחלת לב על סמך המאפיינים הקליניים והפיזיולוגיים שנמדדו.</a:t>
              </a:r>
              <a:endParaRPr b="0" sz="1050">
                <a:solidFill>
                  <a:srgbClr val="7A8D9E"/>
                </a:solidFill>
                <a:latin typeface="Assistant"/>
                <a:ea typeface="Assistant"/>
                <a:cs typeface="Assistant"/>
                <a:sym typeface="Assistant"/>
              </a:endParaRPr>
            </a:p>
          </p:txBody>
        </p:sp>
      </p:grpSp>
      <p:grpSp>
        <p:nvGrpSpPr>
          <p:cNvPr id="228" name="Google Shape;228;p19"/>
          <p:cNvGrpSpPr/>
          <p:nvPr/>
        </p:nvGrpSpPr>
        <p:grpSpPr>
          <a:xfrm>
            <a:off x="571500" y="4381500"/>
            <a:ext cx="8001000" cy="333300"/>
            <a:chOff x="571500" y="4381500"/>
            <a:chExt cx="8001000" cy="333300"/>
          </a:xfrm>
        </p:grpSpPr>
        <p:sp>
          <p:nvSpPr>
            <p:cNvPr id="229" name="Google Shape;229;p19"/>
            <p:cNvSpPr/>
            <p:nvPr/>
          </p:nvSpPr>
          <p:spPr>
            <a:xfrm>
              <a:off x="571500" y="4381500"/>
              <a:ext cx="8001000" cy="333300"/>
            </a:xfrm>
            <a:prstGeom prst="roundRect">
              <a:avLst>
                <a:gd fmla="val 11428" name="adj"/>
              </a:avLst>
            </a:prstGeom>
            <a:solidFill>
              <a:srgbClr val="0A0E1A"/>
            </a:solidFill>
            <a:ln cap="flat" cmpd="sng" w="9525">
              <a:solidFill>
                <a:srgbClr val="1F2E4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0" name="Google Shape;230;p19"/>
            <p:cNvSpPr/>
            <p:nvPr/>
          </p:nvSpPr>
          <p:spPr>
            <a:xfrm>
              <a:off x="7772400" y="4510088"/>
              <a:ext cx="76200" cy="76200"/>
            </a:xfrm>
            <a:prstGeom prst="ellipse">
              <a:avLst/>
            </a:prstGeom>
            <a:solidFill>
              <a:srgbClr val="10B98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1" name="Google Shape;231;p19"/>
            <p:cNvSpPr txBox="1"/>
            <p:nvPr/>
          </p:nvSpPr>
          <p:spPr>
            <a:xfrm>
              <a:off x="714375" y="4381500"/>
              <a:ext cx="6905700" cy="3333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r>
                <a:rPr b="1" lang="iw" sz="1000">
                  <a:solidFill>
                    <a:srgbClr val="00E5FF"/>
                  </a:solidFill>
                  <a:latin typeface="Courier New"/>
                  <a:ea typeface="Courier New"/>
                  <a:cs typeface="Courier New"/>
                  <a:sym typeface="Courier New"/>
                </a:rPr>
                <a:t>DATASET_INFO: STATLOG_HEART // 13_FEATURES </a:t>
              </a:r>
              <a:r>
                <a:rPr b="0" lang="iw" sz="1000">
                  <a:solidFill>
                    <a:srgbClr val="7A8D9E"/>
                  </a:solidFill>
                  <a:latin typeface="Assistant"/>
                  <a:ea typeface="Assistant"/>
                  <a:cs typeface="Assistant"/>
                  <a:sym typeface="Assistant"/>
                </a:rPr>
                <a:t>אפיון מאגר הנתונים, משתני הניבוי והגדרת משתנה המטרה של המודל</a:t>
              </a:r>
              <a:endParaRPr b="1" sz="1000">
                <a:solidFill>
                  <a:srgbClr val="00E5FF"/>
                </a:solidFill>
                <a:latin typeface="Courier New"/>
                <a:ea typeface="Courier New"/>
                <a:cs typeface="Courier New"/>
                <a:sym typeface="Courier New"/>
              </a:endParaRPr>
            </a:p>
          </p:txBody>
        </p:sp>
      </p:grpSp>
      <p:sp>
        <p:nvSpPr>
          <p:cNvPr id="232" name="Google Shape;232;p19"/>
          <p:cNvSpPr txBox="1"/>
          <p:nvPr/>
        </p:nvSpPr>
        <p:spPr>
          <a:xfrm>
            <a:off x="492825" y="4662400"/>
            <a:ext cx="7917300" cy="354000"/>
          </a:xfrm>
          <a:prstGeom prst="rect">
            <a:avLst/>
          </a:prstGeom>
          <a:noFill/>
          <a:ln>
            <a:noFill/>
          </a:ln>
        </p:spPr>
        <p:txBody>
          <a:bodyPr anchorCtr="0" anchor="t" bIns="91425" lIns="91425" spcFirstLastPara="1" rIns="91425" wrap="square" tIns="91425">
            <a:spAutoFit/>
          </a:bodyPr>
          <a:lstStyle/>
          <a:p>
            <a:pPr indent="0" lvl="0" marL="0" rtl="1" algn="ctr">
              <a:spcBef>
                <a:spcPts val="0"/>
              </a:spcBef>
              <a:spcAft>
                <a:spcPts val="0"/>
              </a:spcAft>
              <a:buNone/>
            </a:pPr>
            <a:r>
              <a:rPr b="1" lang="iw" sz="1100">
                <a:solidFill>
                  <a:schemeClr val="lt1"/>
                </a:solidFill>
                <a:latin typeface="Assistant"/>
                <a:ea typeface="Assistant"/>
                <a:cs typeface="Assistant"/>
                <a:sym typeface="Assistant"/>
              </a:rPr>
              <a:t>שימוש בפרויקט:</a:t>
            </a:r>
            <a:r>
              <a:rPr lang="iw" sz="1100">
                <a:solidFill>
                  <a:schemeClr val="lt1"/>
                </a:solidFill>
                <a:latin typeface="Assistant"/>
                <a:ea typeface="Assistant"/>
                <a:cs typeface="Assistant"/>
                <a:sym typeface="Assistant"/>
              </a:rPr>
              <a:t> לאחר טעינת הדאטה בוצעו ניקוי נתונים, חלוקה ל־Train/Test והכנת הנתונים לאימון מודלי למידת המכונה. </a:t>
            </a:r>
            <a:endParaRPr>
              <a:solidFill>
                <a:schemeClr val="lt1"/>
              </a:solidFill>
              <a:latin typeface="Assistant"/>
              <a:ea typeface="Assistant"/>
              <a:cs typeface="Assistant"/>
              <a:sym typeface="Assistant"/>
            </a:endParaRPr>
          </a:p>
        </p:txBody>
      </p:sp>
      <p:grpSp>
        <p:nvGrpSpPr>
          <p:cNvPr id="233" name="Google Shape;233;p19"/>
          <p:cNvGrpSpPr/>
          <p:nvPr/>
        </p:nvGrpSpPr>
        <p:grpSpPr>
          <a:xfrm>
            <a:off x="571500" y="952500"/>
            <a:ext cx="4191000" cy="3238500"/>
            <a:chOff x="571500" y="952500"/>
            <a:chExt cx="4191000" cy="3238500"/>
          </a:xfrm>
        </p:grpSpPr>
        <p:sp>
          <p:nvSpPr>
            <p:cNvPr id="234" name="Google Shape;234;p19"/>
            <p:cNvSpPr/>
            <p:nvPr/>
          </p:nvSpPr>
          <p:spPr>
            <a:xfrm>
              <a:off x="571500" y="952500"/>
              <a:ext cx="4191000" cy="3238500"/>
            </a:xfrm>
            <a:prstGeom prst="roundRect">
              <a:avLst>
                <a:gd fmla="val 1764" name="adj"/>
              </a:avLst>
            </a:prstGeom>
            <a:solidFill>
              <a:srgbClr val="0E1524"/>
            </a:solidFill>
            <a:ln cap="flat" cmpd="sng" w="9525">
              <a:solidFill>
                <a:srgbClr val="1F2E4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5" name="Google Shape;235;p19"/>
            <p:cNvSpPr/>
            <p:nvPr/>
          </p:nvSpPr>
          <p:spPr>
            <a:xfrm>
              <a:off x="571500" y="952500"/>
              <a:ext cx="4191000" cy="38100"/>
            </a:xfrm>
            <a:prstGeom prst="rect">
              <a:avLst/>
            </a:prstGeom>
            <a:solidFill>
              <a:srgbClr val="00E5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6" name="Google Shape;236;p19"/>
            <p:cNvSpPr txBox="1"/>
            <p:nvPr/>
          </p:nvSpPr>
          <p:spPr>
            <a:xfrm>
              <a:off x="762000" y="1095375"/>
              <a:ext cx="3810000" cy="2952900"/>
            </a:xfrm>
            <a:prstGeom prst="rect">
              <a:avLst/>
            </a:prstGeom>
            <a:noFill/>
            <a:ln>
              <a:noFill/>
            </a:ln>
          </p:spPr>
          <p:txBody>
            <a:bodyPr anchorCtr="0" anchor="t" bIns="0" lIns="0" spcFirstLastPara="1" rIns="0" wrap="square" tIns="0">
              <a:noAutofit/>
            </a:bodyPr>
            <a:lstStyle/>
            <a:p>
              <a:pPr indent="0" lvl="0" marL="0" rtl="1" algn="r">
                <a:spcBef>
                  <a:spcPts val="0"/>
                </a:spcBef>
                <a:spcAft>
                  <a:spcPts val="0"/>
                </a:spcAft>
                <a:buNone/>
              </a:pPr>
              <a:r>
                <a:rPr b="1" lang="iw" sz="1000">
                  <a:solidFill>
                    <a:srgbClr val="00E5FF"/>
                  </a:solidFill>
                  <a:latin typeface="Courier New"/>
                  <a:ea typeface="Courier New"/>
                  <a:cs typeface="Courier New"/>
                  <a:sym typeface="Courier New"/>
                </a:rPr>
                <a:t>FEATURES_LIST / 02</a:t>
              </a:r>
              <a:endParaRPr b="1" sz="1000">
                <a:solidFill>
                  <a:srgbClr val="00E5FF"/>
                </a:solidFill>
                <a:latin typeface="Courier New"/>
                <a:ea typeface="Courier New"/>
                <a:cs typeface="Courier New"/>
                <a:sym typeface="Courier New"/>
              </a:endParaRPr>
            </a:p>
            <a:p>
              <a:pPr indent="0" lvl="0" marL="0" rtl="1" algn="r">
                <a:spcBef>
                  <a:spcPts val="300"/>
                </a:spcBef>
                <a:spcAft>
                  <a:spcPts val="0"/>
                </a:spcAft>
                <a:buNone/>
              </a:pPr>
              <a:r>
                <a:rPr b="1" lang="iw" sz="1400">
                  <a:solidFill>
                    <a:srgbClr val="FFFFFF"/>
                  </a:solidFill>
                  <a:latin typeface="Assistant"/>
                  <a:ea typeface="Assistant"/>
                  <a:cs typeface="Assistant"/>
                  <a:sym typeface="Assistant"/>
                </a:rPr>
                <a:t>מאפייני הדאטה (13 מאפיינים רפואיים)</a:t>
              </a:r>
              <a:endParaRPr b="1" sz="1400">
                <a:solidFill>
                  <a:srgbClr val="FFFFFF"/>
                </a:solidFill>
                <a:latin typeface="Assistant"/>
                <a:ea typeface="Assistant"/>
                <a:cs typeface="Assistant"/>
                <a:sym typeface="Assistant"/>
              </a:endParaRPr>
            </a:p>
            <a:p>
              <a:pPr indent="0" lvl="0" marL="0" rtl="1" algn="r">
                <a:spcBef>
                  <a:spcPts val="450"/>
                </a:spcBef>
                <a:spcAft>
                  <a:spcPts val="0"/>
                </a:spcAft>
                <a:buNone/>
              </a:pPr>
              <a:r>
                <a:rPr b="1" lang="iw" sz="1100">
                  <a:solidFill>
                    <a:srgbClr val="00E5FF"/>
                  </a:solidFill>
                  <a:latin typeface="Assistant"/>
                  <a:ea typeface="Assistant"/>
                  <a:cs typeface="Assistant"/>
                  <a:sym typeface="Assistant"/>
                </a:rPr>
                <a:t>Age</a:t>
              </a:r>
              <a:r>
                <a:rPr lang="iw"/>
                <a:t> </a:t>
              </a:r>
              <a:r>
                <a:rPr b="0" lang="iw" sz="1000">
                  <a:solidFill>
                    <a:srgbClr val="FFFFFF"/>
                  </a:solidFill>
                  <a:latin typeface="Assistant"/>
                  <a:ea typeface="Assistant"/>
                  <a:cs typeface="Assistant"/>
                  <a:sym typeface="Assistant"/>
                </a:rPr>
                <a:t>– גיל המטופל</a:t>
              </a:r>
              <a:endParaRPr/>
            </a:p>
            <a:p>
              <a:pPr indent="0" lvl="0" marL="0" rtl="1" algn="r">
                <a:spcBef>
                  <a:spcPts val="0"/>
                </a:spcBef>
                <a:spcAft>
                  <a:spcPts val="0"/>
                </a:spcAft>
                <a:buNone/>
              </a:pPr>
              <a:r>
                <a:rPr b="1" lang="iw" sz="1100">
                  <a:solidFill>
                    <a:srgbClr val="00E5FF"/>
                  </a:solidFill>
                  <a:latin typeface="Assistant"/>
                  <a:ea typeface="Assistant"/>
                  <a:cs typeface="Assistant"/>
                  <a:sym typeface="Assistant"/>
                </a:rPr>
                <a:t>Sex</a:t>
              </a:r>
              <a:r>
                <a:rPr lang="iw"/>
                <a:t> </a:t>
              </a:r>
              <a:r>
                <a:rPr b="0" lang="iw" sz="1000">
                  <a:solidFill>
                    <a:srgbClr val="FFFFFF"/>
                  </a:solidFill>
                  <a:latin typeface="Assistant"/>
                  <a:ea typeface="Assistant"/>
                  <a:cs typeface="Assistant"/>
                  <a:sym typeface="Assistant"/>
                </a:rPr>
                <a:t>– מין</a:t>
              </a:r>
              <a:endParaRPr/>
            </a:p>
            <a:p>
              <a:pPr indent="0" lvl="0" marL="0" rtl="1" algn="r">
                <a:spcBef>
                  <a:spcPts val="0"/>
                </a:spcBef>
                <a:spcAft>
                  <a:spcPts val="0"/>
                </a:spcAft>
                <a:buNone/>
              </a:pPr>
              <a:r>
                <a:rPr b="1" lang="iw" sz="1100">
                  <a:solidFill>
                    <a:srgbClr val="00E5FF"/>
                  </a:solidFill>
                  <a:latin typeface="Assistant"/>
                  <a:ea typeface="Assistant"/>
                  <a:cs typeface="Assistant"/>
                  <a:sym typeface="Assistant"/>
                </a:rPr>
                <a:t>Chest Pain Type (cp)</a:t>
              </a:r>
              <a:r>
                <a:rPr lang="iw"/>
                <a:t> </a:t>
              </a:r>
              <a:r>
                <a:rPr b="0" lang="iw" sz="1000">
                  <a:solidFill>
                    <a:srgbClr val="FFFFFF"/>
                  </a:solidFill>
                  <a:latin typeface="Assistant"/>
                  <a:ea typeface="Assistant"/>
                  <a:cs typeface="Assistant"/>
                  <a:sym typeface="Assistant"/>
                </a:rPr>
                <a:t>– סוג כאב בחזה</a:t>
              </a:r>
              <a:endParaRPr/>
            </a:p>
            <a:p>
              <a:pPr indent="0" lvl="0" marL="0" rtl="1" algn="r">
                <a:spcBef>
                  <a:spcPts val="0"/>
                </a:spcBef>
                <a:spcAft>
                  <a:spcPts val="0"/>
                </a:spcAft>
                <a:buNone/>
              </a:pPr>
              <a:r>
                <a:rPr b="1" lang="iw" sz="1100">
                  <a:solidFill>
                    <a:srgbClr val="00E5FF"/>
                  </a:solidFill>
                  <a:latin typeface="Assistant"/>
                  <a:ea typeface="Assistant"/>
                  <a:cs typeface="Assistant"/>
                  <a:sym typeface="Assistant"/>
                </a:rPr>
                <a:t>Resting Blood Pressure</a:t>
              </a:r>
              <a:r>
                <a:rPr lang="iw"/>
                <a:t> </a:t>
              </a:r>
              <a:r>
                <a:rPr b="0" lang="iw" sz="1000">
                  <a:solidFill>
                    <a:srgbClr val="FFFFFF"/>
                  </a:solidFill>
                  <a:latin typeface="Assistant"/>
                  <a:ea typeface="Assistant"/>
                  <a:cs typeface="Assistant"/>
                  <a:sym typeface="Assistant"/>
                </a:rPr>
                <a:t>– לחץ דם במנוחה</a:t>
              </a:r>
              <a:endParaRPr/>
            </a:p>
            <a:p>
              <a:pPr indent="0" lvl="0" marL="0" rtl="1" algn="r">
                <a:spcBef>
                  <a:spcPts val="0"/>
                </a:spcBef>
                <a:spcAft>
                  <a:spcPts val="0"/>
                </a:spcAft>
                <a:buNone/>
              </a:pPr>
              <a:r>
                <a:rPr b="1" lang="iw" sz="1100">
                  <a:solidFill>
                    <a:srgbClr val="00E5FF"/>
                  </a:solidFill>
                  <a:latin typeface="Assistant"/>
                  <a:ea typeface="Assistant"/>
                  <a:cs typeface="Assistant"/>
                  <a:sym typeface="Assistant"/>
                </a:rPr>
                <a:t>Cholesterol (chol)</a:t>
              </a:r>
              <a:r>
                <a:rPr lang="iw"/>
                <a:t> </a:t>
              </a:r>
              <a:r>
                <a:rPr b="0" lang="iw" sz="1000">
                  <a:solidFill>
                    <a:srgbClr val="FFFFFF"/>
                  </a:solidFill>
                  <a:latin typeface="Assistant"/>
                  <a:ea typeface="Assistant"/>
                  <a:cs typeface="Assistant"/>
                  <a:sym typeface="Assistant"/>
                </a:rPr>
                <a:t>– רמת כולסטרול</a:t>
              </a:r>
              <a:endParaRPr/>
            </a:p>
            <a:p>
              <a:pPr indent="0" lvl="0" marL="0" rtl="1" algn="r">
                <a:spcBef>
                  <a:spcPts val="0"/>
                </a:spcBef>
                <a:spcAft>
                  <a:spcPts val="0"/>
                </a:spcAft>
                <a:buNone/>
              </a:pPr>
              <a:r>
                <a:rPr b="1" lang="iw" sz="1100">
                  <a:solidFill>
                    <a:srgbClr val="00E5FF"/>
                  </a:solidFill>
                  <a:latin typeface="Assistant"/>
                  <a:ea typeface="Assistant"/>
                  <a:cs typeface="Assistant"/>
                  <a:sym typeface="Assistant"/>
                </a:rPr>
                <a:t>Fasting Blood Sugar (fbs)</a:t>
              </a:r>
              <a:r>
                <a:rPr lang="iw"/>
                <a:t> </a:t>
              </a:r>
              <a:r>
                <a:rPr b="0" lang="iw" sz="1000">
                  <a:solidFill>
                    <a:srgbClr val="FFFFFF"/>
                  </a:solidFill>
                  <a:latin typeface="Assistant"/>
                  <a:ea typeface="Assistant"/>
                  <a:cs typeface="Assistant"/>
                  <a:sym typeface="Assistant"/>
                </a:rPr>
                <a:t>– רמת סוכר בצום</a:t>
              </a:r>
              <a:endParaRPr/>
            </a:p>
            <a:p>
              <a:pPr indent="0" lvl="0" marL="0" rtl="1" algn="r">
                <a:spcBef>
                  <a:spcPts val="0"/>
                </a:spcBef>
                <a:spcAft>
                  <a:spcPts val="0"/>
                </a:spcAft>
                <a:buNone/>
              </a:pPr>
              <a:r>
                <a:rPr b="1" lang="iw" sz="1100">
                  <a:solidFill>
                    <a:srgbClr val="00E5FF"/>
                  </a:solidFill>
                  <a:latin typeface="Assistant"/>
                  <a:ea typeface="Assistant"/>
                  <a:cs typeface="Assistant"/>
                  <a:sym typeface="Assistant"/>
                </a:rPr>
                <a:t>Maximum Heart Rate (thalach)</a:t>
              </a:r>
              <a:r>
                <a:rPr lang="iw"/>
                <a:t> </a:t>
              </a:r>
              <a:r>
                <a:rPr b="0" lang="iw" sz="1000">
                  <a:solidFill>
                    <a:srgbClr val="FFFFFF"/>
                  </a:solidFill>
                  <a:latin typeface="Assistant"/>
                  <a:ea typeface="Assistant"/>
                  <a:cs typeface="Assistant"/>
                  <a:sym typeface="Assistant"/>
                </a:rPr>
                <a:t>– דופק מרבי</a:t>
              </a:r>
              <a:endParaRPr/>
            </a:p>
            <a:p>
              <a:pPr indent="0" lvl="0" marL="0" rtl="1" algn="r">
                <a:spcBef>
                  <a:spcPts val="0"/>
                </a:spcBef>
                <a:spcAft>
                  <a:spcPts val="0"/>
                </a:spcAft>
                <a:buNone/>
              </a:pPr>
              <a:r>
                <a:rPr b="1" lang="iw" sz="1100">
                  <a:solidFill>
                    <a:srgbClr val="00E5FF"/>
                  </a:solidFill>
                  <a:latin typeface="Assistant"/>
                  <a:ea typeface="Assistant"/>
                  <a:cs typeface="Assistant"/>
                  <a:sym typeface="Assistant"/>
                </a:rPr>
                <a:t>Exercise Induced Angina (exang)</a:t>
              </a:r>
              <a:r>
                <a:rPr lang="iw"/>
                <a:t> </a:t>
              </a:r>
              <a:r>
                <a:rPr b="0" lang="iw" sz="1000">
                  <a:solidFill>
                    <a:srgbClr val="FFFFFF"/>
                  </a:solidFill>
                  <a:latin typeface="Assistant"/>
                  <a:ea typeface="Assistant"/>
                  <a:cs typeface="Assistant"/>
                  <a:sym typeface="Assistant"/>
                </a:rPr>
                <a:t>– תעוקת חזה בזמן מאמץ</a:t>
              </a:r>
              <a:endParaRPr/>
            </a:p>
            <a:p>
              <a:pPr indent="0" lvl="0" marL="0" rtl="1" algn="r">
                <a:spcBef>
                  <a:spcPts val="0"/>
                </a:spcBef>
                <a:spcAft>
                  <a:spcPts val="0"/>
                </a:spcAft>
                <a:buNone/>
              </a:pPr>
              <a:r>
                <a:rPr b="1" lang="iw" sz="1100">
                  <a:solidFill>
                    <a:srgbClr val="00E5FF"/>
                  </a:solidFill>
                  <a:latin typeface="Assistant"/>
                  <a:ea typeface="Assistant"/>
                  <a:cs typeface="Assistant"/>
                  <a:sym typeface="Assistant"/>
                </a:rPr>
                <a:t>Heart Disease (Target)</a:t>
              </a:r>
              <a:r>
                <a:rPr lang="iw"/>
                <a:t> </a:t>
              </a:r>
              <a:r>
                <a:rPr b="0" lang="iw" sz="1000">
                  <a:solidFill>
                    <a:srgbClr val="FFFFFF"/>
                  </a:solidFill>
                  <a:latin typeface="Assistant"/>
                  <a:ea typeface="Assistant"/>
                  <a:cs typeface="Assistant"/>
                  <a:sym typeface="Assistant"/>
                </a:rPr>
                <a:t>– משתנה המטרה המציין קיום מחלת לב</a:t>
              </a:r>
              <a:endParaRPr/>
            </a:p>
          </p:txBody>
        </p:sp>
      </p:grpSp>
      <p:pic>
        <p:nvPicPr>
          <p:cNvPr id="237" name="Google Shape;237;p19"/>
          <p:cNvPicPr preferRelativeResize="0"/>
          <p:nvPr/>
        </p:nvPicPr>
        <p:blipFill>
          <a:blip r:embed="rId3">
            <a:alphaModFix/>
          </a:blip>
          <a:stretch>
            <a:fillRect/>
          </a:stretch>
        </p:blipFill>
        <p:spPr>
          <a:xfrm>
            <a:off x="0" y="2625025"/>
            <a:ext cx="1600551" cy="1600551"/>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20"/>
          <p:cNvSpPr txBox="1"/>
          <p:nvPr/>
        </p:nvSpPr>
        <p:spPr>
          <a:xfrm>
            <a:off x="4286250" y="238125"/>
            <a:ext cx="4286400" cy="476400"/>
          </a:xfrm>
          <a:prstGeom prst="rect">
            <a:avLst/>
          </a:prstGeom>
          <a:noFill/>
          <a:ln>
            <a:noFill/>
          </a:ln>
        </p:spPr>
        <p:txBody>
          <a:bodyPr anchorCtr="0" anchor="ctr" bIns="0" lIns="0" spcFirstLastPara="1" rIns="0" wrap="square" tIns="0">
            <a:noAutofit/>
          </a:bodyPr>
          <a:lstStyle/>
          <a:p>
            <a:pPr indent="0" lvl="0" marL="0" rtl="1" algn="r">
              <a:spcBef>
                <a:spcPts val="0"/>
              </a:spcBef>
              <a:spcAft>
                <a:spcPts val="0"/>
              </a:spcAft>
              <a:buNone/>
            </a:pPr>
            <a:r>
              <a:rPr b="0" lang="iw" sz="2600">
                <a:solidFill>
                  <a:srgbClr val="FFFFFF"/>
                </a:solidFill>
                <a:latin typeface="Assistant ExtraBold"/>
                <a:ea typeface="Assistant ExtraBold"/>
                <a:cs typeface="Assistant ExtraBold"/>
                <a:sym typeface="Assistant ExtraBold"/>
              </a:rPr>
              <a:t>חלוקת המדגם ומאפייניו</a:t>
            </a:r>
            <a:endParaRPr b="0" sz="2600">
              <a:solidFill>
                <a:srgbClr val="FFFFFF"/>
              </a:solidFill>
              <a:latin typeface="Assistant ExtraBold"/>
              <a:ea typeface="Assistant ExtraBold"/>
              <a:cs typeface="Assistant ExtraBold"/>
              <a:sym typeface="Assistant ExtraBold"/>
            </a:endParaRPr>
          </a:p>
        </p:txBody>
      </p:sp>
      <p:grpSp>
        <p:nvGrpSpPr>
          <p:cNvPr id="243" name="Google Shape;243;p20"/>
          <p:cNvGrpSpPr/>
          <p:nvPr/>
        </p:nvGrpSpPr>
        <p:grpSpPr>
          <a:xfrm>
            <a:off x="571500" y="952500"/>
            <a:ext cx="3857700" cy="3238500"/>
            <a:chOff x="571500" y="952500"/>
            <a:chExt cx="3857700" cy="3238500"/>
          </a:xfrm>
        </p:grpSpPr>
        <p:sp>
          <p:nvSpPr>
            <p:cNvPr id="244" name="Google Shape;244;p20"/>
            <p:cNvSpPr/>
            <p:nvPr/>
          </p:nvSpPr>
          <p:spPr>
            <a:xfrm>
              <a:off x="571500" y="952500"/>
              <a:ext cx="3857700" cy="3238500"/>
            </a:xfrm>
            <a:prstGeom prst="roundRect">
              <a:avLst>
                <a:gd fmla="val 1764" name="adj"/>
              </a:avLst>
            </a:prstGeom>
            <a:solidFill>
              <a:srgbClr val="0E1524"/>
            </a:solidFill>
            <a:ln cap="flat" cmpd="sng" w="9525">
              <a:solidFill>
                <a:srgbClr val="1F2E4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5" name="Google Shape;245;p20"/>
            <p:cNvSpPr/>
            <p:nvPr/>
          </p:nvSpPr>
          <p:spPr>
            <a:xfrm>
              <a:off x="571500" y="952500"/>
              <a:ext cx="3857700" cy="38100"/>
            </a:xfrm>
            <a:prstGeom prst="rect">
              <a:avLst/>
            </a:prstGeom>
            <a:solidFill>
              <a:srgbClr val="00E5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6" name="Google Shape;246;p20"/>
            <p:cNvSpPr txBox="1"/>
            <p:nvPr/>
          </p:nvSpPr>
          <p:spPr>
            <a:xfrm>
              <a:off x="762000" y="1095375"/>
              <a:ext cx="3476700" cy="571500"/>
            </a:xfrm>
            <a:prstGeom prst="rect">
              <a:avLst/>
            </a:prstGeom>
            <a:noFill/>
            <a:ln>
              <a:noFill/>
            </a:ln>
          </p:spPr>
          <p:txBody>
            <a:bodyPr anchorCtr="0" anchor="t" bIns="0" lIns="0" spcFirstLastPara="1" rIns="0" wrap="square" tIns="0">
              <a:noAutofit/>
            </a:bodyPr>
            <a:lstStyle/>
            <a:p>
              <a:pPr indent="0" lvl="0" marL="0" rtl="1" algn="r">
                <a:spcBef>
                  <a:spcPts val="0"/>
                </a:spcBef>
                <a:spcAft>
                  <a:spcPts val="0"/>
                </a:spcAft>
                <a:buNone/>
              </a:pPr>
              <a:r>
                <a:rPr b="1" lang="iw" sz="1000">
                  <a:solidFill>
                    <a:srgbClr val="00E5FF"/>
                  </a:solidFill>
                  <a:latin typeface="Assistant"/>
                  <a:ea typeface="Assistant"/>
                  <a:cs typeface="Assistant"/>
                  <a:sym typeface="Assistant"/>
                </a:rPr>
                <a:t>02 / DESCRIPTIVE_STATS</a:t>
              </a:r>
              <a:endParaRPr b="1" sz="1000">
                <a:solidFill>
                  <a:srgbClr val="00E5FF"/>
                </a:solidFill>
                <a:latin typeface="Assistant"/>
                <a:ea typeface="Assistant"/>
                <a:cs typeface="Assistant"/>
                <a:sym typeface="Assistant"/>
              </a:endParaRPr>
            </a:p>
            <a:p>
              <a:pPr indent="0" lvl="0" marL="0" rtl="1" algn="r">
                <a:spcBef>
                  <a:spcPts val="300"/>
                </a:spcBef>
                <a:spcAft>
                  <a:spcPts val="0"/>
                </a:spcAft>
                <a:buNone/>
              </a:pPr>
              <a:r>
                <a:rPr b="1" lang="iw" sz="1400">
                  <a:solidFill>
                    <a:srgbClr val="FFFFFF"/>
                  </a:solidFill>
                  <a:latin typeface="Assistant"/>
                  <a:ea typeface="Assistant"/>
                  <a:cs typeface="Assistant"/>
                  <a:sym typeface="Assistant"/>
                </a:rPr>
                <a:t>פרמטרים סטטיסטיים של המאגר</a:t>
              </a:r>
              <a:endParaRPr b="1" sz="1400">
                <a:solidFill>
                  <a:srgbClr val="FFFFFF"/>
                </a:solidFill>
                <a:latin typeface="Assistant"/>
                <a:ea typeface="Assistant"/>
                <a:cs typeface="Assistant"/>
                <a:sym typeface="Assistant"/>
              </a:endParaRPr>
            </a:p>
          </p:txBody>
        </p:sp>
      </p:grpSp>
      <p:grpSp>
        <p:nvGrpSpPr>
          <p:cNvPr id="247" name="Google Shape;247;p20"/>
          <p:cNvGrpSpPr/>
          <p:nvPr/>
        </p:nvGrpSpPr>
        <p:grpSpPr>
          <a:xfrm>
            <a:off x="4714875" y="952500"/>
            <a:ext cx="3857700" cy="3238500"/>
            <a:chOff x="4714875" y="952500"/>
            <a:chExt cx="3857700" cy="3238500"/>
          </a:xfrm>
        </p:grpSpPr>
        <p:sp>
          <p:nvSpPr>
            <p:cNvPr id="248" name="Google Shape;248;p20"/>
            <p:cNvSpPr/>
            <p:nvPr/>
          </p:nvSpPr>
          <p:spPr>
            <a:xfrm>
              <a:off x="4714875" y="952500"/>
              <a:ext cx="3857700" cy="3238500"/>
            </a:xfrm>
            <a:prstGeom prst="roundRect">
              <a:avLst>
                <a:gd fmla="val 1764" name="adj"/>
              </a:avLst>
            </a:prstGeom>
            <a:solidFill>
              <a:srgbClr val="0E1524"/>
            </a:solidFill>
            <a:ln cap="flat" cmpd="sng" w="9525">
              <a:solidFill>
                <a:srgbClr val="1F2E4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9" name="Google Shape;249;p20"/>
            <p:cNvSpPr/>
            <p:nvPr/>
          </p:nvSpPr>
          <p:spPr>
            <a:xfrm>
              <a:off x="4714875" y="952500"/>
              <a:ext cx="3857700" cy="38100"/>
            </a:xfrm>
            <a:prstGeom prst="rect">
              <a:avLst/>
            </a:prstGeom>
            <a:solidFill>
              <a:srgbClr val="10B98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50" name="Google Shape;250;p20"/>
            <p:cNvSpPr txBox="1"/>
            <p:nvPr/>
          </p:nvSpPr>
          <p:spPr>
            <a:xfrm>
              <a:off x="4905375" y="1095375"/>
              <a:ext cx="3476700" cy="571500"/>
            </a:xfrm>
            <a:prstGeom prst="rect">
              <a:avLst/>
            </a:prstGeom>
            <a:noFill/>
            <a:ln>
              <a:noFill/>
            </a:ln>
          </p:spPr>
          <p:txBody>
            <a:bodyPr anchorCtr="0" anchor="t" bIns="0" lIns="0" spcFirstLastPara="1" rIns="0" wrap="square" tIns="0">
              <a:noAutofit/>
            </a:bodyPr>
            <a:lstStyle/>
            <a:p>
              <a:pPr indent="0" lvl="0" marL="0" rtl="1" algn="r">
                <a:spcBef>
                  <a:spcPts val="0"/>
                </a:spcBef>
                <a:spcAft>
                  <a:spcPts val="0"/>
                </a:spcAft>
                <a:buNone/>
              </a:pPr>
              <a:r>
                <a:rPr b="1" lang="iw" sz="1000">
                  <a:solidFill>
                    <a:srgbClr val="10B981"/>
                  </a:solidFill>
                  <a:latin typeface="Assistant"/>
                  <a:ea typeface="Assistant"/>
                  <a:cs typeface="Assistant"/>
                  <a:sym typeface="Assistant"/>
                </a:rPr>
                <a:t>01 / TARGET_DISTRIBUTION</a:t>
              </a:r>
              <a:endParaRPr b="1" sz="1000">
                <a:solidFill>
                  <a:srgbClr val="10B981"/>
                </a:solidFill>
                <a:latin typeface="Assistant"/>
                <a:ea typeface="Assistant"/>
                <a:cs typeface="Assistant"/>
                <a:sym typeface="Assistant"/>
              </a:endParaRPr>
            </a:p>
            <a:p>
              <a:pPr indent="0" lvl="0" marL="0" rtl="1" algn="r">
                <a:spcBef>
                  <a:spcPts val="300"/>
                </a:spcBef>
                <a:spcAft>
                  <a:spcPts val="0"/>
                </a:spcAft>
                <a:buNone/>
              </a:pPr>
              <a:r>
                <a:rPr b="1" lang="iw" sz="1400">
                  <a:solidFill>
                    <a:srgbClr val="FFFFFF"/>
                  </a:solidFill>
                  <a:latin typeface="Assistant"/>
                  <a:ea typeface="Assistant"/>
                  <a:cs typeface="Assistant"/>
                  <a:sym typeface="Assistant"/>
                </a:rPr>
                <a:t>חלוקת המשתנה המטרה</a:t>
              </a:r>
              <a:endParaRPr b="1" sz="1400">
                <a:solidFill>
                  <a:srgbClr val="FFFFFF"/>
                </a:solidFill>
                <a:latin typeface="Assistant"/>
                <a:ea typeface="Assistant"/>
                <a:cs typeface="Assistant"/>
                <a:sym typeface="Assistant"/>
              </a:endParaRPr>
            </a:p>
          </p:txBody>
        </p:sp>
        <p:sp>
          <p:nvSpPr>
            <p:cNvPr id="251" name="Google Shape;251;p20"/>
            <p:cNvSpPr txBox="1"/>
            <p:nvPr/>
          </p:nvSpPr>
          <p:spPr>
            <a:xfrm>
              <a:off x="4905375" y="3476625"/>
              <a:ext cx="3476700" cy="619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iw" sz="1050">
                  <a:solidFill>
                    <a:srgbClr val="7A8D9E"/>
                  </a:solidFill>
                  <a:latin typeface="Assistant"/>
                  <a:ea typeface="Assistant"/>
                  <a:cs typeface="Assistant"/>
                  <a:sym typeface="Assistant"/>
                </a:rPr>
                <a:t>The dataset is relatively balanced between healthy patients and patients diagnosed with heart disease, making it suitable for supervised classification.</a:t>
              </a:r>
              <a:endParaRPr b="0" sz="1050">
                <a:solidFill>
                  <a:srgbClr val="7A8D9E"/>
                </a:solidFill>
                <a:latin typeface="Assistant"/>
                <a:ea typeface="Assistant"/>
                <a:cs typeface="Assistant"/>
                <a:sym typeface="Assistant"/>
              </a:endParaRPr>
            </a:p>
          </p:txBody>
        </p:sp>
      </p:grpSp>
      <p:grpSp>
        <p:nvGrpSpPr>
          <p:cNvPr id="252" name="Google Shape;252;p20"/>
          <p:cNvGrpSpPr/>
          <p:nvPr/>
        </p:nvGrpSpPr>
        <p:grpSpPr>
          <a:xfrm>
            <a:off x="571500" y="4429125"/>
            <a:ext cx="8001000" cy="333300"/>
            <a:chOff x="571500" y="4429125"/>
            <a:chExt cx="8001000" cy="333300"/>
          </a:xfrm>
        </p:grpSpPr>
        <p:sp>
          <p:nvSpPr>
            <p:cNvPr id="253" name="Google Shape;253;p20"/>
            <p:cNvSpPr/>
            <p:nvPr/>
          </p:nvSpPr>
          <p:spPr>
            <a:xfrm>
              <a:off x="571500" y="4429125"/>
              <a:ext cx="8001000" cy="333300"/>
            </a:xfrm>
            <a:prstGeom prst="roundRect">
              <a:avLst>
                <a:gd fmla="val 11428" name="adj"/>
              </a:avLst>
            </a:prstGeom>
            <a:solidFill>
              <a:srgbClr val="0A0E1A"/>
            </a:solidFill>
            <a:ln cap="flat" cmpd="sng" w="9525">
              <a:solidFill>
                <a:srgbClr val="1F2E4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54" name="Google Shape;254;p20"/>
            <p:cNvSpPr/>
            <p:nvPr/>
          </p:nvSpPr>
          <p:spPr>
            <a:xfrm>
              <a:off x="7772400" y="4557713"/>
              <a:ext cx="76200" cy="76200"/>
            </a:xfrm>
            <a:prstGeom prst="ellipse">
              <a:avLst/>
            </a:prstGeom>
            <a:solidFill>
              <a:srgbClr val="10B98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55" name="Google Shape;255;p20"/>
            <p:cNvSpPr txBox="1"/>
            <p:nvPr/>
          </p:nvSpPr>
          <p:spPr>
            <a:xfrm>
              <a:off x="714375" y="4429125"/>
              <a:ext cx="6905700" cy="3333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r>
                <a:rPr b="1" lang="iw" sz="1000">
                  <a:solidFill>
                    <a:srgbClr val="00E5FF"/>
                  </a:solidFill>
                  <a:latin typeface="Courier New"/>
                  <a:ea typeface="Courier New"/>
                  <a:cs typeface="Courier New"/>
                  <a:sym typeface="Courier New"/>
                </a:rPr>
                <a:t>DATASET_ANALYSIS: DESCRIPTIVE_STATISTICS // TARGET_BALANCE </a:t>
              </a:r>
              <a:r>
                <a:rPr b="0" lang="iw" sz="1000">
                  <a:solidFill>
                    <a:srgbClr val="7A8D9E"/>
                  </a:solidFill>
                  <a:latin typeface="Assistant"/>
                  <a:ea typeface="Assistant"/>
                  <a:cs typeface="Assistant"/>
                  <a:sym typeface="Assistant"/>
                </a:rPr>
                <a:t>סקירה סטטיסטית של מאפייני המטופלים ואיזון משתנה המטרה במאגר</a:t>
              </a:r>
              <a:endParaRPr b="1" sz="1000">
                <a:solidFill>
                  <a:srgbClr val="00E5FF"/>
                </a:solidFill>
                <a:latin typeface="Courier New"/>
                <a:ea typeface="Courier New"/>
                <a:cs typeface="Courier New"/>
                <a:sym typeface="Courier New"/>
              </a:endParaRPr>
            </a:p>
          </p:txBody>
        </p:sp>
      </p:grpSp>
      <p:pic>
        <p:nvPicPr>
          <p:cNvPr id="256" name="Google Shape;256;p20"/>
          <p:cNvPicPr preferRelativeResize="0"/>
          <p:nvPr/>
        </p:nvPicPr>
        <p:blipFill>
          <a:blip r:embed="rId3">
            <a:alphaModFix/>
          </a:blip>
          <a:stretch>
            <a:fillRect/>
          </a:stretch>
        </p:blipFill>
        <p:spPr>
          <a:xfrm>
            <a:off x="1122275" y="1591700"/>
            <a:ext cx="2869775" cy="2550900"/>
          </a:xfrm>
          <a:prstGeom prst="rect">
            <a:avLst/>
          </a:prstGeom>
          <a:noFill/>
          <a:ln>
            <a:noFill/>
          </a:ln>
        </p:spPr>
      </p:pic>
      <p:pic>
        <p:nvPicPr>
          <p:cNvPr id="257" name="Google Shape;257;p20"/>
          <p:cNvPicPr preferRelativeResize="0"/>
          <p:nvPr/>
        </p:nvPicPr>
        <p:blipFill>
          <a:blip r:embed="rId4">
            <a:alphaModFix/>
          </a:blip>
          <a:stretch>
            <a:fillRect/>
          </a:stretch>
        </p:blipFill>
        <p:spPr>
          <a:xfrm>
            <a:off x="5340225" y="1591695"/>
            <a:ext cx="2607000" cy="17323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21"/>
          <p:cNvSpPr txBox="1"/>
          <p:nvPr/>
        </p:nvSpPr>
        <p:spPr>
          <a:xfrm>
            <a:off x="3785675" y="200450"/>
            <a:ext cx="5238900" cy="476400"/>
          </a:xfrm>
          <a:prstGeom prst="rect">
            <a:avLst/>
          </a:prstGeom>
          <a:solidFill>
            <a:srgbClr val="000000">
              <a:alpha val="0"/>
            </a:srgbClr>
          </a:solidFill>
          <a:ln>
            <a:noFill/>
          </a:ln>
        </p:spPr>
        <p:txBody>
          <a:bodyPr anchorCtr="0" anchor="ctr" bIns="0" lIns="0" spcFirstLastPara="1" rIns="0" wrap="square" tIns="0">
            <a:noAutofit/>
          </a:bodyPr>
          <a:lstStyle/>
          <a:p>
            <a:pPr indent="0" lvl="0" marL="0" rtl="1" algn="r">
              <a:spcBef>
                <a:spcPts val="0"/>
              </a:spcBef>
              <a:spcAft>
                <a:spcPts val="0"/>
              </a:spcAft>
              <a:buNone/>
            </a:pPr>
            <a:r>
              <a:rPr b="0" lang="iw" sz="2400">
                <a:solidFill>
                  <a:srgbClr val="FFFFFF"/>
                </a:solidFill>
                <a:latin typeface="Assistant ExtraBold"/>
                <a:ea typeface="Assistant ExtraBold"/>
                <a:cs typeface="Assistant ExtraBold"/>
                <a:sym typeface="Assistant ExtraBold"/>
              </a:rPr>
              <a:t>מטריצת קורלציה (Correlation Matrix)</a:t>
            </a:r>
            <a:endParaRPr b="0" sz="2400">
              <a:solidFill>
                <a:srgbClr val="FFFFFF"/>
              </a:solidFill>
              <a:latin typeface="Assistant ExtraBold"/>
              <a:ea typeface="Assistant ExtraBold"/>
              <a:cs typeface="Assistant ExtraBold"/>
              <a:sym typeface="Assistant ExtraBold"/>
            </a:endParaRPr>
          </a:p>
        </p:txBody>
      </p:sp>
      <p:grpSp>
        <p:nvGrpSpPr>
          <p:cNvPr id="263" name="Google Shape;263;p21"/>
          <p:cNvGrpSpPr/>
          <p:nvPr/>
        </p:nvGrpSpPr>
        <p:grpSpPr>
          <a:xfrm>
            <a:off x="5906900" y="1220688"/>
            <a:ext cx="2857500" cy="3048000"/>
            <a:chOff x="6464275" y="1386088"/>
            <a:chExt cx="2857500" cy="3048000"/>
          </a:xfrm>
        </p:grpSpPr>
        <p:sp>
          <p:nvSpPr>
            <p:cNvPr id="264" name="Google Shape;264;p21"/>
            <p:cNvSpPr/>
            <p:nvPr/>
          </p:nvSpPr>
          <p:spPr>
            <a:xfrm>
              <a:off x="6464275" y="1386088"/>
              <a:ext cx="2857500" cy="3048000"/>
            </a:xfrm>
            <a:prstGeom prst="roundRect">
              <a:avLst>
                <a:gd fmla="val 2000" name="adj"/>
              </a:avLst>
            </a:prstGeom>
            <a:solidFill>
              <a:srgbClr val="0E1524"/>
            </a:solidFill>
            <a:ln cap="flat" cmpd="sng" w="9525">
              <a:solidFill>
                <a:srgbClr val="1F2E4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65" name="Google Shape;265;p21"/>
            <p:cNvSpPr/>
            <p:nvPr/>
          </p:nvSpPr>
          <p:spPr>
            <a:xfrm>
              <a:off x="6464275" y="1386100"/>
              <a:ext cx="2857500" cy="38100"/>
            </a:xfrm>
            <a:prstGeom prst="rect">
              <a:avLst/>
            </a:prstGeom>
            <a:solidFill>
              <a:srgbClr val="00E5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66" name="Google Shape;266;p21"/>
            <p:cNvSpPr txBox="1"/>
            <p:nvPr/>
          </p:nvSpPr>
          <p:spPr>
            <a:xfrm>
              <a:off x="6654775" y="1576588"/>
              <a:ext cx="2476500" cy="2667000"/>
            </a:xfrm>
            <a:prstGeom prst="rect">
              <a:avLst/>
            </a:prstGeom>
            <a:solidFill>
              <a:srgbClr val="000000">
                <a:alpha val="0"/>
              </a:srgbClr>
            </a:solidFill>
            <a:ln>
              <a:noFill/>
            </a:ln>
          </p:spPr>
          <p:txBody>
            <a:bodyPr anchorCtr="0" anchor="t" bIns="0" lIns="0" spcFirstLastPara="1" rIns="0" wrap="square" tIns="0">
              <a:noAutofit/>
            </a:bodyPr>
            <a:lstStyle/>
            <a:p>
              <a:pPr indent="0" lvl="0" marL="0" rtl="1" algn="r">
                <a:spcBef>
                  <a:spcPts val="0"/>
                </a:spcBef>
                <a:spcAft>
                  <a:spcPts val="0"/>
                </a:spcAft>
                <a:buNone/>
              </a:pPr>
              <a:r>
                <a:rPr b="1" lang="iw" sz="1000">
                  <a:solidFill>
                    <a:srgbClr val="00E5FF"/>
                  </a:solidFill>
                  <a:latin typeface="Courier New"/>
                  <a:ea typeface="Courier New"/>
                  <a:cs typeface="Courier New"/>
                  <a:sym typeface="Courier New"/>
                </a:rPr>
                <a:t>CORRELATION_ANALYSIS / 03</a:t>
              </a:r>
              <a:endParaRPr b="1" sz="1000">
                <a:solidFill>
                  <a:srgbClr val="00E5FF"/>
                </a:solidFill>
                <a:latin typeface="Courier New"/>
                <a:ea typeface="Courier New"/>
                <a:cs typeface="Courier New"/>
                <a:sym typeface="Courier New"/>
              </a:endParaRPr>
            </a:p>
            <a:p>
              <a:pPr indent="0" lvl="0" marL="0" rtl="1" algn="r">
                <a:spcBef>
                  <a:spcPts val="450"/>
                </a:spcBef>
                <a:spcAft>
                  <a:spcPts val="0"/>
                </a:spcAft>
                <a:buNone/>
              </a:pPr>
              <a:r>
                <a:rPr b="1" lang="iw" sz="1400">
                  <a:solidFill>
                    <a:srgbClr val="FFFFFF"/>
                  </a:solidFill>
                  <a:latin typeface="Assistant"/>
                  <a:ea typeface="Assistant"/>
                  <a:cs typeface="Assistant"/>
                  <a:sym typeface="Assistant"/>
                </a:rPr>
                <a:t>ניתוח קשרים ומתאמים</a:t>
              </a:r>
              <a:endParaRPr b="1" sz="1000">
                <a:solidFill>
                  <a:srgbClr val="00E5FF"/>
                </a:solidFill>
                <a:latin typeface="Courier New"/>
                <a:ea typeface="Courier New"/>
                <a:cs typeface="Courier New"/>
                <a:sym typeface="Courier New"/>
              </a:endParaRPr>
            </a:p>
            <a:p>
              <a:pPr indent="0" lvl="0" marL="0" rtl="1" algn="r">
                <a:spcBef>
                  <a:spcPts val="900"/>
                </a:spcBef>
                <a:spcAft>
                  <a:spcPts val="0"/>
                </a:spcAft>
                <a:buNone/>
              </a:pPr>
              <a:r>
                <a:rPr b="0" lang="iw" sz="1050">
                  <a:solidFill>
                    <a:srgbClr val="7A8D9E"/>
                  </a:solidFill>
                  <a:latin typeface="Assistant"/>
                  <a:ea typeface="Assistant"/>
                  <a:cs typeface="Assistant"/>
                  <a:sym typeface="Assistant"/>
                </a:rPr>
                <a:t>מטריצת הקורלציה מאפשרת לזהות קשרים והשפעות הדדיות בין המשתנים הקליניים השונים לבין משתנה המטרה (Target).</a:t>
              </a:r>
              <a:endParaRPr b="1" sz="1000">
                <a:solidFill>
                  <a:srgbClr val="00E5FF"/>
                </a:solidFill>
                <a:latin typeface="Courier New"/>
                <a:ea typeface="Courier New"/>
                <a:cs typeface="Courier New"/>
                <a:sym typeface="Courier New"/>
              </a:endParaRPr>
            </a:p>
            <a:p>
              <a:pPr indent="0" lvl="0" marL="0" rtl="1" algn="r">
                <a:spcBef>
                  <a:spcPts val="900"/>
                </a:spcBef>
                <a:spcAft>
                  <a:spcPts val="0"/>
                </a:spcAft>
                <a:buNone/>
              </a:pPr>
              <a:r>
                <a:rPr b="0" lang="iw" sz="1050">
                  <a:solidFill>
                    <a:srgbClr val="7A8D9E"/>
                  </a:solidFill>
                  <a:latin typeface="Assistant"/>
                  <a:ea typeface="Assistant"/>
                  <a:cs typeface="Assistant"/>
                  <a:sym typeface="Assistant"/>
                </a:rPr>
                <a:t>משתנים בעלי מתאם חזק (חיובי או שלילי) עשויים לתרום משמעותית לדיוק החיזוי של מודלי למידת המכונה.</a:t>
              </a:r>
              <a:endParaRPr b="1" sz="1000">
                <a:solidFill>
                  <a:srgbClr val="00E5FF"/>
                </a:solidFill>
                <a:latin typeface="Courier New"/>
                <a:ea typeface="Courier New"/>
                <a:cs typeface="Courier New"/>
                <a:sym typeface="Courier New"/>
              </a:endParaRPr>
            </a:p>
          </p:txBody>
        </p:sp>
      </p:grpSp>
      <p:pic>
        <p:nvPicPr>
          <p:cNvPr id="267" name="Google Shape;267;p21"/>
          <p:cNvPicPr preferRelativeResize="0"/>
          <p:nvPr/>
        </p:nvPicPr>
        <p:blipFill>
          <a:blip r:embed="rId3">
            <a:alphaModFix/>
          </a:blip>
          <a:stretch>
            <a:fillRect/>
          </a:stretch>
        </p:blipFill>
        <p:spPr>
          <a:xfrm>
            <a:off x="152400" y="784075"/>
            <a:ext cx="5602099" cy="3987209"/>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212C"/>
        </a:solidFill>
      </p:bgPr>
    </p:bg>
    <p:spTree>
      <p:nvGrpSpPr>
        <p:cNvPr id="271" name="Shape 271"/>
        <p:cNvGrpSpPr/>
        <p:nvPr/>
      </p:nvGrpSpPr>
      <p:grpSpPr>
        <a:xfrm>
          <a:off x="0" y="0"/>
          <a:ext cx="0" cy="0"/>
          <a:chOff x="0" y="0"/>
          <a:chExt cx="0" cy="0"/>
        </a:xfrm>
      </p:grpSpPr>
      <p:sp>
        <p:nvSpPr>
          <p:cNvPr id="272" name="Google Shape;272;p22"/>
          <p:cNvSpPr txBox="1"/>
          <p:nvPr/>
        </p:nvSpPr>
        <p:spPr>
          <a:xfrm>
            <a:off x="4381500" y="238125"/>
            <a:ext cx="4191000" cy="428700"/>
          </a:xfrm>
          <a:prstGeom prst="rect">
            <a:avLst/>
          </a:prstGeom>
          <a:noFill/>
          <a:ln>
            <a:noFill/>
          </a:ln>
        </p:spPr>
        <p:txBody>
          <a:bodyPr anchorCtr="0" anchor="ctr" bIns="0" lIns="0" spcFirstLastPara="1" rIns="0" wrap="square" tIns="0">
            <a:noAutofit/>
          </a:bodyPr>
          <a:lstStyle/>
          <a:p>
            <a:pPr indent="0" lvl="0" marL="0" rtl="1" algn="r">
              <a:spcBef>
                <a:spcPts val="0"/>
              </a:spcBef>
              <a:spcAft>
                <a:spcPts val="0"/>
              </a:spcAft>
              <a:buNone/>
            </a:pPr>
            <a:r>
              <a:rPr b="0" lang="iw" sz="2400">
                <a:solidFill>
                  <a:srgbClr val="FFFFFF"/>
                </a:solidFill>
                <a:latin typeface="Assistant ExtraBold"/>
                <a:ea typeface="Assistant ExtraBold"/>
                <a:cs typeface="Assistant ExtraBold"/>
                <a:sym typeface="Assistant ExtraBold"/>
              </a:rPr>
              <a:t>עיבוד מקדים של הנתונים</a:t>
            </a:r>
            <a:endParaRPr b="0" sz="2400">
              <a:solidFill>
                <a:srgbClr val="FFFFFF"/>
              </a:solidFill>
              <a:latin typeface="Assistant ExtraBold"/>
              <a:ea typeface="Assistant ExtraBold"/>
              <a:cs typeface="Assistant ExtraBold"/>
              <a:sym typeface="Assistant ExtraBold"/>
            </a:endParaRPr>
          </a:p>
        </p:txBody>
      </p:sp>
      <p:grpSp>
        <p:nvGrpSpPr>
          <p:cNvPr id="273" name="Google Shape;273;p22"/>
          <p:cNvGrpSpPr/>
          <p:nvPr/>
        </p:nvGrpSpPr>
        <p:grpSpPr>
          <a:xfrm>
            <a:off x="4381500" y="904875"/>
            <a:ext cx="4191000" cy="3238500"/>
            <a:chOff x="4381500" y="904875"/>
            <a:chExt cx="4191000" cy="3238500"/>
          </a:xfrm>
        </p:grpSpPr>
        <p:sp>
          <p:nvSpPr>
            <p:cNvPr id="274" name="Google Shape;274;p22"/>
            <p:cNvSpPr/>
            <p:nvPr/>
          </p:nvSpPr>
          <p:spPr>
            <a:xfrm>
              <a:off x="4381500" y="904875"/>
              <a:ext cx="4191000" cy="3238500"/>
            </a:xfrm>
            <a:prstGeom prst="roundRect">
              <a:avLst>
                <a:gd fmla="val 1764" name="adj"/>
              </a:avLst>
            </a:prstGeom>
            <a:solidFill>
              <a:srgbClr val="0E1524"/>
            </a:solidFill>
            <a:ln cap="flat" cmpd="sng" w="9525">
              <a:solidFill>
                <a:srgbClr val="1F2E4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75" name="Google Shape;275;p22"/>
            <p:cNvSpPr/>
            <p:nvPr/>
          </p:nvSpPr>
          <p:spPr>
            <a:xfrm>
              <a:off x="4381500" y="904875"/>
              <a:ext cx="4191000" cy="38100"/>
            </a:xfrm>
            <a:prstGeom prst="rect">
              <a:avLst/>
            </a:prstGeom>
            <a:solidFill>
              <a:srgbClr val="00E5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76" name="Google Shape;276;p22"/>
            <p:cNvSpPr txBox="1"/>
            <p:nvPr/>
          </p:nvSpPr>
          <p:spPr>
            <a:xfrm>
              <a:off x="4572000" y="1047750"/>
              <a:ext cx="3810000" cy="2952900"/>
            </a:xfrm>
            <a:prstGeom prst="rect">
              <a:avLst/>
            </a:prstGeom>
            <a:noFill/>
            <a:ln>
              <a:noFill/>
            </a:ln>
          </p:spPr>
          <p:txBody>
            <a:bodyPr anchorCtr="0" anchor="ctr" bIns="0" lIns="0" spcFirstLastPara="1" rIns="0" wrap="square" tIns="0">
              <a:noAutofit/>
            </a:bodyPr>
            <a:lstStyle/>
            <a:p>
              <a:pPr indent="0" lvl="0" marL="0" rtl="1" algn="r">
                <a:spcBef>
                  <a:spcPts val="0"/>
                </a:spcBef>
                <a:spcAft>
                  <a:spcPts val="0"/>
                </a:spcAft>
                <a:buNone/>
              </a:pPr>
              <a:r>
                <a:rPr b="1" lang="iw" sz="900">
                  <a:solidFill>
                    <a:srgbClr val="00E5FF"/>
                  </a:solidFill>
                  <a:latin typeface="Courier New"/>
                  <a:ea typeface="Courier New"/>
                  <a:cs typeface="Courier New"/>
                  <a:sym typeface="Courier New"/>
                </a:rPr>
                <a:t>PREPROCESSING_STEPS / 01</a:t>
              </a:r>
              <a:endParaRPr b="1" sz="900">
                <a:solidFill>
                  <a:srgbClr val="00E5FF"/>
                </a:solidFill>
                <a:latin typeface="Courier New"/>
                <a:ea typeface="Courier New"/>
                <a:cs typeface="Courier New"/>
                <a:sym typeface="Courier New"/>
              </a:endParaRPr>
            </a:p>
            <a:p>
              <a:pPr indent="0" lvl="0" marL="0" rtl="1" algn="r">
                <a:spcBef>
                  <a:spcPts val="450"/>
                </a:spcBef>
                <a:spcAft>
                  <a:spcPts val="0"/>
                </a:spcAft>
                <a:buNone/>
              </a:pPr>
              <a:r>
                <a:rPr b="1" lang="iw" sz="1300">
                  <a:solidFill>
                    <a:srgbClr val="FFFFFF"/>
                  </a:solidFill>
                  <a:latin typeface="Assistant"/>
                  <a:ea typeface="Assistant"/>
                  <a:cs typeface="Assistant"/>
                  <a:sym typeface="Assistant"/>
                </a:rPr>
                <a:t>שלבי עיבוד הנתונים</a:t>
              </a:r>
              <a:endParaRPr b="1" sz="900">
                <a:solidFill>
                  <a:srgbClr val="00E5FF"/>
                </a:solidFill>
                <a:latin typeface="Courier New"/>
                <a:ea typeface="Courier New"/>
                <a:cs typeface="Courier New"/>
                <a:sym typeface="Courier New"/>
              </a:endParaRPr>
            </a:p>
            <a:p>
              <a:pPr indent="0" lvl="0" marL="0" rtl="1" algn="r">
                <a:spcBef>
                  <a:spcPts val="900"/>
                </a:spcBef>
                <a:spcAft>
                  <a:spcPts val="0"/>
                </a:spcAft>
                <a:buNone/>
              </a:pPr>
              <a:r>
                <a:rPr b="1" lang="iw" sz="1150">
                  <a:solidFill>
                    <a:srgbClr val="00E5FF"/>
                  </a:solidFill>
                  <a:latin typeface="Assistant"/>
                  <a:ea typeface="Assistant"/>
                  <a:cs typeface="Assistant"/>
                  <a:sym typeface="Assistant"/>
                </a:rPr>
                <a:t>✔ טעינת הנתונים (Data Loading)</a:t>
              </a:r>
              <a:endParaRPr b="1" sz="900">
                <a:solidFill>
                  <a:srgbClr val="00E5FF"/>
                </a:solidFill>
                <a:latin typeface="Courier New"/>
                <a:ea typeface="Courier New"/>
                <a:cs typeface="Courier New"/>
                <a:sym typeface="Courier New"/>
              </a:endParaRPr>
            </a:p>
            <a:p>
              <a:pPr indent="0" lvl="0" marL="0" rtl="1" algn="r">
                <a:spcBef>
                  <a:spcPts val="150"/>
                </a:spcBef>
                <a:spcAft>
                  <a:spcPts val="0"/>
                </a:spcAft>
                <a:buNone/>
              </a:pPr>
              <a:r>
                <a:rPr b="0" lang="iw" sz="1000">
                  <a:solidFill>
                    <a:srgbClr val="7A8D9E"/>
                  </a:solidFill>
                  <a:latin typeface="Assistant"/>
                  <a:ea typeface="Assistant"/>
                  <a:cs typeface="Assistant"/>
                  <a:sym typeface="Assistant"/>
                </a:rPr>
                <a:t>קריאת קובץ הנתונים (CSV) באמצעות ספריית Pandas.</a:t>
              </a:r>
              <a:endParaRPr b="0" sz="1000">
                <a:solidFill>
                  <a:srgbClr val="7A8D9E"/>
                </a:solidFill>
                <a:latin typeface="Assistant"/>
                <a:ea typeface="Assistant"/>
                <a:cs typeface="Assistant"/>
                <a:sym typeface="Assistant"/>
              </a:endParaRPr>
            </a:p>
            <a:p>
              <a:pPr indent="0" lvl="0" marL="0" rtl="1" algn="r">
                <a:spcBef>
                  <a:spcPts val="750"/>
                </a:spcBef>
                <a:spcAft>
                  <a:spcPts val="0"/>
                </a:spcAft>
                <a:buNone/>
              </a:pPr>
              <a:r>
                <a:rPr b="1" lang="iw" sz="1150">
                  <a:solidFill>
                    <a:srgbClr val="00E5FF"/>
                  </a:solidFill>
                  <a:latin typeface="Assistant"/>
                  <a:ea typeface="Assistant"/>
                  <a:cs typeface="Assistant"/>
                  <a:sym typeface="Assistant"/>
                </a:rPr>
                <a:t>✔ בדיקת ערכים וסוגי משתנים</a:t>
              </a:r>
              <a:endParaRPr b="1" sz="900">
                <a:solidFill>
                  <a:srgbClr val="00E5FF"/>
                </a:solidFill>
                <a:latin typeface="Courier New"/>
                <a:ea typeface="Courier New"/>
                <a:cs typeface="Courier New"/>
                <a:sym typeface="Courier New"/>
              </a:endParaRPr>
            </a:p>
            <a:p>
              <a:pPr indent="0" lvl="0" marL="0" rtl="1" algn="r">
                <a:spcBef>
                  <a:spcPts val="150"/>
                </a:spcBef>
                <a:spcAft>
                  <a:spcPts val="0"/>
                </a:spcAft>
                <a:buNone/>
              </a:pPr>
              <a:r>
                <a:rPr b="0" lang="iw" sz="1000">
                  <a:solidFill>
                    <a:srgbClr val="7A8D9E"/>
                  </a:solidFill>
                  <a:latin typeface="Assistant"/>
                  <a:ea typeface="Assistant"/>
                  <a:cs typeface="Assistant"/>
                  <a:sym typeface="Assistant"/>
                </a:rPr>
                <a:t>וידוא שאין ערכים חסרים (NaN) ואימות פורמט המשתנים המתאים לניתוח.</a:t>
              </a:r>
              <a:endParaRPr b="0" sz="1000">
                <a:solidFill>
                  <a:srgbClr val="7A8D9E"/>
                </a:solidFill>
                <a:latin typeface="Assistant"/>
                <a:ea typeface="Assistant"/>
                <a:cs typeface="Assistant"/>
                <a:sym typeface="Assistant"/>
              </a:endParaRPr>
            </a:p>
            <a:p>
              <a:pPr indent="0" lvl="0" marL="0" rtl="1" algn="r">
                <a:spcBef>
                  <a:spcPts val="750"/>
                </a:spcBef>
                <a:spcAft>
                  <a:spcPts val="0"/>
                </a:spcAft>
                <a:buNone/>
              </a:pPr>
              <a:r>
                <a:rPr b="1" lang="iw" sz="1150">
                  <a:solidFill>
                    <a:srgbClr val="00E5FF"/>
                  </a:solidFill>
                  <a:latin typeface="Assistant"/>
                  <a:ea typeface="Assistant"/>
                  <a:cs typeface="Assistant"/>
                  <a:sym typeface="Assistant"/>
                </a:rPr>
                <a:t>✔ חלוקת הנתונים (Train/Test Split)</a:t>
              </a:r>
              <a:endParaRPr b="1" sz="900">
                <a:solidFill>
                  <a:srgbClr val="00E5FF"/>
                </a:solidFill>
                <a:latin typeface="Courier New"/>
                <a:ea typeface="Courier New"/>
                <a:cs typeface="Courier New"/>
                <a:sym typeface="Courier New"/>
              </a:endParaRPr>
            </a:p>
            <a:p>
              <a:pPr indent="0" lvl="0" marL="0" rtl="1" algn="r">
                <a:spcBef>
                  <a:spcPts val="150"/>
                </a:spcBef>
                <a:spcAft>
                  <a:spcPts val="0"/>
                </a:spcAft>
                <a:buNone/>
              </a:pPr>
              <a:r>
                <a:rPr b="0" lang="iw" sz="1000">
                  <a:solidFill>
                    <a:srgbClr val="7A8D9E"/>
                  </a:solidFill>
                  <a:latin typeface="Assistant"/>
                  <a:ea typeface="Assistant"/>
                  <a:cs typeface="Assistant"/>
                  <a:sym typeface="Assistant"/>
                </a:rPr>
                <a:t>חלוקת הדאטה ל־80% נתוני אימון ו־20% נתוני בדיקה להערכת המודל.</a:t>
              </a:r>
              <a:endParaRPr b="0" sz="1000">
                <a:solidFill>
                  <a:srgbClr val="7A8D9E"/>
                </a:solidFill>
                <a:latin typeface="Assistant"/>
                <a:ea typeface="Assistant"/>
                <a:cs typeface="Assistant"/>
                <a:sym typeface="Assistant"/>
              </a:endParaRPr>
            </a:p>
            <a:p>
              <a:pPr indent="0" lvl="0" marL="0" rtl="1" algn="r">
                <a:spcBef>
                  <a:spcPts val="750"/>
                </a:spcBef>
                <a:spcAft>
                  <a:spcPts val="0"/>
                </a:spcAft>
                <a:buNone/>
              </a:pPr>
              <a:r>
                <a:rPr b="1" lang="iw" sz="1150">
                  <a:solidFill>
                    <a:srgbClr val="00E5FF"/>
                  </a:solidFill>
                  <a:latin typeface="Assistant"/>
                  <a:ea typeface="Assistant"/>
                  <a:cs typeface="Assistant"/>
                  <a:sym typeface="Assistant"/>
                </a:rPr>
                <a:t>✔ נרמול הנתונים (Feature Scaling)</a:t>
              </a:r>
              <a:endParaRPr b="1" sz="900">
                <a:solidFill>
                  <a:srgbClr val="00E5FF"/>
                </a:solidFill>
                <a:latin typeface="Courier New"/>
                <a:ea typeface="Courier New"/>
                <a:cs typeface="Courier New"/>
                <a:sym typeface="Courier New"/>
              </a:endParaRPr>
            </a:p>
            <a:p>
              <a:pPr indent="0" lvl="0" marL="0" rtl="1" algn="r">
                <a:spcBef>
                  <a:spcPts val="150"/>
                </a:spcBef>
                <a:spcAft>
                  <a:spcPts val="0"/>
                </a:spcAft>
                <a:buNone/>
              </a:pPr>
              <a:r>
                <a:rPr b="0" lang="iw" sz="1000">
                  <a:solidFill>
                    <a:srgbClr val="7A8D9E"/>
                  </a:solidFill>
                  <a:latin typeface="Assistant"/>
                  <a:ea typeface="Assistant"/>
                  <a:cs typeface="Assistant"/>
                  <a:sym typeface="Assistant"/>
                </a:rPr>
                <a:t>בוצע עבור אלגוריתמים כגון SVM ו־KNN באמצעות StandardScaler.</a:t>
              </a:r>
              <a:endParaRPr b="0" sz="1000">
                <a:solidFill>
                  <a:srgbClr val="7A8D9E"/>
                </a:solidFill>
                <a:latin typeface="Assistant"/>
                <a:ea typeface="Assistant"/>
                <a:cs typeface="Assistant"/>
                <a:sym typeface="Assistant"/>
              </a:endParaRPr>
            </a:p>
          </p:txBody>
        </p:sp>
      </p:grpSp>
      <p:grpSp>
        <p:nvGrpSpPr>
          <p:cNvPr id="277" name="Google Shape;277;p22"/>
          <p:cNvGrpSpPr/>
          <p:nvPr/>
        </p:nvGrpSpPr>
        <p:grpSpPr>
          <a:xfrm>
            <a:off x="571500" y="904875"/>
            <a:ext cx="3429000" cy="3238500"/>
            <a:chOff x="571500" y="904875"/>
            <a:chExt cx="3429000" cy="3238500"/>
          </a:xfrm>
        </p:grpSpPr>
        <p:sp>
          <p:nvSpPr>
            <p:cNvPr id="278" name="Google Shape;278;p22"/>
            <p:cNvSpPr/>
            <p:nvPr/>
          </p:nvSpPr>
          <p:spPr>
            <a:xfrm>
              <a:off x="571500" y="904875"/>
              <a:ext cx="3429000" cy="3238500"/>
            </a:xfrm>
            <a:prstGeom prst="roundRect">
              <a:avLst>
                <a:gd fmla="val 1764" name="adj"/>
              </a:avLst>
            </a:prstGeom>
            <a:solidFill>
              <a:srgbClr val="0E1524"/>
            </a:solidFill>
            <a:ln cap="flat" cmpd="sng" w="9525">
              <a:solidFill>
                <a:srgbClr val="1F2E4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79" name="Google Shape;279;p22"/>
            <p:cNvSpPr/>
            <p:nvPr/>
          </p:nvSpPr>
          <p:spPr>
            <a:xfrm>
              <a:off x="571500" y="904875"/>
              <a:ext cx="3429000" cy="38100"/>
            </a:xfrm>
            <a:prstGeom prst="rect">
              <a:avLst/>
            </a:prstGeom>
            <a:solidFill>
              <a:srgbClr val="10B98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80" name="Google Shape;280;p22"/>
            <p:cNvSpPr txBox="1"/>
            <p:nvPr/>
          </p:nvSpPr>
          <p:spPr>
            <a:xfrm>
              <a:off x="762000" y="1047750"/>
              <a:ext cx="3048000" cy="285900"/>
            </a:xfrm>
            <a:prstGeom prst="rect">
              <a:avLst/>
            </a:prstGeom>
            <a:noFill/>
            <a:ln>
              <a:noFill/>
            </a:ln>
          </p:spPr>
          <p:txBody>
            <a:bodyPr anchorCtr="0" anchor="ctr" bIns="0" lIns="0" spcFirstLastPara="1" rIns="0" wrap="square" tIns="0">
              <a:noAutofit/>
            </a:bodyPr>
            <a:lstStyle/>
            <a:p>
              <a:pPr indent="0" lvl="0" marL="0" rtl="1" algn="r">
                <a:spcBef>
                  <a:spcPts val="0"/>
                </a:spcBef>
                <a:spcAft>
                  <a:spcPts val="0"/>
                </a:spcAft>
                <a:buNone/>
              </a:pPr>
              <a:r>
                <a:rPr b="1" lang="iw" sz="900">
                  <a:solidFill>
                    <a:srgbClr val="10B981"/>
                  </a:solidFill>
                  <a:latin typeface="Courier New"/>
                  <a:ea typeface="Courier New"/>
                  <a:cs typeface="Courier New"/>
                  <a:sym typeface="Courier New"/>
                </a:rPr>
                <a:t>PIPELINE_FLOW / 02</a:t>
              </a:r>
              <a:endParaRPr b="1" sz="900">
                <a:solidFill>
                  <a:srgbClr val="10B981"/>
                </a:solidFill>
                <a:latin typeface="Courier New"/>
                <a:ea typeface="Courier New"/>
                <a:cs typeface="Courier New"/>
                <a:sym typeface="Courier New"/>
              </a:endParaRPr>
            </a:p>
          </p:txBody>
        </p:sp>
        <p:grpSp>
          <p:nvGrpSpPr>
            <p:cNvPr id="281" name="Google Shape;281;p22"/>
            <p:cNvGrpSpPr/>
            <p:nvPr/>
          </p:nvGrpSpPr>
          <p:grpSpPr>
            <a:xfrm>
              <a:off x="1333500" y="1381125"/>
              <a:ext cx="1905000" cy="2428800"/>
              <a:chOff x="1333500" y="1381125"/>
              <a:chExt cx="1905000" cy="2428800"/>
            </a:xfrm>
          </p:grpSpPr>
          <p:sp>
            <p:nvSpPr>
              <p:cNvPr id="282" name="Google Shape;282;p22"/>
              <p:cNvSpPr/>
              <p:nvPr/>
            </p:nvSpPr>
            <p:spPr>
              <a:xfrm>
                <a:off x="1333500" y="1381125"/>
                <a:ext cx="1905000" cy="333300"/>
              </a:xfrm>
              <a:prstGeom prst="roundRect">
                <a:avLst>
                  <a:gd fmla="val 11428" name="adj"/>
                </a:avLst>
              </a:prstGeom>
              <a:solidFill>
                <a:srgbClr val="1A2536"/>
              </a:solidFill>
              <a:ln cap="flat" cmpd="sng" w="9525">
                <a:solidFill>
                  <a:srgbClr val="1F3254"/>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83" name="Google Shape;283;p22"/>
              <p:cNvSpPr txBox="1"/>
              <p:nvPr/>
            </p:nvSpPr>
            <p:spPr>
              <a:xfrm>
                <a:off x="1333500" y="1381125"/>
                <a:ext cx="1905000" cy="3333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iw" sz="950">
                    <a:solidFill>
                      <a:srgbClr val="00E5FF"/>
                    </a:solidFill>
                    <a:latin typeface="Courier New"/>
                    <a:ea typeface="Courier New"/>
                    <a:cs typeface="Courier New"/>
                    <a:sym typeface="Courier New"/>
                  </a:rPr>
                  <a:t>Heart.csv</a:t>
                </a:r>
                <a:endParaRPr b="1" sz="950">
                  <a:solidFill>
                    <a:srgbClr val="00E5FF"/>
                  </a:solidFill>
                  <a:latin typeface="Courier New"/>
                  <a:ea typeface="Courier New"/>
                  <a:cs typeface="Courier New"/>
                  <a:sym typeface="Courier New"/>
                </a:endParaRPr>
              </a:p>
            </p:txBody>
          </p:sp>
          <p:pic>
            <p:nvPicPr>
              <p:cNvPr id="284" name="Google Shape;284;p22"/>
              <p:cNvPicPr preferRelativeResize="0"/>
              <p:nvPr/>
            </p:nvPicPr>
            <p:blipFill rotWithShape="1">
              <a:blip r:embed="rId3">
                <a:alphaModFix/>
              </a:blip>
              <a:srcRect b="0" l="0" r="0" t="0"/>
              <a:stretch/>
            </p:blipFill>
            <p:spPr>
              <a:xfrm>
                <a:off x="2276475" y="1714500"/>
                <a:ext cx="19200" cy="142800"/>
              </a:xfrm>
              <a:prstGeom prst="rect">
                <a:avLst/>
              </a:prstGeom>
              <a:noFill/>
              <a:ln>
                <a:noFill/>
              </a:ln>
            </p:spPr>
          </p:pic>
          <p:pic>
            <p:nvPicPr>
              <p:cNvPr id="285" name="Google Shape;285;p22"/>
              <p:cNvPicPr preferRelativeResize="0"/>
              <p:nvPr/>
            </p:nvPicPr>
            <p:blipFill rotWithShape="1">
              <a:blip r:embed="rId4">
                <a:alphaModFix/>
              </a:blip>
              <a:srcRect b="0" l="0" r="0" t="0"/>
              <a:stretch/>
            </p:blipFill>
            <p:spPr>
              <a:xfrm>
                <a:off x="2247900" y="1828800"/>
                <a:ext cx="76200" cy="57300"/>
              </a:xfrm>
              <a:prstGeom prst="rect">
                <a:avLst/>
              </a:prstGeom>
              <a:noFill/>
              <a:ln>
                <a:noFill/>
              </a:ln>
            </p:spPr>
          </p:pic>
          <p:sp>
            <p:nvSpPr>
              <p:cNvPr id="286" name="Google Shape;286;p22"/>
              <p:cNvSpPr/>
              <p:nvPr/>
            </p:nvSpPr>
            <p:spPr>
              <a:xfrm>
                <a:off x="1333500" y="1905000"/>
                <a:ext cx="1905000" cy="333300"/>
              </a:xfrm>
              <a:prstGeom prst="roundRect">
                <a:avLst>
                  <a:gd fmla="val 11428" name="adj"/>
                </a:avLst>
              </a:prstGeom>
              <a:solidFill>
                <a:srgbClr val="152E3C"/>
              </a:solidFill>
              <a:ln cap="flat" cmpd="sng" w="9525">
                <a:solidFill>
                  <a:srgbClr val="10B98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87" name="Google Shape;287;p22"/>
              <p:cNvSpPr txBox="1"/>
              <p:nvPr/>
            </p:nvSpPr>
            <p:spPr>
              <a:xfrm>
                <a:off x="1333500" y="1905000"/>
                <a:ext cx="1905000" cy="3333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iw" sz="950">
                    <a:solidFill>
                      <a:srgbClr val="FFFFFF"/>
                    </a:solidFill>
                    <a:latin typeface="Courier New"/>
                    <a:ea typeface="Courier New"/>
                    <a:cs typeface="Courier New"/>
                    <a:sym typeface="Courier New"/>
                  </a:rPr>
                  <a:t>1. Load Dataset</a:t>
                </a:r>
                <a:endParaRPr b="1" sz="950">
                  <a:solidFill>
                    <a:srgbClr val="FFFFFF"/>
                  </a:solidFill>
                  <a:latin typeface="Courier New"/>
                  <a:ea typeface="Courier New"/>
                  <a:cs typeface="Courier New"/>
                  <a:sym typeface="Courier New"/>
                </a:endParaRPr>
              </a:p>
              <a:p>
                <a:pPr indent="0" lvl="0" marL="0" rtl="0" algn="ctr">
                  <a:spcBef>
                    <a:spcPts val="0"/>
                  </a:spcBef>
                  <a:spcAft>
                    <a:spcPts val="0"/>
                  </a:spcAft>
                  <a:buNone/>
                </a:pPr>
                <a:r>
                  <a:rPr b="0" lang="iw" sz="850">
                    <a:solidFill>
                      <a:srgbClr val="7A8D9E"/>
                    </a:solidFill>
                    <a:latin typeface="Assistant"/>
                    <a:ea typeface="Assistant"/>
                    <a:cs typeface="Assistant"/>
                    <a:sym typeface="Assistant"/>
                  </a:rPr>
                  <a:t>Pandas DataFrame</a:t>
                </a:r>
                <a:endParaRPr b="0" sz="850">
                  <a:solidFill>
                    <a:srgbClr val="7A8D9E"/>
                  </a:solidFill>
                  <a:latin typeface="Assistant"/>
                  <a:ea typeface="Assistant"/>
                  <a:cs typeface="Assistant"/>
                  <a:sym typeface="Assistant"/>
                </a:endParaRPr>
              </a:p>
            </p:txBody>
          </p:sp>
          <p:pic>
            <p:nvPicPr>
              <p:cNvPr id="288" name="Google Shape;288;p22"/>
              <p:cNvPicPr preferRelativeResize="0"/>
              <p:nvPr/>
            </p:nvPicPr>
            <p:blipFill rotWithShape="1">
              <a:blip r:embed="rId3">
                <a:alphaModFix/>
              </a:blip>
              <a:srcRect b="0" l="0" r="0" t="0"/>
              <a:stretch/>
            </p:blipFill>
            <p:spPr>
              <a:xfrm>
                <a:off x="2276475" y="2238375"/>
                <a:ext cx="19200" cy="142800"/>
              </a:xfrm>
              <a:prstGeom prst="rect">
                <a:avLst/>
              </a:prstGeom>
              <a:noFill/>
              <a:ln>
                <a:noFill/>
              </a:ln>
            </p:spPr>
          </p:pic>
          <p:pic>
            <p:nvPicPr>
              <p:cNvPr id="289" name="Google Shape;289;p22"/>
              <p:cNvPicPr preferRelativeResize="0"/>
              <p:nvPr/>
            </p:nvPicPr>
            <p:blipFill rotWithShape="1">
              <a:blip r:embed="rId4">
                <a:alphaModFix/>
              </a:blip>
              <a:srcRect b="0" l="0" r="0" t="0"/>
              <a:stretch/>
            </p:blipFill>
            <p:spPr>
              <a:xfrm>
                <a:off x="2247900" y="2352675"/>
                <a:ext cx="76200" cy="57300"/>
              </a:xfrm>
              <a:prstGeom prst="rect">
                <a:avLst/>
              </a:prstGeom>
              <a:noFill/>
              <a:ln>
                <a:noFill/>
              </a:ln>
            </p:spPr>
          </p:pic>
          <p:sp>
            <p:nvSpPr>
              <p:cNvPr id="290" name="Google Shape;290;p22"/>
              <p:cNvSpPr/>
              <p:nvPr/>
            </p:nvSpPr>
            <p:spPr>
              <a:xfrm>
                <a:off x="1333500" y="2428875"/>
                <a:ext cx="1905000" cy="333300"/>
              </a:xfrm>
              <a:prstGeom prst="roundRect">
                <a:avLst>
                  <a:gd fmla="val 11428" name="adj"/>
                </a:avLst>
              </a:prstGeom>
              <a:solidFill>
                <a:srgbClr val="152E3C"/>
              </a:solidFill>
              <a:ln cap="flat" cmpd="sng" w="9525">
                <a:solidFill>
                  <a:srgbClr val="10B98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91" name="Google Shape;291;p22"/>
              <p:cNvSpPr txBox="1"/>
              <p:nvPr/>
            </p:nvSpPr>
            <p:spPr>
              <a:xfrm>
                <a:off x="1333500" y="2428875"/>
                <a:ext cx="1905000" cy="3333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iw" sz="950">
                    <a:solidFill>
                      <a:srgbClr val="FFFFFF"/>
                    </a:solidFill>
                    <a:latin typeface="Courier New"/>
                    <a:ea typeface="Courier New"/>
                    <a:cs typeface="Courier New"/>
                    <a:sym typeface="Courier New"/>
                  </a:rPr>
                  <a:t>2. Clean &amp; Validate</a:t>
                </a:r>
                <a:endParaRPr b="1" sz="950">
                  <a:solidFill>
                    <a:srgbClr val="FFFFFF"/>
                  </a:solidFill>
                  <a:latin typeface="Courier New"/>
                  <a:ea typeface="Courier New"/>
                  <a:cs typeface="Courier New"/>
                  <a:sym typeface="Courier New"/>
                </a:endParaRPr>
              </a:p>
              <a:p>
                <a:pPr indent="0" lvl="0" marL="0" rtl="0" algn="ctr">
                  <a:spcBef>
                    <a:spcPts val="0"/>
                  </a:spcBef>
                  <a:spcAft>
                    <a:spcPts val="0"/>
                  </a:spcAft>
                  <a:buNone/>
                </a:pPr>
                <a:r>
                  <a:rPr b="0" lang="iw" sz="850">
                    <a:solidFill>
                      <a:srgbClr val="7A8D9E"/>
                    </a:solidFill>
                    <a:latin typeface="Assistant"/>
                    <a:ea typeface="Assistant"/>
                    <a:cs typeface="Assistant"/>
                    <a:sym typeface="Assistant"/>
                  </a:rPr>
                  <a:t>Missing Values &amp; Types</a:t>
                </a:r>
                <a:endParaRPr b="0" sz="850">
                  <a:solidFill>
                    <a:srgbClr val="7A8D9E"/>
                  </a:solidFill>
                  <a:latin typeface="Assistant"/>
                  <a:ea typeface="Assistant"/>
                  <a:cs typeface="Assistant"/>
                  <a:sym typeface="Assistant"/>
                </a:endParaRPr>
              </a:p>
            </p:txBody>
          </p:sp>
          <p:pic>
            <p:nvPicPr>
              <p:cNvPr id="292" name="Google Shape;292;p22"/>
              <p:cNvPicPr preferRelativeResize="0"/>
              <p:nvPr/>
            </p:nvPicPr>
            <p:blipFill rotWithShape="1">
              <a:blip r:embed="rId3">
                <a:alphaModFix/>
              </a:blip>
              <a:srcRect b="0" l="0" r="0" t="0"/>
              <a:stretch/>
            </p:blipFill>
            <p:spPr>
              <a:xfrm>
                <a:off x="2276475" y="2762250"/>
                <a:ext cx="19200" cy="142800"/>
              </a:xfrm>
              <a:prstGeom prst="rect">
                <a:avLst/>
              </a:prstGeom>
              <a:noFill/>
              <a:ln>
                <a:noFill/>
              </a:ln>
            </p:spPr>
          </p:pic>
          <p:pic>
            <p:nvPicPr>
              <p:cNvPr id="293" name="Google Shape;293;p22"/>
              <p:cNvPicPr preferRelativeResize="0"/>
              <p:nvPr/>
            </p:nvPicPr>
            <p:blipFill rotWithShape="1">
              <a:blip r:embed="rId4">
                <a:alphaModFix/>
              </a:blip>
              <a:srcRect b="0" l="0" r="0" t="0"/>
              <a:stretch/>
            </p:blipFill>
            <p:spPr>
              <a:xfrm>
                <a:off x="2247900" y="2876550"/>
                <a:ext cx="76200" cy="57300"/>
              </a:xfrm>
              <a:prstGeom prst="rect">
                <a:avLst/>
              </a:prstGeom>
              <a:noFill/>
              <a:ln>
                <a:noFill/>
              </a:ln>
            </p:spPr>
          </p:pic>
          <p:sp>
            <p:nvSpPr>
              <p:cNvPr id="294" name="Google Shape;294;p22"/>
              <p:cNvSpPr/>
              <p:nvPr/>
            </p:nvSpPr>
            <p:spPr>
              <a:xfrm>
                <a:off x="1333500" y="2952750"/>
                <a:ext cx="1905000" cy="333300"/>
              </a:xfrm>
              <a:prstGeom prst="roundRect">
                <a:avLst>
                  <a:gd fmla="val 11428" name="adj"/>
                </a:avLst>
              </a:prstGeom>
              <a:solidFill>
                <a:srgbClr val="152E3C"/>
              </a:solidFill>
              <a:ln cap="flat" cmpd="sng" w="9525">
                <a:solidFill>
                  <a:srgbClr val="10B98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95" name="Google Shape;295;p22"/>
              <p:cNvSpPr txBox="1"/>
              <p:nvPr/>
            </p:nvSpPr>
            <p:spPr>
              <a:xfrm>
                <a:off x="1333500" y="2952750"/>
                <a:ext cx="1905000" cy="3333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iw" sz="950">
                    <a:solidFill>
                      <a:srgbClr val="FFFFFF"/>
                    </a:solidFill>
                    <a:latin typeface="Courier New"/>
                    <a:ea typeface="Courier New"/>
                    <a:cs typeface="Courier New"/>
                    <a:sym typeface="Courier New"/>
                  </a:rPr>
                  <a:t>3. Feature Scaling</a:t>
                </a:r>
                <a:endParaRPr b="1" sz="950">
                  <a:solidFill>
                    <a:srgbClr val="FFFFFF"/>
                  </a:solidFill>
                  <a:latin typeface="Courier New"/>
                  <a:ea typeface="Courier New"/>
                  <a:cs typeface="Courier New"/>
                  <a:sym typeface="Courier New"/>
                </a:endParaRPr>
              </a:p>
              <a:p>
                <a:pPr indent="0" lvl="0" marL="0" rtl="0" algn="ctr">
                  <a:spcBef>
                    <a:spcPts val="0"/>
                  </a:spcBef>
                  <a:spcAft>
                    <a:spcPts val="0"/>
                  </a:spcAft>
                  <a:buNone/>
                </a:pPr>
                <a:r>
                  <a:rPr b="0" lang="iw" sz="850">
                    <a:solidFill>
                      <a:srgbClr val="7A8D9E"/>
                    </a:solidFill>
                    <a:latin typeface="Assistant"/>
                    <a:ea typeface="Assistant"/>
                    <a:cs typeface="Assistant"/>
                    <a:sym typeface="Assistant"/>
                  </a:rPr>
                  <a:t>StandardScaler</a:t>
                </a:r>
                <a:endParaRPr b="0" sz="850">
                  <a:solidFill>
                    <a:srgbClr val="7A8D9E"/>
                  </a:solidFill>
                  <a:latin typeface="Assistant"/>
                  <a:ea typeface="Assistant"/>
                  <a:cs typeface="Assistant"/>
                  <a:sym typeface="Assistant"/>
                </a:endParaRPr>
              </a:p>
            </p:txBody>
          </p:sp>
          <p:pic>
            <p:nvPicPr>
              <p:cNvPr id="296" name="Google Shape;296;p22"/>
              <p:cNvPicPr preferRelativeResize="0"/>
              <p:nvPr/>
            </p:nvPicPr>
            <p:blipFill rotWithShape="1">
              <a:blip r:embed="rId3">
                <a:alphaModFix/>
              </a:blip>
              <a:srcRect b="0" l="0" r="0" t="0"/>
              <a:stretch/>
            </p:blipFill>
            <p:spPr>
              <a:xfrm>
                <a:off x="2276475" y="3286125"/>
                <a:ext cx="19200" cy="142800"/>
              </a:xfrm>
              <a:prstGeom prst="rect">
                <a:avLst/>
              </a:prstGeom>
              <a:noFill/>
              <a:ln>
                <a:noFill/>
              </a:ln>
            </p:spPr>
          </p:pic>
          <p:pic>
            <p:nvPicPr>
              <p:cNvPr id="297" name="Google Shape;297;p22"/>
              <p:cNvPicPr preferRelativeResize="0"/>
              <p:nvPr/>
            </p:nvPicPr>
            <p:blipFill rotWithShape="1">
              <a:blip r:embed="rId4">
                <a:alphaModFix/>
              </a:blip>
              <a:srcRect b="0" l="0" r="0" t="0"/>
              <a:stretch/>
            </p:blipFill>
            <p:spPr>
              <a:xfrm>
                <a:off x="2247900" y="3400425"/>
                <a:ext cx="76200" cy="57300"/>
              </a:xfrm>
              <a:prstGeom prst="rect">
                <a:avLst/>
              </a:prstGeom>
              <a:noFill/>
              <a:ln>
                <a:noFill/>
              </a:ln>
            </p:spPr>
          </p:pic>
          <p:sp>
            <p:nvSpPr>
              <p:cNvPr id="298" name="Google Shape;298;p22"/>
              <p:cNvSpPr/>
              <p:nvPr/>
            </p:nvSpPr>
            <p:spPr>
              <a:xfrm>
                <a:off x="1333500" y="3476625"/>
                <a:ext cx="1905000" cy="333300"/>
              </a:xfrm>
              <a:prstGeom prst="roundRect">
                <a:avLst>
                  <a:gd fmla="val 11428" name="adj"/>
                </a:avLst>
              </a:prstGeom>
              <a:solidFill>
                <a:srgbClr val="152E3C"/>
              </a:solidFill>
              <a:ln cap="flat" cmpd="sng" w="9525">
                <a:solidFill>
                  <a:srgbClr val="10B98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99" name="Google Shape;299;p22"/>
              <p:cNvSpPr txBox="1"/>
              <p:nvPr/>
            </p:nvSpPr>
            <p:spPr>
              <a:xfrm>
                <a:off x="1333500" y="3476625"/>
                <a:ext cx="1905000" cy="3333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iw" sz="950">
                    <a:solidFill>
                      <a:srgbClr val="FFFFFF"/>
                    </a:solidFill>
                    <a:latin typeface="Courier New"/>
                    <a:ea typeface="Courier New"/>
                    <a:cs typeface="Courier New"/>
                    <a:sym typeface="Courier New"/>
                  </a:rPr>
                  <a:t>4. Train / Test Split</a:t>
                </a:r>
                <a:endParaRPr b="1" sz="950">
                  <a:solidFill>
                    <a:srgbClr val="FFFFFF"/>
                  </a:solidFill>
                  <a:latin typeface="Courier New"/>
                  <a:ea typeface="Courier New"/>
                  <a:cs typeface="Courier New"/>
                  <a:sym typeface="Courier New"/>
                </a:endParaRPr>
              </a:p>
              <a:p>
                <a:pPr indent="0" lvl="0" marL="0" rtl="0" algn="ctr">
                  <a:spcBef>
                    <a:spcPts val="0"/>
                  </a:spcBef>
                  <a:spcAft>
                    <a:spcPts val="0"/>
                  </a:spcAft>
                  <a:buNone/>
                </a:pPr>
                <a:r>
                  <a:rPr b="0" lang="iw" sz="850">
                    <a:solidFill>
                      <a:srgbClr val="7A8D9E"/>
                    </a:solidFill>
                    <a:latin typeface="Assistant"/>
                    <a:ea typeface="Assistant"/>
                    <a:cs typeface="Assistant"/>
                    <a:sym typeface="Assistant"/>
                  </a:rPr>
                  <a:t>80% Train / 20% Test</a:t>
                </a:r>
                <a:endParaRPr b="0" sz="850">
                  <a:solidFill>
                    <a:srgbClr val="7A8D9E"/>
                  </a:solidFill>
                  <a:latin typeface="Assistant"/>
                  <a:ea typeface="Assistant"/>
                  <a:cs typeface="Assistant"/>
                  <a:sym typeface="Assistant"/>
                </a:endParaRPr>
              </a:p>
            </p:txBody>
          </p:sp>
        </p:grpSp>
      </p:grpSp>
      <p:grpSp>
        <p:nvGrpSpPr>
          <p:cNvPr id="300" name="Google Shape;300;p22"/>
          <p:cNvGrpSpPr/>
          <p:nvPr/>
        </p:nvGrpSpPr>
        <p:grpSpPr>
          <a:xfrm>
            <a:off x="571500" y="4333875"/>
            <a:ext cx="8001000" cy="362100"/>
            <a:chOff x="571500" y="4333875"/>
            <a:chExt cx="8001000" cy="362100"/>
          </a:xfrm>
        </p:grpSpPr>
        <p:sp>
          <p:nvSpPr>
            <p:cNvPr id="301" name="Google Shape;301;p22"/>
            <p:cNvSpPr/>
            <p:nvPr/>
          </p:nvSpPr>
          <p:spPr>
            <a:xfrm>
              <a:off x="571500" y="4333875"/>
              <a:ext cx="8001000" cy="362100"/>
            </a:xfrm>
            <a:prstGeom prst="roundRect">
              <a:avLst>
                <a:gd fmla="val 10526" name="adj"/>
              </a:avLst>
            </a:prstGeom>
            <a:solidFill>
              <a:srgbClr val="0A0E1A"/>
            </a:solidFill>
            <a:ln cap="flat" cmpd="sng" w="9525">
              <a:solidFill>
                <a:srgbClr val="1F2E4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02" name="Google Shape;302;p22"/>
            <p:cNvSpPr/>
            <p:nvPr/>
          </p:nvSpPr>
          <p:spPr>
            <a:xfrm>
              <a:off x="7772400" y="4476750"/>
              <a:ext cx="76200" cy="76200"/>
            </a:xfrm>
            <a:prstGeom prst="ellipse">
              <a:avLst/>
            </a:prstGeom>
            <a:solidFill>
              <a:srgbClr val="10B98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03" name="Google Shape;303;p22"/>
            <p:cNvSpPr txBox="1"/>
            <p:nvPr/>
          </p:nvSpPr>
          <p:spPr>
            <a:xfrm>
              <a:off x="714375" y="4333875"/>
              <a:ext cx="6905700" cy="362100"/>
            </a:xfrm>
            <a:prstGeom prst="rect">
              <a:avLst/>
            </a:prstGeom>
            <a:noFill/>
            <a:ln>
              <a:noFill/>
            </a:ln>
          </p:spPr>
          <p:txBody>
            <a:bodyPr anchorCtr="0" anchor="ctr" bIns="0" lIns="0" spcFirstLastPara="1" rIns="0" wrap="square" tIns="0">
              <a:noAutofit/>
            </a:bodyPr>
            <a:lstStyle/>
            <a:p>
              <a:pPr indent="0" lvl="0" marL="0" rtl="1" algn="r">
                <a:spcBef>
                  <a:spcPts val="0"/>
                </a:spcBef>
                <a:spcAft>
                  <a:spcPts val="0"/>
                </a:spcAft>
                <a:buNone/>
              </a:pPr>
              <a:r>
                <a:rPr b="1" lang="iw" sz="900">
                  <a:solidFill>
                    <a:srgbClr val="10B981"/>
                  </a:solidFill>
                  <a:latin typeface="Courier New"/>
                  <a:ea typeface="Courier New"/>
                  <a:cs typeface="Courier New"/>
                  <a:sym typeface="Courier New"/>
                </a:rPr>
                <a:t>תוצר התהליך:</a:t>
              </a:r>
              <a:r>
                <a:rPr b="1" lang="iw" sz="900">
                  <a:solidFill>
                    <a:srgbClr val="00E5FF"/>
                  </a:solidFill>
                  <a:latin typeface="Courier New"/>
                  <a:ea typeface="Courier New"/>
                  <a:cs typeface="Courier New"/>
                  <a:sym typeface="Courier New"/>
                </a:rPr>
                <a:t> </a:t>
              </a:r>
              <a:r>
                <a:rPr b="0" lang="iw" sz="900">
                  <a:solidFill>
                    <a:srgbClr val="7A8D9E"/>
                  </a:solidFill>
                  <a:latin typeface="Assistant"/>
                  <a:ea typeface="Assistant"/>
                  <a:cs typeface="Assistant"/>
                  <a:sym typeface="Assistant"/>
                </a:rPr>
                <a:t>נתונים נקיים, מנורמלים ומוכנים באופן מלא לשלב האימון וההשוואה בין מודלי הסיווג השונים.</a:t>
              </a:r>
              <a:endParaRPr b="1" sz="900">
                <a:solidFill>
                  <a:srgbClr val="00E5FF"/>
                </a:solidFill>
                <a:latin typeface="Courier New"/>
                <a:ea typeface="Courier New"/>
                <a:cs typeface="Courier New"/>
                <a:sym typeface="Courier New"/>
              </a:endParaRPr>
            </a:p>
          </p:txBody>
        </p:sp>
      </p:grpSp>
      <p:sp>
        <p:nvSpPr>
          <p:cNvPr id="304" name="Google Shape;304;p22"/>
          <p:cNvSpPr txBox="1"/>
          <p:nvPr/>
        </p:nvSpPr>
        <p:spPr>
          <a:xfrm>
            <a:off x="1664600" y="606550"/>
            <a:ext cx="6954300" cy="338700"/>
          </a:xfrm>
          <a:prstGeom prst="rect">
            <a:avLst/>
          </a:prstGeom>
          <a:noFill/>
          <a:ln>
            <a:noFill/>
          </a:ln>
        </p:spPr>
        <p:txBody>
          <a:bodyPr anchorCtr="0" anchor="t" bIns="91425" lIns="91425" spcFirstLastPara="1" rIns="91425" wrap="square" tIns="91425">
            <a:spAutoFit/>
          </a:bodyPr>
          <a:lstStyle/>
          <a:p>
            <a:pPr indent="0" lvl="0" marL="0" rtl="1" algn="r">
              <a:spcBef>
                <a:spcPts val="0"/>
              </a:spcBef>
              <a:spcAft>
                <a:spcPts val="0"/>
              </a:spcAft>
              <a:buNone/>
            </a:pPr>
            <a:r>
              <a:rPr lang="iw" sz="1000">
                <a:solidFill>
                  <a:schemeClr val="lt1"/>
                </a:solidFill>
                <a:latin typeface="Assistant"/>
                <a:ea typeface="Assistant"/>
                <a:cs typeface="Assistant"/>
                <a:sym typeface="Assistant"/>
              </a:rPr>
              <a:t>לפני אימון מודלי למידת המכונה, בוצע תהליך עיבוד מקדים (Preprocessing) במטרה להכין את הנתונים לניתוח ולשפר את איכות המודל. </a:t>
            </a:r>
            <a:endParaRPr sz="1000">
              <a:solidFill>
                <a:schemeClr val="lt1"/>
              </a:solidFill>
              <a:latin typeface="Assistant"/>
              <a:ea typeface="Assistant"/>
              <a:cs typeface="Assistant"/>
              <a:sym typeface="Assistant"/>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212C"/>
        </a:solidFill>
      </p:bgPr>
    </p:bg>
    <p:spTree>
      <p:nvGrpSpPr>
        <p:cNvPr id="308" name="Shape 308"/>
        <p:cNvGrpSpPr/>
        <p:nvPr/>
      </p:nvGrpSpPr>
      <p:grpSpPr>
        <a:xfrm>
          <a:off x="0" y="0"/>
          <a:ext cx="0" cy="0"/>
          <a:chOff x="0" y="0"/>
          <a:chExt cx="0" cy="0"/>
        </a:xfrm>
      </p:grpSpPr>
      <p:grpSp>
        <p:nvGrpSpPr>
          <p:cNvPr id="309" name="Google Shape;309;p23"/>
          <p:cNvGrpSpPr/>
          <p:nvPr/>
        </p:nvGrpSpPr>
        <p:grpSpPr>
          <a:xfrm>
            <a:off x="4381500" y="238125"/>
            <a:ext cx="4191000" cy="428700"/>
            <a:chOff x="4381500" y="238125"/>
            <a:chExt cx="4191000" cy="428700"/>
          </a:xfrm>
        </p:grpSpPr>
        <p:sp>
          <p:nvSpPr>
            <p:cNvPr id="310" name="Google Shape;310;p23"/>
            <p:cNvSpPr/>
            <p:nvPr/>
          </p:nvSpPr>
          <p:spPr>
            <a:xfrm>
              <a:off x="4381500" y="238125"/>
              <a:ext cx="4191000" cy="4287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1" name="Google Shape;311;p23"/>
            <p:cNvSpPr txBox="1"/>
            <p:nvPr/>
          </p:nvSpPr>
          <p:spPr>
            <a:xfrm>
              <a:off x="4381500" y="238125"/>
              <a:ext cx="4191000" cy="428700"/>
            </a:xfrm>
            <a:prstGeom prst="rect">
              <a:avLst/>
            </a:prstGeom>
            <a:noFill/>
            <a:ln>
              <a:noFill/>
            </a:ln>
          </p:spPr>
          <p:txBody>
            <a:bodyPr anchorCtr="0" anchor="ctr" bIns="0" lIns="0" spcFirstLastPara="1" rIns="0" wrap="square" tIns="0">
              <a:noAutofit/>
            </a:bodyPr>
            <a:lstStyle/>
            <a:p>
              <a:pPr indent="0" lvl="0" marL="0" rtl="1" algn="r">
                <a:spcBef>
                  <a:spcPts val="0"/>
                </a:spcBef>
                <a:spcAft>
                  <a:spcPts val="0"/>
                </a:spcAft>
                <a:buNone/>
              </a:pPr>
              <a:r>
                <a:rPr b="0" lang="iw" sz="2400">
                  <a:solidFill>
                    <a:srgbClr val="FFFFFF"/>
                  </a:solidFill>
                  <a:latin typeface="Assistant ExtraBold"/>
                  <a:ea typeface="Assistant ExtraBold"/>
                  <a:cs typeface="Assistant ExtraBold"/>
                  <a:sym typeface="Assistant ExtraBold"/>
                </a:rPr>
                <a:t>ארכיטקטורת המערכת</a:t>
              </a:r>
              <a:endParaRPr b="0" sz="2400">
                <a:solidFill>
                  <a:srgbClr val="FFFFFF"/>
                </a:solidFill>
                <a:latin typeface="Assistant ExtraBold"/>
                <a:ea typeface="Assistant ExtraBold"/>
                <a:cs typeface="Assistant ExtraBold"/>
                <a:sym typeface="Assistant ExtraBold"/>
              </a:endParaRPr>
            </a:p>
          </p:txBody>
        </p:sp>
      </p:grpSp>
      <p:grpSp>
        <p:nvGrpSpPr>
          <p:cNvPr id="312" name="Google Shape;312;p23"/>
          <p:cNvGrpSpPr/>
          <p:nvPr/>
        </p:nvGrpSpPr>
        <p:grpSpPr>
          <a:xfrm>
            <a:off x="1619250" y="600075"/>
            <a:ext cx="6953400" cy="333300"/>
            <a:chOff x="1619250" y="600075"/>
            <a:chExt cx="6953400" cy="333300"/>
          </a:xfrm>
        </p:grpSpPr>
        <p:sp>
          <p:nvSpPr>
            <p:cNvPr id="313" name="Google Shape;313;p23"/>
            <p:cNvSpPr/>
            <p:nvPr/>
          </p:nvSpPr>
          <p:spPr>
            <a:xfrm>
              <a:off x="1619250" y="600075"/>
              <a:ext cx="6953400" cy="3333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4" name="Google Shape;314;p23"/>
            <p:cNvSpPr txBox="1"/>
            <p:nvPr/>
          </p:nvSpPr>
          <p:spPr>
            <a:xfrm>
              <a:off x="1619250" y="600075"/>
              <a:ext cx="6953400" cy="333300"/>
            </a:xfrm>
            <a:prstGeom prst="rect">
              <a:avLst/>
            </a:prstGeom>
            <a:noFill/>
            <a:ln>
              <a:noFill/>
            </a:ln>
          </p:spPr>
          <p:txBody>
            <a:bodyPr anchorCtr="0" anchor="t" bIns="47625" lIns="47625" spcFirstLastPara="1" rIns="47625" wrap="square" tIns="47625">
              <a:noAutofit/>
            </a:bodyPr>
            <a:lstStyle/>
            <a:p>
              <a:pPr indent="0" lvl="0" marL="0" rtl="1" algn="r">
                <a:spcBef>
                  <a:spcPts val="0"/>
                </a:spcBef>
                <a:spcAft>
                  <a:spcPts val="0"/>
                </a:spcAft>
                <a:buNone/>
              </a:pPr>
              <a:r>
                <a:rPr b="0" lang="iw" sz="1000">
                  <a:solidFill>
                    <a:srgbClr val="7A8D9E"/>
                  </a:solidFill>
                  <a:latin typeface="Assistant"/>
                  <a:ea typeface="Assistant"/>
                  <a:cs typeface="Assistant"/>
                  <a:sym typeface="Assistant"/>
                </a:rPr>
                <a:t>מבנה זרימת הנתונים מקצה לקצה: החל מטעינת מאגר המידע, דרך עיבוד והפקת מאפיינים, אימון מודלים ועד להגשה למשתמש הקצה.</a:t>
              </a:r>
              <a:endParaRPr b="0" sz="1000">
                <a:solidFill>
                  <a:srgbClr val="7A8D9E"/>
                </a:solidFill>
                <a:latin typeface="Assistant"/>
                <a:ea typeface="Assistant"/>
                <a:cs typeface="Assistant"/>
                <a:sym typeface="Assistant"/>
              </a:endParaRPr>
            </a:p>
          </p:txBody>
        </p:sp>
      </p:grpSp>
      <p:grpSp>
        <p:nvGrpSpPr>
          <p:cNvPr id="315" name="Google Shape;315;p23"/>
          <p:cNvGrpSpPr/>
          <p:nvPr/>
        </p:nvGrpSpPr>
        <p:grpSpPr>
          <a:xfrm>
            <a:off x="4381500" y="904875"/>
            <a:ext cx="4191000" cy="3238500"/>
            <a:chOff x="4381500" y="904875"/>
            <a:chExt cx="4191000" cy="3238500"/>
          </a:xfrm>
        </p:grpSpPr>
        <p:sp>
          <p:nvSpPr>
            <p:cNvPr id="316" name="Google Shape;316;p23"/>
            <p:cNvSpPr/>
            <p:nvPr/>
          </p:nvSpPr>
          <p:spPr>
            <a:xfrm>
              <a:off x="4381500" y="904875"/>
              <a:ext cx="4191000" cy="3238500"/>
            </a:xfrm>
            <a:prstGeom prst="roundRect">
              <a:avLst>
                <a:gd fmla="val 1764" name="adj"/>
              </a:avLst>
            </a:prstGeom>
            <a:solidFill>
              <a:srgbClr val="0E1524"/>
            </a:solidFill>
            <a:ln cap="flat" cmpd="sng" w="9525">
              <a:solidFill>
                <a:srgbClr val="1F2E4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7" name="Google Shape;317;p23"/>
            <p:cNvSpPr/>
            <p:nvPr/>
          </p:nvSpPr>
          <p:spPr>
            <a:xfrm>
              <a:off x="4381500" y="904875"/>
              <a:ext cx="4191000" cy="38100"/>
            </a:xfrm>
            <a:prstGeom prst="rect">
              <a:avLst/>
            </a:prstGeom>
            <a:solidFill>
              <a:srgbClr val="00E5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8" name="Google Shape;318;p23"/>
            <p:cNvSpPr txBox="1"/>
            <p:nvPr/>
          </p:nvSpPr>
          <p:spPr>
            <a:xfrm>
              <a:off x="4572000" y="1047750"/>
              <a:ext cx="3810000" cy="2952900"/>
            </a:xfrm>
            <a:prstGeom prst="rect">
              <a:avLst/>
            </a:prstGeom>
            <a:noFill/>
            <a:ln>
              <a:noFill/>
            </a:ln>
          </p:spPr>
          <p:txBody>
            <a:bodyPr anchorCtr="0" anchor="t" bIns="0" lIns="0" spcFirstLastPara="1" rIns="0" wrap="square" tIns="0">
              <a:noAutofit/>
            </a:bodyPr>
            <a:lstStyle/>
            <a:p>
              <a:pPr indent="0" lvl="0" marL="0" rtl="1" algn="r">
                <a:spcBef>
                  <a:spcPts val="0"/>
                </a:spcBef>
                <a:spcAft>
                  <a:spcPts val="0"/>
                </a:spcAft>
                <a:buNone/>
              </a:pPr>
              <a:r>
                <a:rPr b="1" lang="iw" sz="900">
                  <a:solidFill>
                    <a:srgbClr val="00E5FF"/>
                  </a:solidFill>
                  <a:latin typeface="Courier New"/>
                  <a:ea typeface="Courier New"/>
                  <a:cs typeface="Courier New"/>
                  <a:sym typeface="Courier New"/>
                </a:rPr>
                <a:t>SYSTEM_ARCHITECTURE / 01</a:t>
              </a:r>
              <a:endParaRPr b="1" sz="900">
                <a:solidFill>
                  <a:srgbClr val="00E5FF"/>
                </a:solidFill>
                <a:latin typeface="Courier New"/>
                <a:ea typeface="Courier New"/>
                <a:cs typeface="Courier New"/>
                <a:sym typeface="Courier New"/>
              </a:endParaRPr>
            </a:p>
            <a:p>
              <a:pPr indent="0" lvl="0" marL="0" rtl="1" algn="r">
                <a:spcBef>
                  <a:spcPts val="300"/>
                </a:spcBef>
                <a:spcAft>
                  <a:spcPts val="0"/>
                </a:spcAft>
                <a:buNone/>
              </a:pPr>
              <a:r>
                <a:rPr b="1" lang="iw" sz="1300">
                  <a:solidFill>
                    <a:srgbClr val="FFFFFF"/>
                  </a:solidFill>
                  <a:latin typeface="Assistant"/>
                  <a:ea typeface="Assistant"/>
                  <a:cs typeface="Assistant"/>
                  <a:sym typeface="Assistant"/>
                </a:rPr>
                <a:t>פירוט שלבי הארכיטקטורה</a:t>
              </a:r>
              <a:endParaRPr b="1" sz="1300">
                <a:solidFill>
                  <a:srgbClr val="FFFFFF"/>
                </a:solidFill>
                <a:latin typeface="Assistant"/>
                <a:ea typeface="Assistant"/>
                <a:cs typeface="Assistant"/>
                <a:sym typeface="Assistant"/>
              </a:endParaRPr>
            </a:p>
            <a:p>
              <a:pPr indent="0" lvl="0" marL="0" rtl="1" algn="r">
                <a:spcBef>
                  <a:spcPts val="900"/>
                </a:spcBef>
                <a:spcAft>
                  <a:spcPts val="0"/>
                </a:spcAft>
                <a:buNone/>
              </a:pPr>
              <a:r>
                <a:rPr b="1" lang="iw" sz="1150">
                  <a:solidFill>
                    <a:srgbClr val="00E5FF"/>
                  </a:solidFill>
                  <a:latin typeface="Assistant"/>
                  <a:ea typeface="Assistant"/>
                  <a:cs typeface="Assistant"/>
                  <a:sym typeface="Assistant"/>
                </a:rPr>
                <a:t>1. Dataset &amp; Preprocessing</a:t>
              </a:r>
              <a:endParaRPr b="1" sz="1150">
                <a:solidFill>
                  <a:srgbClr val="00E5FF"/>
                </a:solidFill>
                <a:latin typeface="Assistant"/>
                <a:ea typeface="Assistant"/>
                <a:cs typeface="Assistant"/>
                <a:sym typeface="Assistant"/>
              </a:endParaRPr>
            </a:p>
            <a:p>
              <a:pPr indent="0" lvl="0" marL="0" rtl="1" algn="r">
                <a:spcBef>
                  <a:spcPts val="75"/>
                </a:spcBef>
                <a:spcAft>
                  <a:spcPts val="0"/>
                </a:spcAft>
                <a:buNone/>
              </a:pPr>
              <a:r>
                <a:rPr b="0" lang="iw" sz="1000">
                  <a:solidFill>
                    <a:srgbClr val="7A8D9E"/>
                  </a:solidFill>
                  <a:latin typeface="Assistant"/>
                  <a:ea typeface="Assistant"/>
                  <a:cs typeface="Assistant"/>
                  <a:sym typeface="Assistant"/>
                </a:rPr>
                <a:t>טעינת קובץ הנתונים וביצוע עיבוד מקדים הכולל ניקוי, טיפול בערכים חסרים ונרמול משתנים קליניים.</a:t>
              </a:r>
              <a:endParaRPr b="0" sz="1000">
                <a:solidFill>
                  <a:srgbClr val="7A8D9E"/>
                </a:solidFill>
                <a:latin typeface="Assistant"/>
                <a:ea typeface="Assistant"/>
                <a:cs typeface="Assistant"/>
                <a:sym typeface="Assistant"/>
              </a:endParaRPr>
            </a:p>
            <a:p>
              <a:pPr indent="0" lvl="0" marL="0" rtl="1" algn="r">
                <a:spcBef>
                  <a:spcPts val="600"/>
                </a:spcBef>
                <a:spcAft>
                  <a:spcPts val="0"/>
                </a:spcAft>
                <a:buNone/>
              </a:pPr>
              <a:r>
                <a:rPr b="1" lang="iw" sz="1150">
                  <a:solidFill>
                    <a:srgbClr val="00E5FF"/>
                  </a:solidFill>
                  <a:latin typeface="Assistant"/>
                  <a:ea typeface="Assistant"/>
                  <a:cs typeface="Assistant"/>
                  <a:sym typeface="Assistant"/>
                </a:rPr>
                <a:t>2. Feature Extraction &amp; Training</a:t>
              </a:r>
              <a:endParaRPr b="1" sz="1150">
                <a:solidFill>
                  <a:srgbClr val="00E5FF"/>
                </a:solidFill>
                <a:latin typeface="Assistant"/>
                <a:ea typeface="Assistant"/>
                <a:cs typeface="Assistant"/>
                <a:sym typeface="Assistant"/>
              </a:endParaRPr>
            </a:p>
            <a:p>
              <a:pPr indent="0" lvl="0" marL="0" rtl="1" algn="r">
                <a:spcBef>
                  <a:spcPts val="75"/>
                </a:spcBef>
                <a:spcAft>
                  <a:spcPts val="0"/>
                </a:spcAft>
                <a:buNone/>
              </a:pPr>
              <a:r>
                <a:rPr b="0" lang="iw" sz="1000">
                  <a:solidFill>
                    <a:srgbClr val="7A8D9E"/>
                  </a:solidFill>
                  <a:latin typeface="Assistant"/>
                  <a:ea typeface="Assistant"/>
                  <a:cs typeface="Assistant"/>
                  <a:sym typeface="Assistant"/>
                </a:rPr>
                <a:t>חילוץ ובחירת המאפיינים הרלוונטיים ביותר לחיזוי. חלוקת המידע ואימון מודלים מקבילים של SVM ו־Random Forest.</a:t>
              </a:r>
              <a:endParaRPr b="0" sz="1000">
                <a:solidFill>
                  <a:srgbClr val="7A8D9E"/>
                </a:solidFill>
                <a:latin typeface="Assistant"/>
                <a:ea typeface="Assistant"/>
                <a:cs typeface="Assistant"/>
                <a:sym typeface="Assistant"/>
              </a:endParaRPr>
            </a:p>
            <a:p>
              <a:pPr indent="0" lvl="0" marL="0" rtl="1" algn="r">
                <a:spcBef>
                  <a:spcPts val="600"/>
                </a:spcBef>
                <a:spcAft>
                  <a:spcPts val="0"/>
                </a:spcAft>
                <a:buNone/>
              </a:pPr>
              <a:r>
                <a:rPr b="1" lang="iw" sz="1150">
                  <a:solidFill>
                    <a:srgbClr val="00E5FF"/>
                  </a:solidFill>
                  <a:latin typeface="Assistant"/>
                  <a:ea typeface="Assistant"/>
                  <a:cs typeface="Assistant"/>
                  <a:sym typeface="Assistant"/>
                </a:rPr>
                <a:t>3. Prediction &amp; Serving</a:t>
              </a:r>
              <a:endParaRPr b="1" sz="1150">
                <a:solidFill>
                  <a:srgbClr val="00E5FF"/>
                </a:solidFill>
                <a:latin typeface="Assistant"/>
                <a:ea typeface="Assistant"/>
                <a:cs typeface="Assistant"/>
                <a:sym typeface="Assistant"/>
              </a:endParaRPr>
            </a:p>
            <a:p>
              <a:pPr indent="0" lvl="0" marL="0" rtl="1" algn="r">
                <a:spcBef>
                  <a:spcPts val="75"/>
                </a:spcBef>
                <a:spcAft>
                  <a:spcPts val="0"/>
                </a:spcAft>
                <a:buNone/>
              </a:pPr>
              <a:r>
                <a:rPr b="0" lang="iw" sz="1000">
                  <a:solidFill>
                    <a:srgbClr val="7A8D9E"/>
                  </a:solidFill>
                  <a:latin typeface="Assistant"/>
                  <a:ea typeface="Assistant"/>
                  <a:cs typeface="Assistant"/>
                  <a:sym typeface="Assistant"/>
                </a:rPr>
                <a:t>קבלת החלטה וחיזוי הסתברותי למחלת לב, המונגש בזמן אמת באמצעות שרת Flask ייעודי לממשק המשתמש.</a:t>
              </a:r>
              <a:endParaRPr b="0" sz="1000">
                <a:solidFill>
                  <a:srgbClr val="7A8D9E"/>
                </a:solidFill>
                <a:latin typeface="Assistant"/>
                <a:ea typeface="Assistant"/>
                <a:cs typeface="Assistant"/>
                <a:sym typeface="Assistant"/>
              </a:endParaRPr>
            </a:p>
          </p:txBody>
        </p:sp>
      </p:grpSp>
      <p:grpSp>
        <p:nvGrpSpPr>
          <p:cNvPr id="319" name="Google Shape;319;p23"/>
          <p:cNvGrpSpPr/>
          <p:nvPr/>
        </p:nvGrpSpPr>
        <p:grpSpPr>
          <a:xfrm>
            <a:off x="571500" y="904875"/>
            <a:ext cx="3429000" cy="3238500"/>
            <a:chOff x="571500" y="904875"/>
            <a:chExt cx="3429000" cy="3238500"/>
          </a:xfrm>
        </p:grpSpPr>
        <p:sp>
          <p:nvSpPr>
            <p:cNvPr id="320" name="Google Shape;320;p23"/>
            <p:cNvSpPr/>
            <p:nvPr/>
          </p:nvSpPr>
          <p:spPr>
            <a:xfrm>
              <a:off x="571500" y="904875"/>
              <a:ext cx="3429000" cy="3238500"/>
            </a:xfrm>
            <a:prstGeom prst="roundRect">
              <a:avLst>
                <a:gd fmla="val 1764" name="adj"/>
              </a:avLst>
            </a:prstGeom>
            <a:solidFill>
              <a:srgbClr val="0E1524"/>
            </a:solidFill>
            <a:ln cap="flat" cmpd="sng" w="9525">
              <a:solidFill>
                <a:srgbClr val="1F2E4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21" name="Google Shape;321;p23"/>
            <p:cNvSpPr/>
            <p:nvPr/>
          </p:nvSpPr>
          <p:spPr>
            <a:xfrm>
              <a:off x="571500" y="904875"/>
              <a:ext cx="3429000" cy="38100"/>
            </a:xfrm>
            <a:prstGeom prst="rect">
              <a:avLst/>
            </a:prstGeom>
            <a:solidFill>
              <a:srgbClr val="10B98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22" name="Google Shape;322;p23"/>
            <p:cNvSpPr txBox="1"/>
            <p:nvPr/>
          </p:nvSpPr>
          <p:spPr>
            <a:xfrm>
              <a:off x="762000" y="1000125"/>
              <a:ext cx="3048000" cy="238200"/>
            </a:xfrm>
            <a:prstGeom prst="rect">
              <a:avLst/>
            </a:prstGeom>
            <a:noFill/>
            <a:ln>
              <a:noFill/>
            </a:ln>
          </p:spPr>
          <p:txBody>
            <a:bodyPr anchorCtr="0" anchor="ctr" bIns="0" lIns="0" spcFirstLastPara="1" rIns="0" wrap="square" tIns="0">
              <a:noAutofit/>
            </a:bodyPr>
            <a:lstStyle/>
            <a:p>
              <a:pPr indent="0" lvl="0" marL="0" rtl="1" algn="r">
                <a:spcBef>
                  <a:spcPts val="0"/>
                </a:spcBef>
                <a:spcAft>
                  <a:spcPts val="0"/>
                </a:spcAft>
                <a:buNone/>
              </a:pPr>
              <a:r>
                <a:rPr b="1" lang="iw" sz="900">
                  <a:solidFill>
                    <a:srgbClr val="10B981"/>
                  </a:solidFill>
                  <a:latin typeface="Courier New"/>
                  <a:ea typeface="Courier New"/>
                  <a:cs typeface="Courier New"/>
                  <a:sym typeface="Courier New"/>
                </a:rPr>
                <a:t>PIPELINE_FLOW / 02</a:t>
              </a:r>
              <a:endParaRPr b="1" sz="900">
                <a:solidFill>
                  <a:srgbClr val="10B981"/>
                </a:solidFill>
                <a:latin typeface="Courier New"/>
                <a:ea typeface="Courier New"/>
                <a:cs typeface="Courier New"/>
                <a:sym typeface="Courier New"/>
              </a:endParaRPr>
            </a:p>
          </p:txBody>
        </p:sp>
        <p:grpSp>
          <p:nvGrpSpPr>
            <p:cNvPr id="323" name="Google Shape;323;p23"/>
            <p:cNvGrpSpPr/>
            <p:nvPr/>
          </p:nvGrpSpPr>
          <p:grpSpPr>
            <a:xfrm>
              <a:off x="1285875" y="1257300"/>
              <a:ext cx="2000250" cy="2686050"/>
              <a:chOff x="1285875" y="1257300"/>
              <a:chExt cx="2000250" cy="2686050"/>
            </a:xfrm>
          </p:grpSpPr>
          <p:sp>
            <p:nvSpPr>
              <p:cNvPr id="324" name="Google Shape;324;p23"/>
              <p:cNvSpPr/>
              <p:nvPr/>
            </p:nvSpPr>
            <p:spPr>
              <a:xfrm>
                <a:off x="1285875" y="1257300"/>
                <a:ext cx="2000100" cy="324000"/>
              </a:xfrm>
              <a:prstGeom prst="roundRect">
                <a:avLst>
                  <a:gd fmla="val 11764" name="adj"/>
                </a:avLst>
              </a:prstGeom>
              <a:solidFill>
                <a:srgbClr val="1A2536"/>
              </a:solidFill>
              <a:ln cap="flat" cmpd="sng" w="9525">
                <a:solidFill>
                  <a:srgbClr val="1F3254"/>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25" name="Google Shape;325;p23"/>
              <p:cNvSpPr txBox="1"/>
              <p:nvPr/>
            </p:nvSpPr>
            <p:spPr>
              <a:xfrm>
                <a:off x="1285875" y="1257300"/>
                <a:ext cx="2000100" cy="324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iw" sz="950">
                    <a:solidFill>
                      <a:srgbClr val="FFFFFF"/>
                    </a:solidFill>
                    <a:latin typeface="Courier New"/>
                    <a:ea typeface="Courier New"/>
                    <a:cs typeface="Courier New"/>
                    <a:sym typeface="Courier New"/>
                  </a:rPr>
                  <a:t>Dataset</a:t>
                </a:r>
                <a:endParaRPr b="1" sz="950">
                  <a:solidFill>
                    <a:srgbClr val="FFFFFF"/>
                  </a:solidFill>
                  <a:latin typeface="Courier New"/>
                  <a:ea typeface="Courier New"/>
                  <a:cs typeface="Courier New"/>
                  <a:sym typeface="Courier New"/>
                </a:endParaRPr>
              </a:p>
              <a:p>
                <a:pPr indent="0" lvl="0" marL="0" rtl="0" algn="ctr">
                  <a:spcBef>
                    <a:spcPts val="0"/>
                  </a:spcBef>
                  <a:spcAft>
                    <a:spcPts val="0"/>
                  </a:spcAft>
                  <a:buNone/>
                </a:pPr>
                <a:r>
                  <a:rPr b="0" lang="iw" sz="800">
                    <a:solidFill>
                      <a:srgbClr val="7A8D9E"/>
                    </a:solidFill>
                    <a:latin typeface="Assistant"/>
                    <a:ea typeface="Assistant"/>
                    <a:cs typeface="Assistant"/>
                    <a:sym typeface="Assistant"/>
                  </a:rPr>
                  <a:t>Heart Disease Kaggle</a:t>
                </a:r>
                <a:endParaRPr b="0" sz="800">
                  <a:solidFill>
                    <a:srgbClr val="7A8D9E"/>
                  </a:solidFill>
                  <a:latin typeface="Assistant"/>
                  <a:ea typeface="Assistant"/>
                  <a:cs typeface="Assistant"/>
                  <a:sym typeface="Assistant"/>
                </a:endParaRPr>
              </a:p>
            </p:txBody>
          </p:sp>
          <p:pic>
            <p:nvPicPr>
              <p:cNvPr id="326" name="Google Shape;326;p23"/>
              <p:cNvPicPr preferRelativeResize="0"/>
              <p:nvPr/>
            </p:nvPicPr>
            <p:blipFill rotWithShape="1">
              <a:blip r:embed="rId3">
                <a:alphaModFix/>
              </a:blip>
              <a:srcRect b="0" l="0" r="0" t="0"/>
              <a:stretch/>
            </p:blipFill>
            <p:spPr>
              <a:xfrm>
                <a:off x="2276475" y="1581150"/>
                <a:ext cx="19200" cy="114300"/>
              </a:xfrm>
              <a:prstGeom prst="rect">
                <a:avLst/>
              </a:prstGeom>
              <a:noFill/>
              <a:ln>
                <a:noFill/>
              </a:ln>
            </p:spPr>
          </p:pic>
          <p:pic>
            <p:nvPicPr>
              <p:cNvPr id="327" name="Google Shape;327;p23"/>
              <p:cNvPicPr preferRelativeResize="0"/>
              <p:nvPr/>
            </p:nvPicPr>
            <p:blipFill rotWithShape="1">
              <a:blip r:embed="rId4">
                <a:alphaModFix/>
              </a:blip>
              <a:srcRect b="0" l="0" r="0" t="0"/>
              <a:stretch/>
            </p:blipFill>
            <p:spPr>
              <a:xfrm>
                <a:off x="2257425" y="1676400"/>
                <a:ext cx="57300" cy="57300"/>
              </a:xfrm>
              <a:prstGeom prst="rect">
                <a:avLst/>
              </a:prstGeom>
              <a:noFill/>
              <a:ln>
                <a:noFill/>
              </a:ln>
            </p:spPr>
          </p:pic>
          <p:sp>
            <p:nvSpPr>
              <p:cNvPr id="328" name="Google Shape;328;p23"/>
              <p:cNvSpPr/>
              <p:nvPr/>
            </p:nvSpPr>
            <p:spPr>
              <a:xfrm>
                <a:off x="1285875" y="1733550"/>
                <a:ext cx="2000100" cy="324000"/>
              </a:xfrm>
              <a:prstGeom prst="roundRect">
                <a:avLst>
                  <a:gd fmla="val 11764" name="adj"/>
                </a:avLst>
              </a:prstGeom>
              <a:solidFill>
                <a:srgbClr val="152E3C"/>
              </a:solidFill>
              <a:ln cap="flat" cmpd="sng" w="9525">
                <a:solidFill>
                  <a:srgbClr val="10B98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29" name="Google Shape;329;p23"/>
              <p:cNvSpPr txBox="1"/>
              <p:nvPr/>
            </p:nvSpPr>
            <p:spPr>
              <a:xfrm>
                <a:off x="1285875" y="1733550"/>
                <a:ext cx="2000100" cy="324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iw" sz="950">
                    <a:solidFill>
                      <a:srgbClr val="FFFFFF"/>
                    </a:solidFill>
                    <a:latin typeface="Courier New"/>
                    <a:ea typeface="Courier New"/>
                    <a:cs typeface="Courier New"/>
                    <a:sym typeface="Courier New"/>
                  </a:rPr>
                  <a:t>Preprocessing</a:t>
                </a:r>
                <a:endParaRPr b="1" sz="950">
                  <a:solidFill>
                    <a:srgbClr val="FFFFFF"/>
                  </a:solidFill>
                  <a:latin typeface="Courier New"/>
                  <a:ea typeface="Courier New"/>
                  <a:cs typeface="Courier New"/>
                  <a:sym typeface="Courier New"/>
                </a:endParaRPr>
              </a:p>
              <a:p>
                <a:pPr indent="0" lvl="0" marL="0" rtl="0" algn="ctr">
                  <a:spcBef>
                    <a:spcPts val="0"/>
                  </a:spcBef>
                  <a:spcAft>
                    <a:spcPts val="0"/>
                  </a:spcAft>
                  <a:buNone/>
                </a:pPr>
                <a:r>
                  <a:rPr b="0" lang="iw" sz="800">
                    <a:solidFill>
                      <a:srgbClr val="7A8D9E"/>
                    </a:solidFill>
                    <a:latin typeface="Assistant"/>
                    <a:ea typeface="Assistant"/>
                    <a:cs typeface="Assistant"/>
                    <a:sym typeface="Assistant"/>
                  </a:rPr>
                  <a:t>Cleaning &amp; Scaling</a:t>
                </a:r>
                <a:endParaRPr b="0" sz="800">
                  <a:solidFill>
                    <a:srgbClr val="7A8D9E"/>
                  </a:solidFill>
                  <a:latin typeface="Assistant"/>
                  <a:ea typeface="Assistant"/>
                  <a:cs typeface="Assistant"/>
                  <a:sym typeface="Assistant"/>
                </a:endParaRPr>
              </a:p>
            </p:txBody>
          </p:sp>
          <p:pic>
            <p:nvPicPr>
              <p:cNvPr id="330" name="Google Shape;330;p23"/>
              <p:cNvPicPr preferRelativeResize="0"/>
              <p:nvPr/>
            </p:nvPicPr>
            <p:blipFill rotWithShape="1">
              <a:blip r:embed="rId3">
                <a:alphaModFix/>
              </a:blip>
              <a:srcRect b="0" l="0" r="0" t="0"/>
              <a:stretch/>
            </p:blipFill>
            <p:spPr>
              <a:xfrm>
                <a:off x="2276475" y="2057400"/>
                <a:ext cx="19200" cy="114300"/>
              </a:xfrm>
              <a:prstGeom prst="rect">
                <a:avLst/>
              </a:prstGeom>
              <a:noFill/>
              <a:ln>
                <a:noFill/>
              </a:ln>
            </p:spPr>
          </p:pic>
          <p:pic>
            <p:nvPicPr>
              <p:cNvPr id="331" name="Google Shape;331;p23"/>
              <p:cNvPicPr preferRelativeResize="0"/>
              <p:nvPr/>
            </p:nvPicPr>
            <p:blipFill rotWithShape="1">
              <a:blip r:embed="rId4">
                <a:alphaModFix/>
              </a:blip>
              <a:srcRect b="0" l="0" r="0" t="0"/>
              <a:stretch/>
            </p:blipFill>
            <p:spPr>
              <a:xfrm>
                <a:off x="2257425" y="2152650"/>
                <a:ext cx="57300" cy="57300"/>
              </a:xfrm>
              <a:prstGeom prst="rect">
                <a:avLst/>
              </a:prstGeom>
              <a:noFill/>
              <a:ln>
                <a:noFill/>
              </a:ln>
            </p:spPr>
          </p:pic>
          <p:sp>
            <p:nvSpPr>
              <p:cNvPr id="332" name="Google Shape;332;p23"/>
              <p:cNvSpPr/>
              <p:nvPr/>
            </p:nvSpPr>
            <p:spPr>
              <a:xfrm>
                <a:off x="1285875" y="2209800"/>
                <a:ext cx="2000100" cy="324000"/>
              </a:xfrm>
              <a:prstGeom prst="roundRect">
                <a:avLst>
                  <a:gd fmla="val 11764" name="adj"/>
                </a:avLst>
              </a:prstGeom>
              <a:solidFill>
                <a:srgbClr val="152E3C"/>
              </a:solidFill>
              <a:ln cap="flat" cmpd="sng" w="9525">
                <a:solidFill>
                  <a:srgbClr val="10B98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33" name="Google Shape;333;p23"/>
              <p:cNvSpPr txBox="1"/>
              <p:nvPr/>
            </p:nvSpPr>
            <p:spPr>
              <a:xfrm>
                <a:off x="1285875" y="2209800"/>
                <a:ext cx="2000100" cy="324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iw" sz="950">
                    <a:solidFill>
                      <a:srgbClr val="FFFFFF"/>
                    </a:solidFill>
                    <a:latin typeface="Courier New"/>
                    <a:ea typeface="Courier New"/>
                    <a:cs typeface="Courier New"/>
                    <a:sym typeface="Courier New"/>
                  </a:rPr>
                  <a:t>Feature Extraction</a:t>
                </a:r>
                <a:endParaRPr b="1" sz="950">
                  <a:solidFill>
                    <a:srgbClr val="FFFFFF"/>
                  </a:solidFill>
                  <a:latin typeface="Courier New"/>
                  <a:ea typeface="Courier New"/>
                  <a:cs typeface="Courier New"/>
                  <a:sym typeface="Courier New"/>
                </a:endParaRPr>
              </a:p>
              <a:p>
                <a:pPr indent="0" lvl="0" marL="0" rtl="0" algn="ctr">
                  <a:spcBef>
                    <a:spcPts val="0"/>
                  </a:spcBef>
                  <a:spcAft>
                    <a:spcPts val="0"/>
                  </a:spcAft>
                  <a:buNone/>
                </a:pPr>
                <a:r>
                  <a:rPr b="0" lang="iw" sz="800">
                    <a:solidFill>
                      <a:srgbClr val="7A8D9E"/>
                    </a:solidFill>
                    <a:latin typeface="Assistant"/>
                    <a:ea typeface="Assistant"/>
                    <a:cs typeface="Assistant"/>
                    <a:sym typeface="Assistant"/>
                  </a:rPr>
                  <a:t>13 Target Features</a:t>
                </a:r>
                <a:endParaRPr b="0" sz="800">
                  <a:solidFill>
                    <a:srgbClr val="7A8D9E"/>
                  </a:solidFill>
                  <a:latin typeface="Assistant"/>
                  <a:ea typeface="Assistant"/>
                  <a:cs typeface="Assistant"/>
                  <a:sym typeface="Assistant"/>
                </a:endParaRPr>
              </a:p>
            </p:txBody>
          </p:sp>
          <p:pic>
            <p:nvPicPr>
              <p:cNvPr id="334" name="Google Shape;334;p23"/>
              <p:cNvPicPr preferRelativeResize="0"/>
              <p:nvPr/>
            </p:nvPicPr>
            <p:blipFill rotWithShape="1">
              <a:blip r:embed="rId3">
                <a:alphaModFix/>
              </a:blip>
              <a:srcRect b="0" l="0" r="0" t="0"/>
              <a:stretch/>
            </p:blipFill>
            <p:spPr>
              <a:xfrm>
                <a:off x="2276475" y="2533650"/>
                <a:ext cx="19200" cy="114300"/>
              </a:xfrm>
              <a:prstGeom prst="rect">
                <a:avLst/>
              </a:prstGeom>
              <a:noFill/>
              <a:ln>
                <a:noFill/>
              </a:ln>
            </p:spPr>
          </p:pic>
          <p:pic>
            <p:nvPicPr>
              <p:cNvPr id="335" name="Google Shape;335;p23"/>
              <p:cNvPicPr preferRelativeResize="0"/>
              <p:nvPr/>
            </p:nvPicPr>
            <p:blipFill rotWithShape="1">
              <a:blip r:embed="rId4">
                <a:alphaModFix/>
              </a:blip>
              <a:srcRect b="0" l="0" r="0" t="0"/>
              <a:stretch/>
            </p:blipFill>
            <p:spPr>
              <a:xfrm>
                <a:off x="2257425" y="2628900"/>
                <a:ext cx="57300" cy="57300"/>
              </a:xfrm>
              <a:prstGeom prst="rect">
                <a:avLst/>
              </a:prstGeom>
              <a:noFill/>
              <a:ln>
                <a:noFill/>
              </a:ln>
            </p:spPr>
          </p:pic>
          <p:sp>
            <p:nvSpPr>
              <p:cNvPr id="336" name="Google Shape;336;p23"/>
              <p:cNvSpPr/>
              <p:nvPr/>
            </p:nvSpPr>
            <p:spPr>
              <a:xfrm>
                <a:off x="1285875" y="2686050"/>
                <a:ext cx="2000100" cy="324000"/>
              </a:xfrm>
              <a:prstGeom prst="roundRect">
                <a:avLst>
                  <a:gd fmla="val 11764" name="adj"/>
                </a:avLst>
              </a:prstGeom>
              <a:solidFill>
                <a:srgbClr val="152E3C"/>
              </a:solidFill>
              <a:ln cap="flat" cmpd="sng" w="9525">
                <a:solidFill>
                  <a:srgbClr val="10B98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37" name="Google Shape;337;p23"/>
              <p:cNvSpPr txBox="1"/>
              <p:nvPr/>
            </p:nvSpPr>
            <p:spPr>
              <a:xfrm>
                <a:off x="1285875" y="2686050"/>
                <a:ext cx="2000100" cy="324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iw" sz="950">
                    <a:solidFill>
                      <a:srgbClr val="FFFFFF"/>
                    </a:solidFill>
                    <a:latin typeface="Courier New"/>
                    <a:ea typeface="Courier New"/>
                    <a:cs typeface="Courier New"/>
                    <a:sym typeface="Courier New"/>
                  </a:rPr>
                  <a:t>Training</a:t>
                </a:r>
                <a:endParaRPr b="1" sz="950">
                  <a:solidFill>
                    <a:srgbClr val="FFFFFF"/>
                  </a:solidFill>
                  <a:latin typeface="Courier New"/>
                  <a:ea typeface="Courier New"/>
                  <a:cs typeface="Courier New"/>
                  <a:sym typeface="Courier New"/>
                </a:endParaRPr>
              </a:p>
              <a:p>
                <a:pPr indent="0" lvl="0" marL="0" rtl="0" algn="ctr">
                  <a:spcBef>
                    <a:spcPts val="0"/>
                  </a:spcBef>
                  <a:spcAft>
                    <a:spcPts val="0"/>
                  </a:spcAft>
                  <a:buNone/>
                </a:pPr>
                <a:r>
                  <a:rPr b="0" lang="iw" sz="800">
                    <a:solidFill>
                      <a:srgbClr val="7A8D9E"/>
                    </a:solidFill>
                    <a:latin typeface="Assistant"/>
                    <a:ea typeface="Assistant"/>
                    <a:cs typeface="Assistant"/>
                    <a:sym typeface="Assistant"/>
                  </a:rPr>
                  <a:t>Random Forest &amp; SVM</a:t>
                </a:r>
                <a:endParaRPr b="0" sz="800">
                  <a:solidFill>
                    <a:srgbClr val="7A8D9E"/>
                  </a:solidFill>
                  <a:latin typeface="Assistant"/>
                  <a:ea typeface="Assistant"/>
                  <a:cs typeface="Assistant"/>
                  <a:sym typeface="Assistant"/>
                </a:endParaRPr>
              </a:p>
            </p:txBody>
          </p:sp>
          <p:pic>
            <p:nvPicPr>
              <p:cNvPr id="338" name="Google Shape;338;p23"/>
              <p:cNvPicPr preferRelativeResize="0"/>
              <p:nvPr/>
            </p:nvPicPr>
            <p:blipFill rotWithShape="1">
              <a:blip r:embed="rId3">
                <a:alphaModFix/>
              </a:blip>
              <a:srcRect b="0" l="0" r="0" t="0"/>
              <a:stretch/>
            </p:blipFill>
            <p:spPr>
              <a:xfrm>
                <a:off x="2276475" y="3009900"/>
                <a:ext cx="19200" cy="114300"/>
              </a:xfrm>
              <a:prstGeom prst="rect">
                <a:avLst/>
              </a:prstGeom>
              <a:noFill/>
              <a:ln>
                <a:noFill/>
              </a:ln>
            </p:spPr>
          </p:pic>
          <p:pic>
            <p:nvPicPr>
              <p:cNvPr id="339" name="Google Shape;339;p23"/>
              <p:cNvPicPr preferRelativeResize="0"/>
              <p:nvPr/>
            </p:nvPicPr>
            <p:blipFill rotWithShape="1">
              <a:blip r:embed="rId4">
                <a:alphaModFix/>
              </a:blip>
              <a:srcRect b="0" l="0" r="0" t="0"/>
              <a:stretch/>
            </p:blipFill>
            <p:spPr>
              <a:xfrm>
                <a:off x="2257425" y="3105150"/>
                <a:ext cx="57300" cy="57300"/>
              </a:xfrm>
              <a:prstGeom prst="rect">
                <a:avLst/>
              </a:prstGeom>
              <a:noFill/>
              <a:ln>
                <a:noFill/>
              </a:ln>
            </p:spPr>
          </p:pic>
          <p:sp>
            <p:nvSpPr>
              <p:cNvPr id="340" name="Google Shape;340;p23"/>
              <p:cNvSpPr/>
              <p:nvPr/>
            </p:nvSpPr>
            <p:spPr>
              <a:xfrm>
                <a:off x="1285875" y="3162300"/>
                <a:ext cx="2000100" cy="324000"/>
              </a:xfrm>
              <a:prstGeom prst="roundRect">
                <a:avLst>
                  <a:gd fmla="val 11764" name="adj"/>
                </a:avLst>
              </a:prstGeom>
              <a:solidFill>
                <a:srgbClr val="152E3C"/>
              </a:solidFill>
              <a:ln cap="flat" cmpd="sng" w="9525">
                <a:solidFill>
                  <a:srgbClr val="10B98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41" name="Google Shape;341;p23"/>
              <p:cNvSpPr txBox="1"/>
              <p:nvPr/>
            </p:nvSpPr>
            <p:spPr>
              <a:xfrm>
                <a:off x="1285875" y="3162300"/>
                <a:ext cx="2000100" cy="324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iw" sz="950">
                    <a:solidFill>
                      <a:srgbClr val="FFFFFF"/>
                    </a:solidFill>
                    <a:latin typeface="Courier New"/>
                    <a:ea typeface="Courier New"/>
                    <a:cs typeface="Courier New"/>
                    <a:sym typeface="Courier New"/>
                  </a:rPr>
                  <a:t>Prediction</a:t>
                </a:r>
                <a:endParaRPr b="1" sz="950">
                  <a:solidFill>
                    <a:srgbClr val="FFFFFF"/>
                  </a:solidFill>
                  <a:latin typeface="Courier New"/>
                  <a:ea typeface="Courier New"/>
                  <a:cs typeface="Courier New"/>
                  <a:sym typeface="Courier New"/>
                </a:endParaRPr>
              </a:p>
              <a:p>
                <a:pPr indent="0" lvl="0" marL="0" rtl="0" algn="ctr">
                  <a:spcBef>
                    <a:spcPts val="0"/>
                  </a:spcBef>
                  <a:spcAft>
                    <a:spcPts val="0"/>
                  </a:spcAft>
                  <a:buNone/>
                </a:pPr>
                <a:r>
                  <a:rPr b="0" lang="iw" sz="800">
                    <a:solidFill>
                      <a:srgbClr val="7A8D9E"/>
                    </a:solidFill>
                    <a:latin typeface="Assistant"/>
                    <a:ea typeface="Assistant"/>
                    <a:cs typeface="Assistant"/>
                    <a:sym typeface="Assistant"/>
                  </a:rPr>
                  <a:t>Classification Output</a:t>
                </a:r>
                <a:endParaRPr b="0" sz="800">
                  <a:solidFill>
                    <a:srgbClr val="7A8D9E"/>
                  </a:solidFill>
                  <a:latin typeface="Assistant"/>
                  <a:ea typeface="Assistant"/>
                  <a:cs typeface="Assistant"/>
                  <a:sym typeface="Assistant"/>
                </a:endParaRPr>
              </a:p>
            </p:txBody>
          </p:sp>
          <p:pic>
            <p:nvPicPr>
              <p:cNvPr id="342" name="Google Shape;342;p23"/>
              <p:cNvPicPr preferRelativeResize="0"/>
              <p:nvPr/>
            </p:nvPicPr>
            <p:blipFill rotWithShape="1">
              <a:blip r:embed="rId3">
                <a:alphaModFix/>
              </a:blip>
              <a:srcRect b="0" l="0" r="0" t="0"/>
              <a:stretch/>
            </p:blipFill>
            <p:spPr>
              <a:xfrm>
                <a:off x="2276475" y="3486150"/>
                <a:ext cx="19200" cy="114300"/>
              </a:xfrm>
              <a:prstGeom prst="rect">
                <a:avLst/>
              </a:prstGeom>
              <a:noFill/>
              <a:ln>
                <a:noFill/>
              </a:ln>
            </p:spPr>
          </p:pic>
          <p:pic>
            <p:nvPicPr>
              <p:cNvPr id="343" name="Google Shape;343;p23"/>
              <p:cNvPicPr preferRelativeResize="0"/>
              <p:nvPr/>
            </p:nvPicPr>
            <p:blipFill rotWithShape="1">
              <a:blip r:embed="rId4">
                <a:alphaModFix/>
              </a:blip>
              <a:srcRect b="0" l="0" r="0" t="0"/>
              <a:stretch/>
            </p:blipFill>
            <p:spPr>
              <a:xfrm>
                <a:off x="2257425" y="3581400"/>
                <a:ext cx="57300" cy="57300"/>
              </a:xfrm>
              <a:prstGeom prst="rect">
                <a:avLst/>
              </a:prstGeom>
              <a:noFill/>
              <a:ln>
                <a:noFill/>
              </a:ln>
            </p:spPr>
          </p:pic>
          <p:sp>
            <p:nvSpPr>
              <p:cNvPr id="344" name="Google Shape;344;p23"/>
              <p:cNvSpPr/>
              <p:nvPr/>
            </p:nvSpPr>
            <p:spPr>
              <a:xfrm>
                <a:off x="1285875" y="3638550"/>
                <a:ext cx="952500" cy="304800"/>
              </a:xfrm>
              <a:prstGeom prst="roundRect">
                <a:avLst>
                  <a:gd fmla="val 12500" name="adj"/>
                </a:avLst>
              </a:prstGeom>
              <a:solidFill>
                <a:srgbClr val="0A2D3C"/>
              </a:solidFill>
              <a:ln cap="flat" cmpd="sng" w="9525">
                <a:solidFill>
                  <a:srgbClr val="00E5F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45" name="Google Shape;345;p23"/>
              <p:cNvSpPr txBox="1"/>
              <p:nvPr/>
            </p:nvSpPr>
            <p:spPr>
              <a:xfrm>
                <a:off x="1285875" y="3638550"/>
                <a:ext cx="952500" cy="304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iw" sz="850">
                    <a:solidFill>
                      <a:srgbClr val="FFFFFF"/>
                    </a:solidFill>
                    <a:latin typeface="Courier New"/>
                    <a:ea typeface="Courier New"/>
                    <a:cs typeface="Courier New"/>
                    <a:sym typeface="Courier New"/>
                  </a:rPr>
                  <a:t>Flask API</a:t>
                </a:r>
                <a:endParaRPr b="1" sz="850">
                  <a:solidFill>
                    <a:srgbClr val="FFFFFF"/>
                  </a:solidFill>
                  <a:latin typeface="Courier New"/>
                  <a:ea typeface="Courier New"/>
                  <a:cs typeface="Courier New"/>
                  <a:sym typeface="Courier New"/>
                </a:endParaRPr>
              </a:p>
            </p:txBody>
          </p:sp>
          <p:sp>
            <p:nvSpPr>
              <p:cNvPr id="346" name="Google Shape;346;p23"/>
              <p:cNvSpPr/>
              <p:nvPr/>
            </p:nvSpPr>
            <p:spPr>
              <a:xfrm>
                <a:off x="2333625" y="3638550"/>
                <a:ext cx="952500" cy="304800"/>
              </a:xfrm>
              <a:prstGeom prst="roundRect">
                <a:avLst>
                  <a:gd fmla="val 12500" name="adj"/>
                </a:avLst>
              </a:prstGeom>
              <a:solidFill>
                <a:srgbClr val="152E3C"/>
              </a:solidFill>
              <a:ln cap="flat" cmpd="sng" w="9525">
                <a:solidFill>
                  <a:srgbClr val="10B98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47" name="Google Shape;347;p23"/>
              <p:cNvSpPr txBox="1"/>
              <p:nvPr/>
            </p:nvSpPr>
            <p:spPr>
              <a:xfrm>
                <a:off x="2333625" y="3638550"/>
                <a:ext cx="952500" cy="304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iw" sz="850">
                    <a:solidFill>
                      <a:srgbClr val="FFFFFF"/>
                    </a:solidFill>
                    <a:latin typeface="Courier New"/>
                    <a:ea typeface="Courier New"/>
                    <a:cs typeface="Courier New"/>
                    <a:sym typeface="Courier New"/>
                  </a:rPr>
                  <a:t>User Interface</a:t>
                </a:r>
                <a:endParaRPr b="1" sz="850">
                  <a:solidFill>
                    <a:srgbClr val="FFFFFF"/>
                  </a:solidFill>
                  <a:latin typeface="Courier New"/>
                  <a:ea typeface="Courier New"/>
                  <a:cs typeface="Courier New"/>
                  <a:sym typeface="Courier New"/>
                </a:endParaRPr>
              </a:p>
            </p:txBody>
          </p:sp>
        </p:grpSp>
      </p:grpSp>
      <p:grpSp>
        <p:nvGrpSpPr>
          <p:cNvPr id="348" name="Google Shape;348;p23"/>
          <p:cNvGrpSpPr/>
          <p:nvPr/>
        </p:nvGrpSpPr>
        <p:grpSpPr>
          <a:xfrm>
            <a:off x="571500" y="4333875"/>
            <a:ext cx="8001000" cy="362100"/>
            <a:chOff x="571500" y="4333875"/>
            <a:chExt cx="8001000" cy="362100"/>
          </a:xfrm>
        </p:grpSpPr>
        <p:sp>
          <p:nvSpPr>
            <p:cNvPr id="349" name="Google Shape;349;p23"/>
            <p:cNvSpPr/>
            <p:nvPr/>
          </p:nvSpPr>
          <p:spPr>
            <a:xfrm>
              <a:off x="571500" y="4333875"/>
              <a:ext cx="8001000" cy="362100"/>
            </a:xfrm>
            <a:prstGeom prst="roundRect">
              <a:avLst>
                <a:gd fmla="val 10526" name="adj"/>
              </a:avLst>
            </a:prstGeom>
            <a:solidFill>
              <a:srgbClr val="0A0E1A"/>
            </a:solidFill>
            <a:ln cap="flat" cmpd="sng" w="9525">
              <a:solidFill>
                <a:srgbClr val="1F2E4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50" name="Google Shape;350;p23"/>
            <p:cNvSpPr/>
            <p:nvPr/>
          </p:nvSpPr>
          <p:spPr>
            <a:xfrm>
              <a:off x="7772400" y="4476750"/>
              <a:ext cx="76200" cy="76200"/>
            </a:xfrm>
            <a:prstGeom prst="ellipse">
              <a:avLst/>
            </a:prstGeom>
            <a:solidFill>
              <a:srgbClr val="10B98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51" name="Google Shape;351;p23"/>
            <p:cNvSpPr txBox="1"/>
            <p:nvPr/>
          </p:nvSpPr>
          <p:spPr>
            <a:xfrm>
              <a:off x="714375" y="4333875"/>
              <a:ext cx="6905700" cy="362100"/>
            </a:xfrm>
            <a:prstGeom prst="rect">
              <a:avLst/>
            </a:prstGeom>
            <a:noFill/>
            <a:ln>
              <a:noFill/>
            </a:ln>
          </p:spPr>
          <p:txBody>
            <a:bodyPr anchorCtr="0" anchor="ctr" bIns="0" lIns="0" spcFirstLastPara="1" rIns="0" wrap="square" tIns="0">
              <a:noAutofit/>
            </a:bodyPr>
            <a:lstStyle/>
            <a:p>
              <a:pPr indent="0" lvl="0" marL="0" rtl="1" algn="r">
                <a:spcBef>
                  <a:spcPts val="0"/>
                </a:spcBef>
                <a:spcAft>
                  <a:spcPts val="0"/>
                </a:spcAft>
                <a:buNone/>
              </a:pPr>
              <a:r>
                <a:rPr b="1" lang="iw" sz="900">
                  <a:solidFill>
                    <a:srgbClr val="10B981"/>
                  </a:solidFill>
                  <a:latin typeface="Courier New"/>
                  <a:ea typeface="Courier New"/>
                  <a:cs typeface="Courier New"/>
                  <a:sym typeface="Courier New"/>
                </a:rPr>
                <a:t>ארכיטקטורת צינור הנתונים: </a:t>
              </a:r>
              <a:r>
                <a:rPr b="0" lang="iw" sz="900">
                  <a:solidFill>
                    <a:srgbClr val="7A8D9E"/>
                  </a:solidFill>
                  <a:latin typeface="Assistant"/>
                  <a:ea typeface="Assistant"/>
                  <a:cs typeface="Assistant"/>
                  <a:sym typeface="Assistant"/>
                </a:rPr>
                <a:t>הזרמת מידע מלאה החל משלב טעינת הנתונים ועד לחשיפת התוצאות למשתמש הקצה באמצעות ממשק אינטרנטי מהיר.</a:t>
              </a:r>
              <a:endParaRPr b="1" sz="900">
                <a:solidFill>
                  <a:srgbClr val="10B981"/>
                </a:solidFill>
                <a:latin typeface="Courier New"/>
                <a:ea typeface="Courier New"/>
                <a:cs typeface="Courier New"/>
                <a:sym typeface="Courier New"/>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212C"/>
        </a:solidFill>
      </p:bgPr>
    </p:bg>
    <p:spTree>
      <p:nvGrpSpPr>
        <p:cNvPr id="355" name="Shape 355"/>
        <p:cNvGrpSpPr/>
        <p:nvPr/>
      </p:nvGrpSpPr>
      <p:grpSpPr>
        <a:xfrm>
          <a:off x="0" y="0"/>
          <a:ext cx="0" cy="0"/>
          <a:chOff x="0" y="0"/>
          <a:chExt cx="0" cy="0"/>
        </a:xfrm>
      </p:grpSpPr>
      <p:grpSp>
        <p:nvGrpSpPr>
          <p:cNvPr id="356" name="Google Shape;356;p24"/>
          <p:cNvGrpSpPr/>
          <p:nvPr/>
        </p:nvGrpSpPr>
        <p:grpSpPr>
          <a:xfrm>
            <a:off x="1619250" y="238125"/>
            <a:ext cx="6953400" cy="695250"/>
            <a:chOff x="1619250" y="238125"/>
            <a:chExt cx="6953400" cy="695250"/>
          </a:xfrm>
        </p:grpSpPr>
        <p:sp>
          <p:nvSpPr>
            <p:cNvPr id="357" name="Google Shape;357;p24"/>
            <p:cNvSpPr txBox="1"/>
            <p:nvPr/>
          </p:nvSpPr>
          <p:spPr>
            <a:xfrm>
              <a:off x="4381500" y="238125"/>
              <a:ext cx="4191000" cy="428700"/>
            </a:xfrm>
            <a:prstGeom prst="rect">
              <a:avLst/>
            </a:prstGeom>
            <a:noFill/>
            <a:ln>
              <a:noFill/>
            </a:ln>
          </p:spPr>
          <p:txBody>
            <a:bodyPr anchorCtr="0" anchor="ctr" bIns="0" lIns="0" spcFirstLastPara="1" rIns="0" wrap="square" tIns="0">
              <a:noAutofit/>
            </a:bodyPr>
            <a:lstStyle/>
            <a:p>
              <a:pPr indent="0" lvl="0" marL="0" rtl="1" algn="r">
                <a:spcBef>
                  <a:spcPts val="0"/>
                </a:spcBef>
                <a:spcAft>
                  <a:spcPts val="0"/>
                </a:spcAft>
                <a:buNone/>
              </a:pPr>
              <a:r>
                <a:rPr b="0" lang="iw" sz="2400">
                  <a:solidFill>
                    <a:srgbClr val="FFFFFF"/>
                  </a:solidFill>
                  <a:latin typeface="Assistant ExtraBold"/>
                  <a:ea typeface="Assistant ExtraBold"/>
                  <a:cs typeface="Assistant ExtraBold"/>
                  <a:sym typeface="Assistant ExtraBold"/>
                </a:rPr>
                <a:t>אלגוריתמי הסיווג במודל</a:t>
              </a:r>
              <a:endParaRPr b="0" sz="2400">
                <a:solidFill>
                  <a:srgbClr val="FFFFFF"/>
                </a:solidFill>
                <a:latin typeface="Assistant ExtraBold"/>
                <a:ea typeface="Assistant ExtraBold"/>
                <a:cs typeface="Assistant ExtraBold"/>
                <a:sym typeface="Assistant ExtraBold"/>
              </a:endParaRPr>
            </a:p>
          </p:txBody>
        </p:sp>
        <p:sp>
          <p:nvSpPr>
            <p:cNvPr id="358" name="Google Shape;358;p24"/>
            <p:cNvSpPr txBox="1"/>
            <p:nvPr/>
          </p:nvSpPr>
          <p:spPr>
            <a:xfrm>
              <a:off x="1619250" y="600075"/>
              <a:ext cx="6953400" cy="333300"/>
            </a:xfrm>
            <a:prstGeom prst="rect">
              <a:avLst/>
            </a:prstGeom>
            <a:noFill/>
            <a:ln>
              <a:noFill/>
            </a:ln>
          </p:spPr>
          <p:txBody>
            <a:bodyPr anchorCtr="0" anchor="t" bIns="0" lIns="0" spcFirstLastPara="1" rIns="0" wrap="square" tIns="0">
              <a:noAutofit/>
            </a:bodyPr>
            <a:lstStyle/>
            <a:p>
              <a:pPr indent="0" lvl="0" marL="0" rtl="1" algn="r">
                <a:spcBef>
                  <a:spcPts val="0"/>
                </a:spcBef>
                <a:spcAft>
                  <a:spcPts val="0"/>
                </a:spcAft>
                <a:buNone/>
              </a:pPr>
              <a:r>
                <a:rPr b="0" lang="iw" sz="1000">
                  <a:solidFill>
                    <a:srgbClr val="7A8D9E"/>
                  </a:solidFill>
                  <a:latin typeface="Assistant"/>
                  <a:ea typeface="Assistant"/>
                  <a:cs typeface="Assistant"/>
                  <a:sym typeface="Assistant"/>
                </a:rPr>
                <a:t>סקירה השוואתית של ארבעת מודלי למידת המכונה שנבחרו לחיזוי מחלות לב, כולל הגדרת מטרה ואיזון יתרונות מול חסרונות.</a:t>
              </a:r>
              <a:endParaRPr b="0" sz="1000">
                <a:solidFill>
                  <a:srgbClr val="7A8D9E"/>
                </a:solidFill>
                <a:latin typeface="Assistant"/>
                <a:ea typeface="Assistant"/>
                <a:cs typeface="Assistant"/>
                <a:sym typeface="Assistant"/>
              </a:endParaRPr>
            </a:p>
          </p:txBody>
        </p:sp>
      </p:grpSp>
      <p:grpSp>
        <p:nvGrpSpPr>
          <p:cNvPr id="359" name="Google Shape;359;p24"/>
          <p:cNvGrpSpPr/>
          <p:nvPr/>
        </p:nvGrpSpPr>
        <p:grpSpPr>
          <a:xfrm>
            <a:off x="6715125" y="904875"/>
            <a:ext cx="1857300" cy="3238500"/>
            <a:chOff x="6715125" y="904875"/>
            <a:chExt cx="1857300" cy="3238500"/>
          </a:xfrm>
        </p:grpSpPr>
        <p:sp>
          <p:nvSpPr>
            <p:cNvPr id="360" name="Google Shape;360;p24"/>
            <p:cNvSpPr/>
            <p:nvPr/>
          </p:nvSpPr>
          <p:spPr>
            <a:xfrm>
              <a:off x="6715125" y="904875"/>
              <a:ext cx="1857300" cy="3238500"/>
            </a:xfrm>
            <a:prstGeom prst="roundRect">
              <a:avLst>
                <a:gd fmla="val 3076" name="adj"/>
              </a:avLst>
            </a:prstGeom>
            <a:solidFill>
              <a:srgbClr val="0E1524"/>
            </a:solidFill>
            <a:ln cap="flat" cmpd="sng" w="9525">
              <a:solidFill>
                <a:srgbClr val="1F2E4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61" name="Google Shape;361;p24"/>
            <p:cNvSpPr/>
            <p:nvPr/>
          </p:nvSpPr>
          <p:spPr>
            <a:xfrm>
              <a:off x="6715125" y="904875"/>
              <a:ext cx="1857300" cy="38100"/>
            </a:xfrm>
            <a:prstGeom prst="rect">
              <a:avLst/>
            </a:prstGeom>
            <a:solidFill>
              <a:srgbClr val="00E5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62" name="Google Shape;362;p24"/>
            <p:cNvSpPr txBox="1"/>
            <p:nvPr/>
          </p:nvSpPr>
          <p:spPr>
            <a:xfrm>
              <a:off x="6810375" y="1047750"/>
              <a:ext cx="1666800" cy="2952900"/>
            </a:xfrm>
            <a:prstGeom prst="rect">
              <a:avLst/>
            </a:prstGeom>
            <a:noFill/>
            <a:ln>
              <a:noFill/>
            </a:ln>
          </p:spPr>
          <p:txBody>
            <a:bodyPr anchorCtr="0" anchor="t" bIns="0" lIns="0" spcFirstLastPara="1" rIns="0" wrap="square" tIns="0">
              <a:noAutofit/>
            </a:bodyPr>
            <a:lstStyle/>
            <a:p>
              <a:pPr indent="0" lvl="0" marL="0" rtl="1" algn="r">
                <a:spcBef>
                  <a:spcPts val="0"/>
                </a:spcBef>
                <a:spcAft>
                  <a:spcPts val="0"/>
                </a:spcAft>
                <a:buNone/>
              </a:pPr>
              <a:r>
                <a:rPr b="1" lang="iw" sz="850">
                  <a:solidFill>
                    <a:srgbClr val="00E5FF"/>
                  </a:solidFill>
                  <a:latin typeface="Courier New"/>
                  <a:ea typeface="Courier New"/>
                  <a:cs typeface="Courier New"/>
                  <a:sym typeface="Courier New"/>
                </a:rPr>
                <a:t>ALGORITHM_01 // LR</a:t>
              </a:r>
              <a:endParaRPr b="1" sz="850">
                <a:solidFill>
                  <a:srgbClr val="00E5FF"/>
                </a:solidFill>
                <a:latin typeface="Courier New"/>
                <a:ea typeface="Courier New"/>
                <a:cs typeface="Courier New"/>
                <a:sym typeface="Courier New"/>
              </a:endParaRPr>
            </a:p>
            <a:p>
              <a:pPr indent="0" lvl="0" marL="0" rtl="1" algn="r">
                <a:spcBef>
                  <a:spcPts val="450"/>
                </a:spcBef>
                <a:spcAft>
                  <a:spcPts val="0"/>
                </a:spcAft>
                <a:buNone/>
              </a:pPr>
              <a:r>
                <a:rPr b="1" lang="iw" sz="1400">
                  <a:solidFill>
                    <a:srgbClr val="FFFFFF"/>
                  </a:solidFill>
                  <a:latin typeface="Assistant"/>
                  <a:ea typeface="Assistant"/>
                  <a:cs typeface="Assistant"/>
                  <a:sym typeface="Assistant"/>
                </a:rPr>
                <a:t>Logistic Regression</a:t>
              </a:r>
              <a:endParaRPr b="1" sz="1400">
                <a:solidFill>
                  <a:srgbClr val="FFFFFF"/>
                </a:solidFill>
                <a:latin typeface="Assistant"/>
                <a:ea typeface="Assistant"/>
                <a:cs typeface="Assistant"/>
                <a:sym typeface="Assistant"/>
              </a:endParaRPr>
            </a:p>
            <a:p>
              <a:pPr indent="0" lvl="0" marL="0" rtl="1" algn="r">
                <a:spcBef>
                  <a:spcPts val="900"/>
                </a:spcBef>
                <a:spcAft>
                  <a:spcPts val="0"/>
                </a:spcAft>
                <a:buNone/>
              </a:pPr>
              <a:r>
                <a:rPr b="0" lang="iw" sz="950">
                  <a:solidFill>
                    <a:srgbClr val="FFFFFF"/>
                  </a:solidFill>
                  <a:latin typeface="Assistant"/>
                  <a:ea typeface="Assistant"/>
                  <a:cs typeface="Assistant"/>
                  <a:sym typeface="Assistant"/>
                </a:rPr>
                <a:t>מנבא את ההסתברות לקיום מחלת לב בעזרת פונקציית סיגמואיד סטטיסטית.</a:t>
              </a:r>
              <a:endParaRPr b="0" sz="950">
                <a:solidFill>
                  <a:srgbClr val="FFFFFF"/>
                </a:solidFill>
                <a:latin typeface="Assistant"/>
                <a:ea typeface="Assistant"/>
                <a:cs typeface="Assistant"/>
                <a:sym typeface="Assistant"/>
              </a:endParaRPr>
            </a:p>
            <a:p>
              <a:pPr indent="0" lvl="0" marL="0" rtl="1" algn="r">
                <a:spcBef>
                  <a:spcPts val="1050"/>
                </a:spcBef>
                <a:spcAft>
                  <a:spcPts val="0"/>
                </a:spcAft>
                <a:buNone/>
              </a:pPr>
              <a:r>
                <a:rPr b="1" lang="iw" sz="900">
                  <a:solidFill>
                    <a:srgbClr val="10B981"/>
                  </a:solidFill>
                  <a:latin typeface="Assistant"/>
                  <a:ea typeface="Assistant"/>
                  <a:cs typeface="Assistant"/>
                  <a:sym typeface="Assistant"/>
                </a:rPr>
                <a:t>✔ יתרונות:</a:t>
              </a:r>
              <a:endParaRPr b="1" sz="900">
                <a:solidFill>
                  <a:srgbClr val="10B981"/>
                </a:solidFill>
                <a:latin typeface="Assistant"/>
                <a:ea typeface="Assistant"/>
                <a:cs typeface="Assistant"/>
                <a:sym typeface="Assistant"/>
              </a:endParaRPr>
            </a:p>
            <a:p>
              <a:pPr indent="0" lvl="0" marL="0" rtl="1" algn="r">
                <a:spcBef>
                  <a:spcPts val="225"/>
                </a:spcBef>
                <a:spcAft>
                  <a:spcPts val="0"/>
                </a:spcAft>
                <a:buNone/>
              </a:pPr>
              <a:r>
                <a:rPr b="0" lang="iw" sz="950">
                  <a:solidFill>
                    <a:srgbClr val="A0B2C6"/>
                  </a:solidFill>
                  <a:latin typeface="Assistant"/>
                  <a:ea typeface="Assistant"/>
                  <a:cs typeface="Assistant"/>
                  <a:sym typeface="Assistant"/>
                </a:rPr>
                <a:t>פשוט מאוד לפרשנות, מהיר לחישוב ואינו דורש משאבי עיבוד כבדים.</a:t>
              </a:r>
              <a:endParaRPr b="0" sz="950">
                <a:solidFill>
                  <a:srgbClr val="A0B2C6"/>
                </a:solidFill>
                <a:latin typeface="Assistant"/>
                <a:ea typeface="Assistant"/>
                <a:cs typeface="Assistant"/>
                <a:sym typeface="Assistant"/>
              </a:endParaRPr>
            </a:p>
            <a:p>
              <a:pPr indent="0" lvl="0" marL="0" rtl="1" algn="r">
                <a:spcBef>
                  <a:spcPts val="900"/>
                </a:spcBef>
                <a:spcAft>
                  <a:spcPts val="0"/>
                </a:spcAft>
                <a:buNone/>
              </a:pPr>
              <a:r>
                <a:rPr b="1" lang="iw" sz="900">
                  <a:solidFill>
                    <a:srgbClr val="FF5252"/>
                  </a:solidFill>
                  <a:latin typeface="Assistant"/>
                  <a:ea typeface="Assistant"/>
                  <a:cs typeface="Assistant"/>
                  <a:sym typeface="Assistant"/>
                </a:rPr>
                <a:t>❌ חסרונות:</a:t>
              </a:r>
              <a:endParaRPr b="1" sz="900">
                <a:solidFill>
                  <a:srgbClr val="FF5252"/>
                </a:solidFill>
                <a:latin typeface="Assistant"/>
                <a:ea typeface="Assistant"/>
                <a:cs typeface="Assistant"/>
                <a:sym typeface="Assistant"/>
              </a:endParaRPr>
            </a:p>
            <a:p>
              <a:pPr indent="0" lvl="0" marL="0" rtl="1" algn="r">
                <a:spcBef>
                  <a:spcPts val="225"/>
                </a:spcBef>
                <a:spcAft>
                  <a:spcPts val="0"/>
                </a:spcAft>
                <a:buNone/>
              </a:pPr>
              <a:r>
                <a:rPr b="0" lang="iw" sz="950">
                  <a:solidFill>
                    <a:srgbClr val="A0B2C6"/>
                  </a:solidFill>
                  <a:latin typeface="Assistant"/>
                  <a:ea typeface="Assistant"/>
                  <a:cs typeface="Assistant"/>
                  <a:sym typeface="Assistant"/>
                </a:rPr>
                <a:t>מניח קשר קווי בלבד בין המשתנים, ומתקשה למדל יחסים מורכבים במציאות.</a:t>
              </a:r>
              <a:endParaRPr b="0" sz="950">
                <a:solidFill>
                  <a:srgbClr val="A0B2C6"/>
                </a:solidFill>
                <a:latin typeface="Assistant"/>
                <a:ea typeface="Assistant"/>
                <a:cs typeface="Assistant"/>
                <a:sym typeface="Assistant"/>
              </a:endParaRPr>
            </a:p>
          </p:txBody>
        </p:sp>
      </p:grpSp>
      <p:grpSp>
        <p:nvGrpSpPr>
          <p:cNvPr id="363" name="Google Shape;363;p24"/>
          <p:cNvGrpSpPr/>
          <p:nvPr/>
        </p:nvGrpSpPr>
        <p:grpSpPr>
          <a:xfrm>
            <a:off x="4667250" y="904875"/>
            <a:ext cx="1857300" cy="3238500"/>
            <a:chOff x="4667250" y="904875"/>
            <a:chExt cx="1857300" cy="3238500"/>
          </a:xfrm>
        </p:grpSpPr>
        <p:sp>
          <p:nvSpPr>
            <p:cNvPr id="364" name="Google Shape;364;p24"/>
            <p:cNvSpPr/>
            <p:nvPr/>
          </p:nvSpPr>
          <p:spPr>
            <a:xfrm>
              <a:off x="4667250" y="904875"/>
              <a:ext cx="1857300" cy="3238500"/>
            </a:xfrm>
            <a:prstGeom prst="roundRect">
              <a:avLst>
                <a:gd fmla="val 3076" name="adj"/>
              </a:avLst>
            </a:prstGeom>
            <a:solidFill>
              <a:srgbClr val="0E1524"/>
            </a:solidFill>
            <a:ln cap="flat" cmpd="sng" w="9525">
              <a:solidFill>
                <a:srgbClr val="1F2E4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65" name="Google Shape;365;p24"/>
            <p:cNvSpPr/>
            <p:nvPr/>
          </p:nvSpPr>
          <p:spPr>
            <a:xfrm>
              <a:off x="4667250" y="904875"/>
              <a:ext cx="1857300" cy="38100"/>
            </a:xfrm>
            <a:prstGeom prst="rect">
              <a:avLst/>
            </a:prstGeom>
            <a:solidFill>
              <a:srgbClr val="00E5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66" name="Google Shape;366;p24"/>
            <p:cNvSpPr txBox="1"/>
            <p:nvPr/>
          </p:nvSpPr>
          <p:spPr>
            <a:xfrm>
              <a:off x="4762500" y="1047750"/>
              <a:ext cx="1666800" cy="2952900"/>
            </a:xfrm>
            <a:prstGeom prst="rect">
              <a:avLst/>
            </a:prstGeom>
            <a:noFill/>
            <a:ln>
              <a:noFill/>
            </a:ln>
          </p:spPr>
          <p:txBody>
            <a:bodyPr anchorCtr="0" anchor="t" bIns="0" lIns="0" spcFirstLastPara="1" rIns="0" wrap="square" tIns="0">
              <a:noAutofit/>
            </a:bodyPr>
            <a:lstStyle/>
            <a:p>
              <a:pPr indent="0" lvl="0" marL="0" rtl="1" algn="r">
                <a:spcBef>
                  <a:spcPts val="0"/>
                </a:spcBef>
                <a:spcAft>
                  <a:spcPts val="0"/>
                </a:spcAft>
                <a:buNone/>
              </a:pPr>
              <a:r>
                <a:rPr b="1" lang="iw" sz="850">
                  <a:solidFill>
                    <a:srgbClr val="00E5FF"/>
                  </a:solidFill>
                  <a:latin typeface="Courier New"/>
                  <a:ea typeface="Courier New"/>
                  <a:cs typeface="Courier New"/>
                  <a:sym typeface="Courier New"/>
                </a:rPr>
                <a:t>ALGORITHM_02 // KNN</a:t>
              </a:r>
              <a:endParaRPr b="1" sz="850">
                <a:solidFill>
                  <a:srgbClr val="00E5FF"/>
                </a:solidFill>
                <a:latin typeface="Courier New"/>
                <a:ea typeface="Courier New"/>
                <a:cs typeface="Courier New"/>
                <a:sym typeface="Courier New"/>
              </a:endParaRPr>
            </a:p>
            <a:p>
              <a:pPr indent="0" lvl="0" marL="0" rtl="1" algn="r">
                <a:spcBef>
                  <a:spcPts val="450"/>
                </a:spcBef>
                <a:spcAft>
                  <a:spcPts val="0"/>
                </a:spcAft>
                <a:buNone/>
              </a:pPr>
              <a:r>
                <a:rPr b="1" lang="iw" sz="1400">
                  <a:solidFill>
                    <a:srgbClr val="FFFFFF"/>
                  </a:solidFill>
                  <a:latin typeface="Assistant"/>
                  <a:ea typeface="Assistant"/>
                  <a:cs typeface="Assistant"/>
                  <a:sym typeface="Assistant"/>
                </a:rPr>
                <a:t>K-Nearest Neighbors</a:t>
              </a:r>
              <a:endParaRPr b="1" sz="1400">
                <a:solidFill>
                  <a:srgbClr val="FFFFFF"/>
                </a:solidFill>
                <a:latin typeface="Assistant"/>
                <a:ea typeface="Assistant"/>
                <a:cs typeface="Assistant"/>
                <a:sym typeface="Assistant"/>
              </a:endParaRPr>
            </a:p>
            <a:p>
              <a:pPr indent="0" lvl="0" marL="0" rtl="1" algn="r">
                <a:spcBef>
                  <a:spcPts val="900"/>
                </a:spcBef>
                <a:spcAft>
                  <a:spcPts val="0"/>
                </a:spcAft>
                <a:buNone/>
              </a:pPr>
              <a:r>
                <a:rPr b="0" lang="iw" sz="950">
                  <a:solidFill>
                    <a:srgbClr val="FFFFFF"/>
                  </a:solidFill>
                  <a:latin typeface="Assistant"/>
                  <a:ea typeface="Assistant"/>
                  <a:cs typeface="Assistant"/>
                  <a:sym typeface="Assistant"/>
                </a:rPr>
                <a:t>מסווג מטופלים על בסיס דמיון קליני למטופלים הקרובים אליהם ביותר במרחב.</a:t>
              </a:r>
              <a:endParaRPr b="0" sz="950">
                <a:solidFill>
                  <a:srgbClr val="FFFFFF"/>
                </a:solidFill>
                <a:latin typeface="Assistant"/>
                <a:ea typeface="Assistant"/>
                <a:cs typeface="Assistant"/>
                <a:sym typeface="Assistant"/>
              </a:endParaRPr>
            </a:p>
            <a:p>
              <a:pPr indent="0" lvl="0" marL="0" rtl="1" algn="r">
                <a:spcBef>
                  <a:spcPts val="1050"/>
                </a:spcBef>
                <a:spcAft>
                  <a:spcPts val="0"/>
                </a:spcAft>
                <a:buNone/>
              </a:pPr>
              <a:r>
                <a:rPr b="1" lang="iw" sz="900">
                  <a:solidFill>
                    <a:srgbClr val="10B981"/>
                  </a:solidFill>
                  <a:latin typeface="Assistant"/>
                  <a:ea typeface="Assistant"/>
                  <a:cs typeface="Assistant"/>
                  <a:sym typeface="Assistant"/>
                </a:rPr>
                <a:t>✔ יתרונות:</a:t>
              </a:r>
              <a:endParaRPr b="1" sz="900">
                <a:solidFill>
                  <a:srgbClr val="10B981"/>
                </a:solidFill>
                <a:latin typeface="Assistant"/>
                <a:ea typeface="Assistant"/>
                <a:cs typeface="Assistant"/>
                <a:sym typeface="Assistant"/>
              </a:endParaRPr>
            </a:p>
            <a:p>
              <a:pPr indent="0" lvl="0" marL="0" rtl="1" algn="r">
                <a:spcBef>
                  <a:spcPts val="225"/>
                </a:spcBef>
                <a:spcAft>
                  <a:spcPts val="0"/>
                </a:spcAft>
                <a:buNone/>
              </a:pPr>
              <a:r>
                <a:rPr b="0" lang="iw" sz="950">
                  <a:solidFill>
                    <a:srgbClr val="A0B2C6"/>
                  </a:solidFill>
                  <a:latin typeface="Assistant"/>
                  <a:ea typeface="Assistant"/>
                  <a:cs typeface="Assistant"/>
                  <a:sym typeface="Assistant"/>
                </a:rPr>
                <a:t>אינטואיטיבי, לא מניח הנחות מוקדמות על התפלגות המידע הרפואי.</a:t>
              </a:r>
              <a:endParaRPr b="0" sz="950">
                <a:solidFill>
                  <a:srgbClr val="A0B2C6"/>
                </a:solidFill>
                <a:latin typeface="Assistant"/>
                <a:ea typeface="Assistant"/>
                <a:cs typeface="Assistant"/>
                <a:sym typeface="Assistant"/>
              </a:endParaRPr>
            </a:p>
            <a:p>
              <a:pPr indent="0" lvl="0" marL="0" rtl="1" algn="r">
                <a:spcBef>
                  <a:spcPts val="900"/>
                </a:spcBef>
                <a:spcAft>
                  <a:spcPts val="0"/>
                </a:spcAft>
                <a:buNone/>
              </a:pPr>
              <a:r>
                <a:rPr b="1" lang="iw" sz="900">
                  <a:solidFill>
                    <a:srgbClr val="FF5252"/>
                  </a:solidFill>
                  <a:latin typeface="Assistant"/>
                  <a:ea typeface="Assistant"/>
                  <a:cs typeface="Assistant"/>
                  <a:sym typeface="Assistant"/>
                </a:rPr>
                <a:t>❌ חסרונות:</a:t>
              </a:r>
              <a:endParaRPr b="1" sz="900">
                <a:solidFill>
                  <a:srgbClr val="FF5252"/>
                </a:solidFill>
                <a:latin typeface="Assistant"/>
                <a:ea typeface="Assistant"/>
                <a:cs typeface="Assistant"/>
                <a:sym typeface="Assistant"/>
              </a:endParaRPr>
            </a:p>
            <a:p>
              <a:pPr indent="0" lvl="0" marL="0" rtl="1" algn="r">
                <a:spcBef>
                  <a:spcPts val="225"/>
                </a:spcBef>
                <a:spcAft>
                  <a:spcPts val="0"/>
                </a:spcAft>
                <a:buNone/>
              </a:pPr>
              <a:r>
                <a:rPr b="0" lang="iw" sz="950">
                  <a:solidFill>
                    <a:srgbClr val="A0B2C6"/>
                  </a:solidFill>
                  <a:latin typeface="Assistant"/>
                  <a:ea typeface="Assistant"/>
                  <a:cs typeface="Assistant"/>
                  <a:sym typeface="Assistant"/>
                </a:rPr>
                <a:t>רגיש מאוד לרעש, לממדים רבים ולבחירת מרחק אופטימלי (ערך ה-K).</a:t>
              </a:r>
              <a:endParaRPr b="0" sz="950">
                <a:solidFill>
                  <a:srgbClr val="A0B2C6"/>
                </a:solidFill>
                <a:latin typeface="Assistant"/>
                <a:ea typeface="Assistant"/>
                <a:cs typeface="Assistant"/>
                <a:sym typeface="Assistant"/>
              </a:endParaRPr>
            </a:p>
          </p:txBody>
        </p:sp>
      </p:grpSp>
      <p:grpSp>
        <p:nvGrpSpPr>
          <p:cNvPr id="367" name="Google Shape;367;p24"/>
          <p:cNvGrpSpPr/>
          <p:nvPr/>
        </p:nvGrpSpPr>
        <p:grpSpPr>
          <a:xfrm>
            <a:off x="2619375" y="904875"/>
            <a:ext cx="1857300" cy="3238500"/>
            <a:chOff x="2619375" y="904875"/>
            <a:chExt cx="1857300" cy="3238500"/>
          </a:xfrm>
        </p:grpSpPr>
        <p:sp>
          <p:nvSpPr>
            <p:cNvPr id="368" name="Google Shape;368;p24"/>
            <p:cNvSpPr/>
            <p:nvPr/>
          </p:nvSpPr>
          <p:spPr>
            <a:xfrm>
              <a:off x="2619375" y="904875"/>
              <a:ext cx="1857300" cy="3238500"/>
            </a:xfrm>
            <a:prstGeom prst="roundRect">
              <a:avLst>
                <a:gd fmla="val 3076" name="adj"/>
              </a:avLst>
            </a:prstGeom>
            <a:solidFill>
              <a:srgbClr val="0E1524"/>
            </a:solidFill>
            <a:ln cap="flat" cmpd="sng" w="9525">
              <a:solidFill>
                <a:srgbClr val="1F2E4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69" name="Google Shape;369;p24"/>
            <p:cNvSpPr/>
            <p:nvPr/>
          </p:nvSpPr>
          <p:spPr>
            <a:xfrm>
              <a:off x="2619375" y="904875"/>
              <a:ext cx="1857300" cy="38100"/>
            </a:xfrm>
            <a:prstGeom prst="rect">
              <a:avLst/>
            </a:prstGeom>
            <a:solidFill>
              <a:srgbClr val="00E5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70" name="Google Shape;370;p24"/>
            <p:cNvSpPr txBox="1"/>
            <p:nvPr/>
          </p:nvSpPr>
          <p:spPr>
            <a:xfrm>
              <a:off x="2714625" y="1047750"/>
              <a:ext cx="1666800" cy="2952900"/>
            </a:xfrm>
            <a:prstGeom prst="rect">
              <a:avLst/>
            </a:prstGeom>
            <a:noFill/>
            <a:ln>
              <a:noFill/>
            </a:ln>
          </p:spPr>
          <p:txBody>
            <a:bodyPr anchorCtr="0" anchor="t" bIns="0" lIns="0" spcFirstLastPara="1" rIns="0" wrap="square" tIns="0">
              <a:noAutofit/>
            </a:bodyPr>
            <a:lstStyle/>
            <a:p>
              <a:pPr indent="0" lvl="0" marL="0" rtl="1" algn="r">
                <a:spcBef>
                  <a:spcPts val="0"/>
                </a:spcBef>
                <a:spcAft>
                  <a:spcPts val="0"/>
                </a:spcAft>
                <a:buNone/>
              </a:pPr>
              <a:r>
                <a:rPr b="1" lang="iw" sz="850">
                  <a:solidFill>
                    <a:srgbClr val="00E5FF"/>
                  </a:solidFill>
                  <a:latin typeface="Courier New"/>
                  <a:ea typeface="Courier New"/>
                  <a:cs typeface="Courier New"/>
                  <a:sym typeface="Courier New"/>
                </a:rPr>
                <a:t>ALGORITHM_03 // SVM</a:t>
              </a:r>
              <a:endParaRPr b="1" sz="850">
                <a:solidFill>
                  <a:srgbClr val="00E5FF"/>
                </a:solidFill>
                <a:latin typeface="Courier New"/>
                <a:ea typeface="Courier New"/>
                <a:cs typeface="Courier New"/>
                <a:sym typeface="Courier New"/>
              </a:endParaRPr>
            </a:p>
            <a:p>
              <a:pPr indent="0" lvl="0" marL="0" rtl="1" algn="r">
                <a:spcBef>
                  <a:spcPts val="450"/>
                </a:spcBef>
                <a:spcAft>
                  <a:spcPts val="0"/>
                </a:spcAft>
                <a:buNone/>
              </a:pPr>
              <a:r>
                <a:rPr b="1" lang="iw" sz="1400">
                  <a:solidFill>
                    <a:srgbClr val="FFFFFF"/>
                  </a:solidFill>
                  <a:latin typeface="Assistant"/>
                  <a:ea typeface="Assistant"/>
                  <a:cs typeface="Assistant"/>
                  <a:sym typeface="Assistant"/>
                </a:rPr>
                <a:t>SVM</a:t>
              </a:r>
              <a:endParaRPr b="1" sz="1400">
                <a:solidFill>
                  <a:srgbClr val="FFFFFF"/>
                </a:solidFill>
                <a:latin typeface="Assistant"/>
                <a:ea typeface="Assistant"/>
                <a:cs typeface="Assistant"/>
                <a:sym typeface="Assistant"/>
              </a:endParaRPr>
            </a:p>
            <a:p>
              <a:pPr indent="0" lvl="0" marL="0" rtl="1" algn="r">
                <a:spcBef>
                  <a:spcPts val="900"/>
                </a:spcBef>
                <a:spcAft>
                  <a:spcPts val="0"/>
                </a:spcAft>
                <a:buNone/>
              </a:pPr>
              <a:r>
                <a:rPr b="0" lang="iw" sz="950">
                  <a:solidFill>
                    <a:srgbClr val="FFFFFF"/>
                  </a:solidFill>
                  <a:latin typeface="Assistant"/>
                  <a:ea typeface="Assistant"/>
                  <a:cs typeface="Assistant"/>
                  <a:sym typeface="Assistant"/>
                </a:rPr>
                <a:t>מוצא את קו ההפרדה האופטימלי (Hyperplane) המפריד בצורה מרבית בין חולים לבריאים.</a:t>
              </a:r>
              <a:endParaRPr b="0" sz="950">
                <a:solidFill>
                  <a:srgbClr val="FFFFFF"/>
                </a:solidFill>
                <a:latin typeface="Assistant"/>
                <a:ea typeface="Assistant"/>
                <a:cs typeface="Assistant"/>
                <a:sym typeface="Assistant"/>
              </a:endParaRPr>
            </a:p>
            <a:p>
              <a:pPr indent="0" lvl="0" marL="0" rtl="1" algn="r">
                <a:spcBef>
                  <a:spcPts val="1050"/>
                </a:spcBef>
                <a:spcAft>
                  <a:spcPts val="0"/>
                </a:spcAft>
                <a:buNone/>
              </a:pPr>
              <a:r>
                <a:rPr b="1" lang="iw" sz="900">
                  <a:solidFill>
                    <a:srgbClr val="10B981"/>
                  </a:solidFill>
                  <a:latin typeface="Assistant"/>
                  <a:ea typeface="Assistant"/>
                  <a:cs typeface="Assistant"/>
                  <a:sym typeface="Assistant"/>
                </a:rPr>
                <a:t>✔ יתרונות:</a:t>
              </a:r>
              <a:endParaRPr b="1" sz="900">
                <a:solidFill>
                  <a:srgbClr val="10B981"/>
                </a:solidFill>
                <a:latin typeface="Assistant"/>
                <a:ea typeface="Assistant"/>
                <a:cs typeface="Assistant"/>
                <a:sym typeface="Assistant"/>
              </a:endParaRPr>
            </a:p>
            <a:p>
              <a:pPr indent="0" lvl="0" marL="0" rtl="1" algn="r">
                <a:spcBef>
                  <a:spcPts val="225"/>
                </a:spcBef>
                <a:spcAft>
                  <a:spcPts val="0"/>
                </a:spcAft>
                <a:buNone/>
              </a:pPr>
              <a:r>
                <a:rPr b="0" lang="iw" sz="950">
                  <a:solidFill>
                    <a:srgbClr val="A0B2C6"/>
                  </a:solidFill>
                  <a:latin typeface="Assistant"/>
                  <a:ea typeface="Assistant"/>
                  <a:cs typeface="Assistant"/>
                  <a:sym typeface="Assistant"/>
                </a:rPr>
                <a:t>יעיל מאוד במרחבים בעלי ממדים רבים ויציב בפני הערכת יתר.</a:t>
              </a:r>
              <a:endParaRPr b="0" sz="950">
                <a:solidFill>
                  <a:srgbClr val="A0B2C6"/>
                </a:solidFill>
                <a:latin typeface="Assistant"/>
                <a:ea typeface="Assistant"/>
                <a:cs typeface="Assistant"/>
                <a:sym typeface="Assistant"/>
              </a:endParaRPr>
            </a:p>
            <a:p>
              <a:pPr indent="0" lvl="0" marL="0" rtl="1" algn="r">
                <a:spcBef>
                  <a:spcPts val="900"/>
                </a:spcBef>
                <a:spcAft>
                  <a:spcPts val="0"/>
                </a:spcAft>
                <a:buNone/>
              </a:pPr>
              <a:r>
                <a:rPr b="1" lang="iw" sz="900">
                  <a:solidFill>
                    <a:srgbClr val="FF5252"/>
                  </a:solidFill>
                  <a:latin typeface="Assistant"/>
                  <a:ea typeface="Assistant"/>
                  <a:cs typeface="Assistant"/>
                  <a:sym typeface="Assistant"/>
                </a:rPr>
                <a:t>❌ חסרונות:</a:t>
              </a:r>
              <a:endParaRPr b="1" sz="900">
                <a:solidFill>
                  <a:srgbClr val="FF5252"/>
                </a:solidFill>
                <a:latin typeface="Assistant"/>
                <a:ea typeface="Assistant"/>
                <a:cs typeface="Assistant"/>
                <a:sym typeface="Assistant"/>
              </a:endParaRPr>
            </a:p>
            <a:p>
              <a:pPr indent="0" lvl="0" marL="0" rtl="1" algn="r">
                <a:spcBef>
                  <a:spcPts val="225"/>
                </a:spcBef>
                <a:spcAft>
                  <a:spcPts val="0"/>
                </a:spcAft>
                <a:buNone/>
              </a:pPr>
              <a:r>
                <a:rPr b="0" lang="iw" sz="950">
                  <a:solidFill>
                    <a:srgbClr val="A0B2C6"/>
                  </a:solidFill>
                  <a:latin typeface="Assistant"/>
                  <a:ea typeface="Assistant"/>
                  <a:cs typeface="Assistant"/>
                  <a:sym typeface="Assistant"/>
                </a:rPr>
                <a:t>דורש משאבי זיכרון רבים וקשה להבנה ופירוש במקרה של שימוש בגרעין לא-לינארי.</a:t>
              </a:r>
              <a:endParaRPr b="0" sz="950">
                <a:solidFill>
                  <a:srgbClr val="A0B2C6"/>
                </a:solidFill>
                <a:latin typeface="Assistant"/>
                <a:ea typeface="Assistant"/>
                <a:cs typeface="Assistant"/>
                <a:sym typeface="Assistant"/>
              </a:endParaRPr>
            </a:p>
          </p:txBody>
        </p:sp>
      </p:grpSp>
      <p:grpSp>
        <p:nvGrpSpPr>
          <p:cNvPr id="371" name="Google Shape;371;p24"/>
          <p:cNvGrpSpPr/>
          <p:nvPr/>
        </p:nvGrpSpPr>
        <p:grpSpPr>
          <a:xfrm>
            <a:off x="571500" y="904875"/>
            <a:ext cx="1857300" cy="3238500"/>
            <a:chOff x="571500" y="904875"/>
            <a:chExt cx="1857300" cy="3238500"/>
          </a:xfrm>
        </p:grpSpPr>
        <p:sp>
          <p:nvSpPr>
            <p:cNvPr id="372" name="Google Shape;372;p24"/>
            <p:cNvSpPr/>
            <p:nvPr/>
          </p:nvSpPr>
          <p:spPr>
            <a:xfrm>
              <a:off x="571500" y="904875"/>
              <a:ext cx="1857300" cy="3238500"/>
            </a:xfrm>
            <a:prstGeom prst="roundRect">
              <a:avLst>
                <a:gd fmla="val 3076" name="adj"/>
              </a:avLst>
            </a:prstGeom>
            <a:solidFill>
              <a:srgbClr val="0E1524"/>
            </a:solidFill>
            <a:ln cap="flat" cmpd="sng" w="9525">
              <a:solidFill>
                <a:srgbClr val="1F2E4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73" name="Google Shape;373;p24"/>
            <p:cNvSpPr/>
            <p:nvPr/>
          </p:nvSpPr>
          <p:spPr>
            <a:xfrm>
              <a:off x="571500" y="904875"/>
              <a:ext cx="1857300" cy="38100"/>
            </a:xfrm>
            <a:prstGeom prst="rect">
              <a:avLst/>
            </a:prstGeom>
            <a:solidFill>
              <a:srgbClr val="10B98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74" name="Google Shape;374;p24"/>
            <p:cNvSpPr txBox="1"/>
            <p:nvPr/>
          </p:nvSpPr>
          <p:spPr>
            <a:xfrm>
              <a:off x="666750" y="1047750"/>
              <a:ext cx="1666800" cy="2952900"/>
            </a:xfrm>
            <a:prstGeom prst="rect">
              <a:avLst/>
            </a:prstGeom>
            <a:noFill/>
            <a:ln>
              <a:noFill/>
            </a:ln>
          </p:spPr>
          <p:txBody>
            <a:bodyPr anchorCtr="0" anchor="t" bIns="0" lIns="0" spcFirstLastPara="1" rIns="0" wrap="square" tIns="0">
              <a:noAutofit/>
            </a:bodyPr>
            <a:lstStyle/>
            <a:p>
              <a:pPr indent="0" lvl="0" marL="0" rtl="1" algn="r">
                <a:spcBef>
                  <a:spcPts val="0"/>
                </a:spcBef>
                <a:spcAft>
                  <a:spcPts val="0"/>
                </a:spcAft>
                <a:buNone/>
              </a:pPr>
              <a:r>
                <a:rPr b="1" lang="iw" sz="850">
                  <a:solidFill>
                    <a:srgbClr val="10B981"/>
                  </a:solidFill>
                  <a:latin typeface="Courier New"/>
                  <a:ea typeface="Courier New"/>
                  <a:cs typeface="Courier New"/>
                  <a:sym typeface="Courier New"/>
                </a:rPr>
                <a:t>ALGORITHM_04 // RF</a:t>
              </a:r>
              <a:endParaRPr b="1" sz="850">
                <a:solidFill>
                  <a:srgbClr val="10B981"/>
                </a:solidFill>
                <a:latin typeface="Courier New"/>
                <a:ea typeface="Courier New"/>
                <a:cs typeface="Courier New"/>
                <a:sym typeface="Courier New"/>
              </a:endParaRPr>
            </a:p>
            <a:p>
              <a:pPr indent="0" lvl="0" marL="0" rtl="1" algn="r">
                <a:spcBef>
                  <a:spcPts val="450"/>
                </a:spcBef>
                <a:spcAft>
                  <a:spcPts val="0"/>
                </a:spcAft>
                <a:buNone/>
              </a:pPr>
              <a:r>
                <a:rPr b="1" lang="iw" sz="1400">
                  <a:solidFill>
                    <a:srgbClr val="FFFFFF"/>
                  </a:solidFill>
                  <a:latin typeface="Assistant"/>
                  <a:ea typeface="Assistant"/>
                  <a:cs typeface="Assistant"/>
                  <a:sym typeface="Assistant"/>
                </a:rPr>
                <a:t>Random Forest</a:t>
              </a:r>
              <a:endParaRPr b="1" sz="1400">
                <a:solidFill>
                  <a:srgbClr val="FFFFFF"/>
                </a:solidFill>
                <a:latin typeface="Assistant"/>
                <a:ea typeface="Assistant"/>
                <a:cs typeface="Assistant"/>
                <a:sym typeface="Assistant"/>
              </a:endParaRPr>
            </a:p>
            <a:p>
              <a:pPr indent="0" lvl="0" marL="0" rtl="1" algn="r">
                <a:spcBef>
                  <a:spcPts val="900"/>
                </a:spcBef>
                <a:spcAft>
                  <a:spcPts val="0"/>
                </a:spcAft>
                <a:buNone/>
              </a:pPr>
              <a:r>
                <a:rPr b="0" lang="iw" sz="950">
                  <a:solidFill>
                    <a:srgbClr val="FFFFFF"/>
                  </a:solidFill>
                  <a:latin typeface="Assistant"/>
                  <a:ea typeface="Assistant"/>
                  <a:cs typeface="Assistant"/>
                  <a:sym typeface="Assistant"/>
                </a:rPr>
                <a:t>משלב מספר רב של עצי החלטה אקראיים כדי להגיע להחלטת רוב משוקללת ומדויקת.</a:t>
              </a:r>
              <a:endParaRPr b="0" sz="950">
                <a:solidFill>
                  <a:srgbClr val="FFFFFF"/>
                </a:solidFill>
                <a:latin typeface="Assistant"/>
                <a:ea typeface="Assistant"/>
                <a:cs typeface="Assistant"/>
                <a:sym typeface="Assistant"/>
              </a:endParaRPr>
            </a:p>
            <a:p>
              <a:pPr indent="0" lvl="0" marL="0" rtl="1" algn="r">
                <a:spcBef>
                  <a:spcPts val="1050"/>
                </a:spcBef>
                <a:spcAft>
                  <a:spcPts val="0"/>
                </a:spcAft>
                <a:buNone/>
              </a:pPr>
              <a:r>
                <a:rPr b="1" lang="iw" sz="900">
                  <a:solidFill>
                    <a:srgbClr val="10B981"/>
                  </a:solidFill>
                  <a:latin typeface="Assistant"/>
                  <a:ea typeface="Assistant"/>
                  <a:cs typeface="Assistant"/>
                  <a:sym typeface="Assistant"/>
                </a:rPr>
                <a:t>✔ יתרונות:</a:t>
              </a:r>
              <a:endParaRPr b="1" sz="900">
                <a:solidFill>
                  <a:srgbClr val="10B981"/>
                </a:solidFill>
                <a:latin typeface="Assistant"/>
                <a:ea typeface="Assistant"/>
                <a:cs typeface="Assistant"/>
                <a:sym typeface="Assistant"/>
              </a:endParaRPr>
            </a:p>
            <a:p>
              <a:pPr indent="0" lvl="0" marL="0" rtl="1" algn="r">
                <a:spcBef>
                  <a:spcPts val="225"/>
                </a:spcBef>
                <a:spcAft>
                  <a:spcPts val="0"/>
                </a:spcAft>
                <a:buNone/>
              </a:pPr>
              <a:r>
                <a:rPr b="0" lang="iw" sz="950">
                  <a:solidFill>
                    <a:srgbClr val="A0B2C6"/>
                  </a:solidFill>
                  <a:latin typeface="Assistant"/>
                  <a:ea typeface="Assistant"/>
                  <a:cs typeface="Assistant"/>
                  <a:sym typeface="Assistant"/>
                </a:rPr>
                <a:t>דיוק גבוה במיוחד, עמידות מצוינת לנתונים חסרים ויכולת למנוע התאמת יתר.</a:t>
              </a:r>
              <a:endParaRPr b="0" sz="950">
                <a:solidFill>
                  <a:srgbClr val="A0B2C6"/>
                </a:solidFill>
                <a:latin typeface="Assistant"/>
                <a:ea typeface="Assistant"/>
                <a:cs typeface="Assistant"/>
                <a:sym typeface="Assistant"/>
              </a:endParaRPr>
            </a:p>
            <a:p>
              <a:pPr indent="0" lvl="0" marL="0" rtl="1" algn="r">
                <a:spcBef>
                  <a:spcPts val="900"/>
                </a:spcBef>
                <a:spcAft>
                  <a:spcPts val="0"/>
                </a:spcAft>
                <a:buNone/>
              </a:pPr>
              <a:r>
                <a:rPr b="1" lang="iw" sz="900">
                  <a:solidFill>
                    <a:srgbClr val="FF5252"/>
                  </a:solidFill>
                  <a:latin typeface="Assistant"/>
                  <a:ea typeface="Assistant"/>
                  <a:cs typeface="Assistant"/>
                  <a:sym typeface="Assistant"/>
                </a:rPr>
                <a:t>❌ חסרונות:</a:t>
              </a:r>
              <a:endParaRPr b="1" sz="900">
                <a:solidFill>
                  <a:srgbClr val="FF5252"/>
                </a:solidFill>
                <a:latin typeface="Assistant"/>
                <a:ea typeface="Assistant"/>
                <a:cs typeface="Assistant"/>
                <a:sym typeface="Assistant"/>
              </a:endParaRPr>
            </a:p>
            <a:p>
              <a:pPr indent="0" lvl="0" marL="0" rtl="1" algn="r">
                <a:spcBef>
                  <a:spcPts val="225"/>
                </a:spcBef>
                <a:spcAft>
                  <a:spcPts val="0"/>
                </a:spcAft>
                <a:buNone/>
              </a:pPr>
              <a:r>
                <a:rPr b="0" lang="iw" sz="950">
                  <a:solidFill>
                    <a:srgbClr val="A0B2C6"/>
                  </a:solidFill>
                  <a:latin typeface="Assistant"/>
                  <a:ea typeface="Assistant"/>
                  <a:cs typeface="Assistant"/>
                  <a:sym typeface="Assistant"/>
                </a:rPr>
                <a:t>מודל מורכב ("קופסה שחורה") הדורש זמן אימון ומשאבים משמעותיים.</a:t>
              </a:r>
              <a:endParaRPr b="0" sz="950">
                <a:solidFill>
                  <a:srgbClr val="A0B2C6"/>
                </a:solidFill>
                <a:latin typeface="Assistant"/>
                <a:ea typeface="Assistant"/>
                <a:cs typeface="Assistant"/>
                <a:sym typeface="Assistant"/>
              </a:endParaRPr>
            </a:p>
          </p:txBody>
        </p:sp>
      </p:grpSp>
      <p:grpSp>
        <p:nvGrpSpPr>
          <p:cNvPr id="375" name="Google Shape;375;p24"/>
          <p:cNvGrpSpPr/>
          <p:nvPr/>
        </p:nvGrpSpPr>
        <p:grpSpPr>
          <a:xfrm>
            <a:off x="571500" y="4333875"/>
            <a:ext cx="8001000" cy="362100"/>
            <a:chOff x="571500" y="4333875"/>
            <a:chExt cx="8001000" cy="362100"/>
          </a:xfrm>
        </p:grpSpPr>
        <p:sp>
          <p:nvSpPr>
            <p:cNvPr id="376" name="Google Shape;376;p24"/>
            <p:cNvSpPr/>
            <p:nvPr/>
          </p:nvSpPr>
          <p:spPr>
            <a:xfrm>
              <a:off x="571500" y="4333875"/>
              <a:ext cx="8001000" cy="362100"/>
            </a:xfrm>
            <a:prstGeom prst="roundRect">
              <a:avLst>
                <a:gd fmla="val 10526" name="adj"/>
              </a:avLst>
            </a:prstGeom>
            <a:solidFill>
              <a:srgbClr val="0A0E1A"/>
            </a:solidFill>
            <a:ln cap="flat" cmpd="sng" w="9525">
              <a:solidFill>
                <a:srgbClr val="1F2E4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77" name="Google Shape;377;p24"/>
            <p:cNvSpPr/>
            <p:nvPr/>
          </p:nvSpPr>
          <p:spPr>
            <a:xfrm>
              <a:off x="7772400" y="4476750"/>
              <a:ext cx="76200" cy="76200"/>
            </a:xfrm>
            <a:prstGeom prst="ellipse">
              <a:avLst/>
            </a:prstGeom>
            <a:solidFill>
              <a:srgbClr val="10B98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78" name="Google Shape;378;p24"/>
            <p:cNvSpPr txBox="1"/>
            <p:nvPr/>
          </p:nvSpPr>
          <p:spPr>
            <a:xfrm>
              <a:off x="714375" y="4333875"/>
              <a:ext cx="6905700" cy="362100"/>
            </a:xfrm>
            <a:prstGeom prst="rect">
              <a:avLst/>
            </a:prstGeom>
            <a:noFill/>
            <a:ln>
              <a:noFill/>
            </a:ln>
          </p:spPr>
          <p:txBody>
            <a:bodyPr anchorCtr="0" anchor="ctr" bIns="0" lIns="0" spcFirstLastPara="1" rIns="0" wrap="square" tIns="0">
              <a:noAutofit/>
            </a:bodyPr>
            <a:lstStyle/>
            <a:p>
              <a:pPr indent="0" lvl="0" marL="0" rtl="1" algn="r">
                <a:spcBef>
                  <a:spcPts val="0"/>
                </a:spcBef>
                <a:spcAft>
                  <a:spcPts val="0"/>
                </a:spcAft>
                <a:buNone/>
              </a:pPr>
              <a:r>
                <a:rPr b="1" lang="iw" sz="900">
                  <a:solidFill>
                    <a:srgbClr val="10B981"/>
                  </a:solidFill>
                  <a:latin typeface="Courier New"/>
                  <a:ea typeface="Courier New"/>
                  <a:cs typeface="Courier New"/>
                  <a:sym typeface="Courier New"/>
                </a:rPr>
                <a:t>השוואת מודלים: </a:t>
              </a:r>
              <a:r>
                <a:rPr b="0" lang="iw" sz="900">
                  <a:solidFill>
                    <a:srgbClr val="7A8D9E"/>
                  </a:solidFill>
                  <a:latin typeface="Assistant"/>
                  <a:ea typeface="Assistant"/>
                  <a:cs typeface="Assistant"/>
                  <a:sym typeface="Assistant"/>
                </a:rPr>
                <a:t>בחירת האלגוריתם הסופי תתבצע בהתאם למדדי הדיוק (Accuracy) והרגישות (Recall) הרפואיים שהושגו בבדיקות.</a:t>
              </a:r>
              <a:endParaRPr b="1" sz="900">
                <a:solidFill>
                  <a:srgbClr val="10B981"/>
                </a:solidFill>
                <a:latin typeface="Courier New"/>
                <a:ea typeface="Courier New"/>
                <a:cs typeface="Courier New"/>
                <a:sym typeface="Courier New"/>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212C"/>
        </a:solidFill>
      </p:bgPr>
    </p:bg>
    <p:spTree>
      <p:nvGrpSpPr>
        <p:cNvPr id="382" name="Shape 382"/>
        <p:cNvGrpSpPr/>
        <p:nvPr/>
      </p:nvGrpSpPr>
      <p:grpSpPr>
        <a:xfrm>
          <a:off x="0" y="0"/>
          <a:ext cx="0" cy="0"/>
          <a:chOff x="0" y="0"/>
          <a:chExt cx="0" cy="0"/>
        </a:xfrm>
      </p:grpSpPr>
      <p:grpSp>
        <p:nvGrpSpPr>
          <p:cNvPr id="383" name="Google Shape;383;p25"/>
          <p:cNvGrpSpPr/>
          <p:nvPr/>
        </p:nvGrpSpPr>
        <p:grpSpPr>
          <a:xfrm>
            <a:off x="1619250" y="238125"/>
            <a:ext cx="6953400" cy="695250"/>
            <a:chOff x="1619250" y="238125"/>
            <a:chExt cx="6953400" cy="695250"/>
          </a:xfrm>
        </p:grpSpPr>
        <p:sp>
          <p:nvSpPr>
            <p:cNvPr id="384" name="Google Shape;384;p25"/>
            <p:cNvSpPr txBox="1"/>
            <p:nvPr/>
          </p:nvSpPr>
          <p:spPr>
            <a:xfrm>
              <a:off x="2779350" y="238125"/>
              <a:ext cx="5793300" cy="428700"/>
            </a:xfrm>
            <a:prstGeom prst="rect">
              <a:avLst/>
            </a:prstGeom>
            <a:noFill/>
            <a:ln>
              <a:noFill/>
            </a:ln>
          </p:spPr>
          <p:txBody>
            <a:bodyPr anchorCtr="0" anchor="t" bIns="0" lIns="0" spcFirstLastPara="1" rIns="0" wrap="square" tIns="0">
              <a:noAutofit/>
            </a:bodyPr>
            <a:lstStyle/>
            <a:p>
              <a:pPr indent="0" lvl="0" marL="0" rtl="1" algn="r">
                <a:spcBef>
                  <a:spcPts val="0"/>
                </a:spcBef>
                <a:spcAft>
                  <a:spcPts val="0"/>
                </a:spcAft>
                <a:buNone/>
              </a:pPr>
              <a:r>
                <a:rPr b="0" lang="iw" sz="2400">
                  <a:solidFill>
                    <a:srgbClr val="FFFFFF"/>
                  </a:solidFill>
                  <a:latin typeface="Assistant ExtraBold"/>
                  <a:ea typeface="Assistant ExtraBold"/>
                  <a:cs typeface="Assistant ExtraBold"/>
                  <a:sym typeface="Assistant ExtraBold"/>
                </a:rPr>
                <a:t>הבסיס המתמטי של SVM -  מודל מרכזי במאמר</a:t>
              </a:r>
              <a:endParaRPr b="0" sz="2400">
                <a:solidFill>
                  <a:srgbClr val="FFFFFF"/>
                </a:solidFill>
                <a:latin typeface="Assistant ExtraBold"/>
                <a:ea typeface="Assistant ExtraBold"/>
                <a:cs typeface="Assistant ExtraBold"/>
                <a:sym typeface="Assistant ExtraBold"/>
              </a:endParaRPr>
            </a:p>
          </p:txBody>
        </p:sp>
        <p:sp>
          <p:nvSpPr>
            <p:cNvPr id="385" name="Google Shape;385;p25"/>
            <p:cNvSpPr txBox="1"/>
            <p:nvPr/>
          </p:nvSpPr>
          <p:spPr>
            <a:xfrm>
              <a:off x="1619250" y="600075"/>
              <a:ext cx="6953400" cy="333300"/>
            </a:xfrm>
            <a:prstGeom prst="rect">
              <a:avLst/>
            </a:prstGeom>
            <a:noFill/>
            <a:ln>
              <a:noFill/>
            </a:ln>
          </p:spPr>
          <p:txBody>
            <a:bodyPr anchorCtr="0" anchor="t" bIns="0" lIns="0" spcFirstLastPara="1" rIns="0" wrap="square" tIns="0">
              <a:noAutofit/>
            </a:bodyPr>
            <a:lstStyle/>
            <a:p>
              <a:pPr indent="0" lvl="0" marL="0" rtl="1" algn="r">
                <a:spcBef>
                  <a:spcPts val="0"/>
                </a:spcBef>
                <a:spcAft>
                  <a:spcPts val="0"/>
                </a:spcAft>
                <a:buNone/>
              </a:pPr>
              <a:r>
                <a:rPr b="0" lang="iw" sz="1000">
                  <a:solidFill>
                    <a:srgbClr val="7A8D9E"/>
                  </a:solidFill>
                  <a:latin typeface="Assistant"/>
                  <a:ea typeface="Assistant"/>
                  <a:cs typeface="Assistant"/>
                  <a:sym typeface="Assistant"/>
                </a:rPr>
                <a:t>מבט מעמיק על הניסוח הפורמלי של מודל ה-Support Vector Machine: הגדרת מישור ההפרדה ובעיית האופטימיזציה הנילווית.</a:t>
              </a:r>
              <a:endParaRPr b="0" sz="1000">
                <a:solidFill>
                  <a:srgbClr val="7A8D9E"/>
                </a:solidFill>
                <a:latin typeface="Assistant"/>
                <a:ea typeface="Assistant"/>
                <a:cs typeface="Assistant"/>
                <a:sym typeface="Assistant"/>
              </a:endParaRPr>
            </a:p>
          </p:txBody>
        </p:sp>
      </p:grpSp>
      <p:grpSp>
        <p:nvGrpSpPr>
          <p:cNvPr id="386" name="Google Shape;386;p25"/>
          <p:cNvGrpSpPr/>
          <p:nvPr/>
        </p:nvGrpSpPr>
        <p:grpSpPr>
          <a:xfrm>
            <a:off x="4810125" y="904875"/>
            <a:ext cx="3762300" cy="3238500"/>
            <a:chOff x="4810125" y="904875"/>
            <a:chExt cx="3762300" cy="3238500"/>
          </a:xfrm>
        </p:grpSpPr>
        <p:sp>
          <p:nvSpPr>
            <p:cNvPr id="387" name="Google Shape;387;p25"/>
            <p:cNvSpPr/>
            <p:nvPr/>
          </p:nvSpPr>
          <p:spPr>
            <a:xfrm>
              <a:off x="4810125" y="904875"/>
              <a:ext cx="3762300" cy="3238500"/>
            </a:xfrm>
            <a:prstGeom prst="roundRect">
              <a:avLst>
                <a:gd fmla="val 1764" name="adj"/>
              </a:avLst>
            </a:prstGeom>
            <a:solidFill>
              <a:srgbClr val="0E1524"/>
            </a:solidFill>
            <a:ln cap="flat" cmpd="sng" w="9525">
              <a:solidFill>
                <a:srgbClr val="1F2E4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88" name="Google Shape;388;p25"/>
            <p:cNvSpPr/>
            <p:nvPr/>
          </p:nvSpPr>
          <p:spPr>
            <a:xfrm>
              <a:off x="4810125" y="904875"/>
              <a:ext cx="3762300" cy="38100"/>
            </a:xfrm>
            <a:prstGeom prst="rect">
              <a:avLst/>
            </a:prstGeom>
            <a:solidFill>
              <a:srgbClr val="00E5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89" name="Google Shape;389;p25"/>
            <p:cNvSpPr txBox="1"/>
            <p:nvPr/>
          </p:nvSpPr>
          <p:spPr>
            <a:xfrm>
              <a:off x="5000625" y="1047750"/>
              <a:ext cx="3381300" cy="2952900"/>
            </a:xfrm>
            <a:prstGeom prst="rect">
              <a:avLst/>
            </a:prstGeom>
            <a:noFill/>
            <a:ln>
              <a:noFill/>
            </a:ln>
          </p:spPr>
          <p:txBody>
            <a:bodyPr anchorCtr="0" anchor="t" bIns="0" lIns="0" spcFirstLastPara="1" rIns="0" wrap="square" tIns="0">
              <a:noAutofit/>
            </a:bodyPr>
            <a:lstStyle/>
            <a:p>
              <a:pPr indent="0" lvl="0" marL="0" rtl="1" algn="r">
                <a:spcBef>
                  <a:spcPts val="0"/>
                </a:spcBef>
                <a:spcAft>
                  <a:spcPts val="0"/>
                </a:spcAft>
                <a:buNone/>
              </a:pPr>
              <a:r>
                <a:rPr b="1" lang="iw" sz="900">
                  <a:solidFill>
                    <a:srgbClr val="00E5FF"/>
                  </a:solidFill>
                  <a:latin typeface="Courier New"/>
                  <a:ea typeface="Courier New"/>
                  <a:cs typeface="Courier New"/>
                  <a:sym typeface="Courier New"/>
                </a:rPr>
                <a:t>FORMULATION_01 // HYPERPLANE</a:t>
              </a:r>
              <a:endParaRPr b="1" sz="900">
                <a:solidFill>
                  <a:srgbClr val="00E5FF"/>
                </a:solidFill>
                <a:latin typeface="Courier New"/>
                <a:ea typeface="Courier New"/>
                <a:cs typeface="Courier New"/>
                <a:sym typeface="Courier New"/>
              </a:endParaRPr>
            </a:p>
            <a:p>
              <a:pPr indent="0" lvl="0" marL="0" rtl="1" algn="r">
                <a:spcBef>
                  <a:spcPts val="450"/>
                </a:spcBef>
                <a:spcAft>
                  <a:spcPts val="0"/>
                </a:spcAft>
                <a:buNone/>
              </a:pPr>
              <a:r>
                <a:rPr b="1" lang="iw" sz="1400">
                  <a:solidFill>
                    <a:srgbClr val="FFFFFF"/>
                  </a:solidFill>
                  <a:latin typeface="Assistant"/>
                  <a:ea typeface="Assistant"/>
                  <a:cs typeface="Assistant"/>
                  <a:sym typeface="Assistant"/>
                </a:rPr>
                <a:t>מישור ההפרדה (Hyperplane)</a:t>
              </a:r>
              <a:endParaRPr b="1" sz="1400">
                <a:solidFill>
                  <a:srgbClr val="FFFFFF"/>
                </a:solidFill>
                <a:latin typeface="Assistant"/>
                <a:ea typeface="Assistant"/>
                <a:cs typeface="Assistant"/>
                <a:sym typeface="Assistant"/>
              </a:endParaRPr>
            </a:p>
            <a:p>
              <a:pPr indent="0" lvl="0" marL="0" rtl="1" algn="ctr">
                <a:spcBef>
                  <a:spcPts val="1200"/>
                </a:spcBef>
                <a:spcAft>
                  <a:spcPts val="0"/>
                </a:spcAft>
                <a:buNone/>
              </a:pPr>
              <a:r>
                <a:rPr b="1" lang="iw" sz="1400">
                  <a:solidFill>
                    <a:srgbClr val="00E5FF"/>
                  </a:solidFill>
                  <a:highlight>
                    <a:srgbClr val="152E3C"/>
                  </a:highlight>
                  <a:latin typeface="Courier New"/>
                  <a:ea typeface="Courier New"/>
                  <a:cs typeface="Courier New"/>
                  <a:sym typeface="Courier New"/>
                </a:rPr>
                <a:t>wᵀx + b = 0</a:t>
              </a:r>
              <a:endParaRPr b="1" sz="1400">
                <a:solidFill>
                  <a:srgbClr val="00E5FF"/>
                </a:solidFill>
                <a:highlight>
                  <a:srgbClr val="152E3C"/>
                </a:highlight>
                <a:latin typeface="Courier New"/>
                <a:ea typeface="Courier New"/>
                <a:cs typeface="Courier New"/>
                <a:sym typeface="Courier New"/>
              </a:endParaRPr>
            </a:p>
            <a:p>
              <a:pPr indent="0" lvl="0" marL="0" rtl="1" algn="r">
                <a:spcBef>
                  <a:spcPts val="400"/>
                </a:spcBef>
                <a:spcAft>
                  <a:spcPts val="0"/>
                </a:spcAft>
                <a:buNone/>
              </a:pPr>
              <a:r>
                <a:rPr b="0" lang="iw" sz="950">
                  <a:solidFill>
                    <a:srgbClr val="A0B2C6"/>
                  </a:solidFill>
                  <a:latin typeface="Assistant"/>
                  <a:ea typeface="Assistant"/>
                  <a:cs typeface="Assistant"/>
                  <a:sym typeface="Assistant"/>
                </a:rPr>
                <a:t>מטרת האלגוריתם היא למצוא את מישור ההפרדה האופטימלי במרחב התכונות שמפריד בין מחלקות הנתונים (חולים ובריאים).</a:t>
              </a:r>
              <a:endParaRPr b="0" sz="950">
                <a:solidFill>
                  <a:srgbClr val="A0B2C6"/>
                </a:solidFill>
                <a:latin typeface="Assistant"/>
                <a:ea typeface="Assistant"/>
                <a:cs typeface="Assistant"/>
                <a:sym typeface="Assistant"/>
              </a:endParaRPr>
            </a:p>
            <a:p>
              <a:pPr indent="0" lvl="0" marL="0" rtl="1" algn="r">
                <a:spcBef>
                  <a:spcPts val="800"/>
                </a:spcBef>
                <a:spcAft>
                  <a:spcPts val="0"/>
                </a:spcAft>
                <a:buNone/>
              </a:pPr>
              <a:r>
                <a:rPr b="1" lang="iw" sz="950">
                  <a:solidFill>
                    <a:srgbClr val="FFFFFF"/>
                  </a:solidFill>
                  <a:latin typeface="Assistant"/>
                  <a:ea typeface="Assistant"/>
                  <a:cs typeface="Assistant"/>
                  <a:sym typeface="Assistant"/>
                </a:rPr>
                <a:t>הסבר הפרמטרים:</a:t>
              </a:r>
              <a:endParaRPr b="0" sz="950">
                <a:solidFill>
                  <a:srgbClr val="A0B2C6"/>
                </a:solidFill>
                <a:latin typeface="Assistant"/>
                <a:ea typeface="Assistant"/>
                <a:cs typeface="Assistant"/>
                <a:sym typeface="Assistant"/>
              </a:endParaRPr>
            </a:p>
            <a:p>
              <a:pPr indent="0" lvl="0" marL="0" rtl="1" algn="r">
                <a:spcBef>
                  <a:spcPts val="400"/>
                </a:spcBef>
                <a:spcAft>
                  <a:spcPts val="0"/>
                </a:spcAft>
                <a:buNone/>
              </a:pPr>
              <a:r>
                <a:rPr b="0" lang="iw" sz="950">
                  <a:solidFill>
                    <a:srgbClr val="A0B2C6"/>
                  </a:solidFill>
                  <a:latin typeface="Assistant"/>
                  <a:ea typeface="Assistant"/>
                  <a:cs typeface="Assistant"/>
                  <a:sym typeface="Assistant"/>
                </a:rPr>
                <a:t>• </a:t>
              </a:r>
              <a:r>
                <a:rPr b="1" lang="iw" sz="950">
                  <a:solidFill>
                    <a:srgbClr val="FFFFFF"/>
                  </a:solidFill>
                  <a:latin typeface="Assistant"/>
                  <a:ea typeface="Assistant"/>
                  <a:cs typeface="Assistant"/>
                  <a:sym typeface="Assistant"/>
                </a:rPr>
                <a:t>w (ווקטור המשקולות):</a:t>
              </a:r>
              <a:r>
                <a:rPr b="0" lang="iw" sz="950">
                  <a:solidFill>
                    <a:srgbClr val="A0B2C6"/>
                  </a:solidFill>
                  <a:latin typeface="Assistant"/>
                  <a:ea typeface="Assistant"/>
                  <a:cs typeface="Assistant"/>
                  <a:sym typeface="Assistant"/>
                </a:rPr>
                <a:t> מגדיר את כיוון מישור ההפרדה ומאונך לו.</a:t>
              </a:r>
              <a:endParaRPr b="0" sz="950">
                <a:solidFill>
                  <a:srgbClr val="A0B2C6"/>
                </a:solidFill>
                <a:latin typeface="Assistant"/>
                <a:ea typeface="Assistant"/>
                <a:cs typeface="Assistant"/>
                <a:sym typeface="Assistant"/>
              </a:endParaRPr>
            </a:p>
            <a:p>
              <a:pPr indent="0" lvl="0" marL="0" rtl="1" algn="r">
                <a:spcBef>
                  <a:spcPts val="300"/>
                </a:spcBef>
                <a:spcAft>
                  <a:spcPts val="0"/>
                </a:spcAft>
                <a:buNone/>
              </a:pPr>
              <a:r>
                <a:rPr b="0" lang="iw" sz="950">
                  <a:solidFill>
                    <a:srgbClr val="A0B2C6"/>
                  </a:solidFill>
                  <a:latin typeface="Assistant"/>
                  <a:ea typeface="Assistant"/>
                  <a:cs typeface="Assistant"/>
                  <a:sym typeface="Assistant"/>
                </a:rPr>
                <a:t>• </a:t>
              </a:r>
              <a:r>
                <a:rPr b="1" lang="iw" sz="950">
                  <a:solidFill>
                    <a:srgbClr val="FFFFFF"/>
                  </a:solidFill>
                  <a:latin typeface="Assistant"/>
                  <a:ea typeface="Assistant"/>
                  <a:cs typeface="Assistant"/>
                  <a:sym typeface="Assistant"/>
                </a:rPr>
                <a:t>b (ההיסט - Bias):</a:t>
              </a:r>
              <a:r>
                <a:rPr b="0" lang="iw" sz="950">
                  <a:solidFill>
                    <a:srgbClr val="A0B2C6"/>
                  </a:solidFill>
                  <a:latin typeface="Assistant"/>
                  <a:ea typeface="Assistant"/>
                  <a:cs typeface="Assistant"/>
                  <a:sym typeface="Assistant"/>
                </a:rPr>
                <a:t> קובע את מרחק המישור מראש הצירים.</a:t>
              </a:r>
              <a:endParaRPr b="0" sz="950">
                <a:solidFill>
                  <a:srgbClr val="A0B2C6"/>
                </a:solidFill>
                <a:latin typeface="Assistant"/>
                <a:ea typeface="Assistant"/>
                <a:cs typeface="Assistant"/>
                <a:sym typeface="Assistant"/>
              </a:endParaRPr>
            </a:p>
          </p:txBody>
        </p:sp>
      </p:grpSp>
      <p:grpSp>
        <p:nvGrpSpPr>
          <p:cNvPr id="390" name="Google Shape;390;p25"/>
          <p:cNvGrpSpPr/>
          <p:nvPr/>
        </p:nvGrpSpPr>
        <p:grpSpPr>
          <a:xfrm>
            <a:off x="571500" y="904875"/>
            <a:ext cx="3762300" cy="3238500"/>
            <a:chOff x="571500" y="904875"/>
            <a:chExt cx="3762300" cy="3238500"/>
          </a:xfrm>
        </p:grpSpPr>
        <p:sp>
          <p:nvSpPr>
            <p:cNvPr id="391" name="Google Shape;391;p25"/>
            <p:cNvSpPr/>
            <p:nvPr/>
          </p:nvSpPr>
          <p:spPr>
            <a:xfrm>
              <a:off x="571500" y="904875"/>
              <a:ext cx="3762300" cy="3238500"/>
            </a:xfrm>
            <a:prstGeom prst="roundRect">
              <a:avLst>
                <a:gd fmla="val 1764" name="adj"/>
              </a:avLst>
            </a:prstGeom>
            <a:solidFill>
              <a:srgbClr val="0E1524"/>
            </a:solidFill>
            <a:ln cap="flat" cmpd="sng" w="9525">
              <a:solidFill>
                <a:srgbClr val="1F2E4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92" name="Google Shape;392;p25"/>
            <p:cNvSpPr/>
            <p:nvPr/>
          </p:nvSpPr>
          <p:spPr>
            <a:xfrm>
              <a:off x="571500" y="904875"/>
              <a:ext cx="3762300" cy="38100"/>
            </a:xfrm>
            <a:prstGeom prst="rect">
              <a:avLst/>
            </a:prstGeom>
            <a:solidFill>
              <a:srgbClr val="10B98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93" name="Google Shape;393;p25"/>
            <p:cNvSpPr txBox="1"/>
            <p:nvPr/>
          </p:nvSpPr>
          <p:spPr>
            <a:xfrm>
              <a:off x="762000" y="1047750"/>
              <a:ext cx="3381300" cy="2952900"/>
            </a:xfrm>
            <a:prstGeom prst="rect">
              <a:avLst/>
            </a:prstGeom>
            <a:noFill/>
            <a:ln>
              <a:noFill/>
            </a:ln>
          </p:spPr>
          <p:txBody>
            <a:bodyPr anchorCtr="0" anchor="t" bIns="0" lIns="0" spcFirstLastPara="1" rIns="0" wrap="square" tIns="0">
              <a:noAutofit/>
            </a:bodyPr>
            <a:lstStyle/>
            <a:p>
              <a:pPr indent="0" lvl="0" marL="0" rtl="1" algn="r">
                <a:spcBef>
                  <a:spcPts val="0"/>
                </a:spcBef>
                <a:spcAft>
                  <a:spcPts val="0"/>
                </a:spcAft>
                <a:buNone/>
              </a:pPr>
              <a:r>
                <a:rPr b="1" lang="iw" sz="900">
                  <a:solidFill>
                    <a:srgbClr val="10B981"/>
                  </a:solidFill>
                  <a:latin typeface="Courier New"/>
                  <a:ea typeface="Courier New"/>
                  <a:cs typeface="Courier New"/>
                  <a:sym typeface="Courier New"/>
                </a:rPr>
                <a:t>FORMULATION_02 // OPTIMIZATION</a:t>
              </a:r>
              <a:endParaRPr b="1" sz="900">
                <a:solidFill>
                  <a:srgbClr val="10B981"/>
                </a:solidFill>
                <a:latin typeface="Courier New"/>
                <a:ea typeface="Courier New"/>
                <a:cs typeface="Courier New"/>
                <a:sym typeface="Courier New"/>
              </a:endParaRPr>
            </a:p>
            <a:p>
              <a:pPr indent="0" lvl="0" marL="0" rtl="1" algn="r">
                <a:spcBef>
                  <a:spcPts val="450"/>
                </a:spcBef>
                <a:spcAft>
                  <a:spcPts val="0"/>
                </a:spcAft>
                <a:buNone/>
              </a:pPr>
              <a:r>
                <a:rPr b="1" lang="iw" sz="1400">
                  <a:solidFill>
                    <a:srgbClr val="FFFFFF"/>
                  </a:solidFill>
                  <a:latin typeface="Assistant"/>
                  <a:ea typeface="Assistant"/>
                  <a:cs typeface="Assistant"/>
                  <a:sym typeface="Assistant"/>
                </a:rPr>
                <a:t>פונקציית האופטימיזציה (Soft Margin)</a:t>
              </a:r>
              <a:endParaRPr b="1" sz="1400">
                <a:solidFill>
                  <a:srgbClr val="FFFFFF"/>
                </a:solidFill>
                <a:latin typeface="Assistant"/>
                <a:ea typeface="Assistant"/>
                <a:cs typeface="Assistant"/>
                <a:sym typeface="Assistant"/>
              </a:endParaRPr>
            </a:p>
            <a:p>
              <a:pPr indent="0" lvl="0" marL="0" rtl="1" algn="ctr">
                <a:spcBef>
                  <a:spcPts val="1200"/>
                </a:spcBef>
                <a:spcAft>
                  <a:spcPts val="0"/>
                </a:spcAft>
                <a:buNone/>
              </a:pPr>
              <a:r>
                <a:rPr b="1" lang="iw" sz="1400">
                  <a:solidFill>
                    <a:srgbClr val="00E5FF"/>
                  </a:solidFill>
                  <a:highlight>
                    <a:srgbClr val="152E3C"/>
                  </a:highlight>
                  <a:latin typeface="Courier New"/>
                  <a:ea typeface="Courier New"/>
                  <a:cs typeface="Courier New"/>
                  <a:sym typeface="Courier New"/>
                </a:rPr>
                <a:t>½ ||w||² + C ∑ᵢ₌₁ᴺ ξᵢ</a:t>
              </a:r>
              <a:endParaRPr b="1" sz="1400">
                <a:solidFill>
                  <a:srgbClr val="00E5FF"/>
                </a:solidFill>
                <a:highlight>
                  <a:srgbClr val="152E3C"/>
                </a:highlight>
                <a:latin typeface="Courier New"/>
                <a:ea typeface="Courier New"/>
                <a:cs typeface="Courier New"/>
                <a:sym typeface="Courier New"/>
              </a:endParaRPr>
            </a:p>
            <a:p>
              <a:pPr indent="0" lvl="0" marL="0" rtl="1" algn="ctr">
                <a:spcBef>
                  <a:spcPts val="600"/>
                </a:spcBef>
                <a:spcAft>
                  <a:spcPts val="0"/>
                </a:spcAft>
                <a:buNone/>
              </a:pPr>
              <a:r>
                <a:rPr b="1" lang="iw" sz="1000">
                  <a:solidFill>
                    <a:srgbClr val="10B981"/>
                  </a:solidFill>
                  <a:latin typeface="Assistant"/>
                  <a:ea typeface="Assistant"/>
                  <a:cs typeface="Assistant"/>
                  <a:sym typeface="Assistant"/>
                </a:rPr>
                <a:t>Subject to: yᵢ ( wᵀφ(xᵢ) + b ) ≥ 1 - ξᵢ</a:t>
              </a:r>
              <a:endParaRPr b="1" sz="1000">
                <a:solidFill>
                  <a:srgbClr val="10B981"/>
                </a:solidFill>
                <a:latin typeface="Assistant"/>
                <a:ea typeface="Assistant"/>
                <a:cs typeface="Assistant"/>
                <a:sym typeface="Assistant"/>
              </a:endParaRPr>
            </a:p>
            <a:p>
              <a:pPr indent="0" lvl="0" marL="0" rtl="1" algn="r">
                <a:spcBef>
                  <a:spcPts val="600"/>
                </a:spcBef>
                <a:spcAft>
                  <a:spcPts val="0"/>
                </a:spcAft>
                <a:buNone/>
              </a:pPr>
              <a:r>
                <a:rPr b="0" lang="iw" sz="950">
                  <a:solidFill>
                    <a:srgbClr val="A0B2C6"/>
                  </a:solidFill>
                  <a:latin typeface="Assistant"/>
                  <a:ea typeface="Assistant"/>
                  <a:cs typeface="Assistant"/>
                  <a:sym typeface="Assistant"/>
                </a:rPr>
                <a:t>הנוסחה מייצגת את האיזון בין </a:t>
              </a:r>
              <a:r>
                <a:rPr b="1" lang="iw" sz="950">
                  <a:solidFill>
                    <a:srgbClr val="FFFFFF"/>
                  </a:solidFill>
                  <a:latin typeface="Assistant"/>
                  <a:ea typeface="Assistant"/>
                  <a:cs typeface="Assistant"/>
                  <a:sym typeface="Assistant"/>
                </a:rPr>
                <a:t>מקסום שולי ההפרדה</a:t>
              </a:r>
              <a:r>
                <a:rPr b="0" lang="iw" sz="950">
                  <a:solidFill>
                    <a:srgbClr val="A0B2C6"/>
                  </a:solidFill>
                  <a:latin typeface="Assistant"/>
                  <a:ea typeface="Assistant"/>
                  <a:cs typeface="Assistant"/>
                  <a:sym typeface="Assistant"/>
                </a:rPr>
                <a:t> לבין </a:t>
              </a:r>
              <a:r>
                <a:rPr b="1" lang="iw" sz="950">
                  <a:solidFill>
                    <a:srgbClr val="FFFFFF"/>
                  </a:solidFill>
                  <a:latin typeface="Assistant"/>
                  <a:ea typeface="Assistant"/>
                  <a:cs typeface="Assistant"/>
                  <a:sym typeface="Assistant"/>
                </a:rPr>
                <a:t>מזעור שגיאות הסיווג</a:t>
              </a:r>
              <a:r>
                <a:rPr b="0" lang="iw" sz="950">
                  <a:solidFill>
                    <a:srgbClr val="A0B2C6"/>
                  </a:solidFill>
                  <a:latin typeface="Assistant"/>
                  <a:ea typeface="Assistant"/>
                  <a:cs typeface="Assistant"/>
                  <a:sym typeface="Assistant"/>
                </a:rPr>
                <a:t> במרחב הטרנספורמציה.</a:t>
              </a:r>
              <a:endParaRPr b="0" sz="950">
                <a:solidFill>
                  <a:srgbClr val="A0B2C6"/>
                </a:solidFill>
                <a:latin typeface="Assistant"/>
                <a:ea typeface="Assistant"/>
                <a:cs typeface="Assistant"/>
                <a:sym typeface="Assistant"/>
              </a:endParaRPr>
            </a:p>
            <a:p>
              <a:pPr indent="0" lvl="0" marL="0" rtl="1" algn="r">
                <a:spcBef>
                  <a:spcPts val="600"/>
                </a:spcBef>
                <a:spcAft>
                  <a:spcPts val="0"/>
                </a:spcAft>
                <a:buNone/>
              </a:pPr>
              <a:r>
                <a:rPr b="0" lang="iw" sz="950">
                  <a:solidFill>
                    <a:srgbClr val="A0B2C6"/>
                  </a:solidFill>
                  <a:latin typeface="Assistant"/>
                  <a:ea typeface="Assistant"/>
                  <a:cs typeface="Assistant"/>
                  <a:sym typeface="Assistant"/>
                </a:rPr>
                <a:t>• </a:t>
              </a:r>
              <a:r>
                <a:rPr b="1" lang="iw" sz="950">
                  <a:solidFill>
                    <a:srgbClr val="FFFFFF"/>
                  </a:solidFill>
                  <a:latin typeface="Assistant"/>
                  <a:ea typeface="Assistant"/>
                  <a:cs typeface="Assistant"/>
                  <a:sym typeface="Assistant"/>
                </a:rPr>
                <a:t>C (פרמטר הרגולריזציה):</a:t>
              </a:r>
              <a:r>
                <a:rPr b="0" lang="iw" sz="950">
                  <a:solidFill>
                    <a:srgbClr val="A0B2C6"/>
                  </a:solidFill>
                  <a:latin typeface="Assistant"/>
                  <a:ea typeface="Assistant"/>
                  <a:cs typeface="Assistant"/>
                  <a:sym typeface="Assistant"/>
                </a:rPr>
                <a:t> שולט על הפשרה בין רוחב השוליים למידת הדיוק באימון.</a:t>
              </a:r>
              <a:endParaRPr b="0" sz="950">
                <a:solidFill>
                  <a:srgbClr val="A0B2C6"/>
                </a:solidFill>
                <a:latin typeface="Assistant"/>
                <a:ea typeface="Assistant"/>
                <a:cs typeface="Assistant"/>
                <a:sym typeface="Assistant"/>
              </a:endParaRPr>
            </a:p>
            <a:p>
              <a:pPr indent="0" lvl="0" marL="0" rtl="1" algn="r">
                <a:spcBef>
                  <a:spcPts val="300"/>
                </a:spcBef>
                <a:spcAft>
                  <a:spcPts val="0"/>
                </a:spcAft>
                <a:buNone/>
              </a:pPr>
              <a:r>
                <a:rPr b="0" lang="iw" sz="950">
                  <a:solidFill>
                    <a:srgbClr val="A0B2C6"/>
                  </a:solidFill>
                  <a:latin typeface="Assistant"/>
                  <a:ea typeface="Assistant"/>
                  <a:cs typeface="Assistant"/>
                  <a:sym typeface="Assistant"/>
                </a:rPr>
                <a:t>• </a:t>
              </a:r>
              <a:r>
                <a:rPr b="1" lang="iw" sz="950">
                  <a:solidFill>
                    <a:srgbClr val="FFFFFF"/>
                  </a:solidFill>
                  <a:latin typeface="Assistant"/>
                  <a:ea typeface="Assistant"/>
                  <a:cs typeface="Assistant"/>
                  <a:sym typeface="Assistant"/>
                </a:rPr>
                <a:t>ξᵢ (משתני Slack):</a:t>
              </a:r>
              <a:r>
                <a:rPr b="0" lang="iw" sz="950">
                  <a:solidFill>
                    <a:srgbClr val="A0B2C6"/>
                  </a:solidFill>
                  <a:latin typeface="Assistant"/>
                  <a:ea typeface="Assistant"/>
                  <a:cs typeface="Assistant"/>
                  <a:sym typeface="Assistant"/>
                </a:rPr>
                <a:t> מאפשרים חריגה קלה מהשוליים עבור נתונים רועשים.</a:t>
              </a:r>
              <a:endParaRPr b="0" sz="950">
                <a:solidFill>
                  <a:srgbClr val="A0B2C6"/>
                </a:solidFill>
                <a:latin typeface="Assistant"/>
                <a:ea typeface="Assistant"/>
                <a:cs typeface="Assistant"/>
                <a:sym typeface="Assistant"/>
              </a:endParaRPr>
            </a:p>
            <a:p>
              <a:pPr indent="0" lvl="0" marL="0" rtl="1" algn="r">
                <a:spcBef>
                  <a:spcPts val="300"/>
                </a:spcBef>
                <a:spcAft>
                  <a:spcPts val="0"/>
                </a:spcAft>
                <a:buNone/>
              </a:pPr>
              <a:r>
                <a:rPr b="0" lang="iw" sz="950">
                  <a:solidFill>
                    <a:srgbClr val="A0B2C6"/>
                  </a:solidFill>
                  <a:latin typeface="Assistant"/>
                  <a:ea typeface="Assistant"/>
                  <a:cs typeface="Assistant"/>
                  <a:sym typeface="Assistant"/>
                </a:rPr>
                <a:t>• </a:t>
              </a:r>
              <a:r>
                <a:rPr b="1" lang="iw" sz="950">
                  <a:solidFill>
                    <a:srgbClr val="FFFFFF"/>
                  </a:solidFill>
                  <a:latin typeface="Assistant"/>
                  <a:ea typeface="Assistant"/>
                  <a:cs typeface="Assistant"/>
                  <a:sym typeface="Assistant"/>
                </a:rPr>
                <a:t>φ(xᵢ):</a:t>
              </a:r>
              <a:r>
                <a:rPr b="0" lang="iw" sz="950">
                  <a:solidFill>
                    <a:srgbClr val="A0B2C6"/>
                  </a:solidFill>
                  <a:latin typeface="Assistant"/>
                  <a:ea typeface="Assistant"/>
                  <a:cs typeface="Assistant"/>
                  <a:sym typeface="Assistant"/>
                </a:rPr>
                <a:t> פונקציית המיפוי (Kernel) המאפשרת הפרדה במרחב בעל ממד גבוה.</a:t>
              </a:r>
              <a:endParaRPr b="0" sz="950">
                <a:solidFill>
                  <a:srgbClr val="A0B2C6"/>
                </a:solidFill>
                <a:latin typeface="Assistant"/>
                <a:ea typeface="Assistant"/>
                <a:cs typeface="Assistant"/>
                <a:sym typeface="Assistant"/>
              </a:endParaRPr>
            </a:p>
          </p:txBody>
        </p:sp>
      </p:grpSp>
      <p:grpSp>
        <p:nvGrpSpPr>
          <p:cNvPr id="394" name="Google Shape;394;p25"/>
          <p:cNvGrpSpPr/>
          <p:nvPr/>
        </p:nvGrpSpPr>
        <p:grpSpPr>
          <a:xfrm>
            <a:off x="571500" y="4333875"/>
            <a:ext cx="8001000" cy="362100"/>
            <a:chOff x="571500" y="4333875"/>
            <a:chExt cx="8001000" cy="362100"/>
          </a:xfrm>
        </p:grpSpPr>
        <p:sp>
          <p:nvSpPr>
            <p:cNvPr id="395" name="Google Shape;395;p25"/>
            <p:cNvSpPr/>
            <p:nvPr/>
          </p:nvSpPr>
          <p:spPr>
            <a:xfrm>
              <a:off x="571500" y="4333875"/>
              <a:ext cx="8001000" cy="362100"/>
            </a:xfrm>
            <a:prstGeom prst="roundRect">
              <a:avLst>
                <a:gd fmla="val 10526" name="adj"/>
              </a:avLst>
            </a:prstGeom>
            <a:solidFill>
              <a:srgbClr val="0A0E1A"/>
            </a:solidFill>
            <a:ln cap="flat" cmpd="sng" w="9525">
              <a:solidFill>
                <a:srgbClr val="1F2E4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96" name="Google Shape;396;p25"/>
            <p:cNvSpPr/>
            <p:nvPr/>
          </p:nvSpPr>
          <p:spPr>
            <a:xfrm>
              <a:off x="7772400" y="4476750"/>
              <a:ext cx="76200" cy="76200"/>
            </a:xfrm>
            <a:prstGeom prst="ellipse">
              <a:avLst/>
            </a:prstGeom>
            <a:solidFill>
              <a:srgbClr val="10B98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97" name="Google Shape;397;p25"/>
            <p:cNvSpPr txBox="1"/>
            <p:nvPr/>
          </p:nvSpPr>
          <p:spPr>
            <a:xfrm>
              <a:off x="714375" y="4333875"/>
              <a:ext cx="6905700" cy="362100"/>
            </a:xfrm>
            <a:prstGeom prst="rect">
              <a:avLst/>
            </a:prstGeom>
            <a:noFill/>
            <a:ln>
              <a:noFill/>
            </a:ln>
          </p:spPr>
          <p:txBody>
            <a:bodyPr anchorCtr="0" anchor="ctr" bIns="0" lIns="0" spcFirstLastPara="1" rIns="0" wrap="square" tIns="0">
              <a:noAutofit/>
            </a:bodyPr>
            <a:lstStyle/>
            <a:p>
              <a:pPr indent="0" lvl="0" marL="0" rtl="1" algn="r">
                <a:spcBef>
                  <a:spcPts val="0"/>
                </a:spcBef>
                <a:spcAft>
                  <a:spcPts val="0"/>
                </a:spcAft>
                <a:buNone/>
              </a:pPr>
              <a:r>
                <a:rPr b="1" lang="iw" sz="900">
                  <a:solidFill>
                    <a:srgbClr val="10B981"/>
                  </a:solidFill>
                  <a:latin typeface="Courier New"/>
                  <a:ea typeface="Courier New"/>
                  <a:cs typeface="Courier New"/>
                  <a:sym typeface="Courier New"/>
                </a:rPr>
                <a:t>הסבר מתמטי: </a:t>
              </a:r>
              <a:r>
                <a:rPr b="0" lang="iw" sz="900">
                  <a:solidFill>
                    <a:srgbClr val="7A8D9E"/>
                  </a:solidFill>
                  <a:latin typeface="Assistant"/>
                  <a:ea typeface="Assistant"/>
                  <a:cs typeface="Assistant"/>
                  <a:sym typeface="Assistant"/>
                </a:rPr>
                <a:t>מודל ה-SVM שואף למצוא את מישור ההפרדה האופטימלי תוך מתן אפשרות מבוקרת לשגיאות סיווג (Soft Margin) על מנת להבטיח הכללה מיטבית על נתונים חדשים.</a:t>
              </a:r>
              <a:endParaRPr b="1" sz="900">
                <a:solidFill>
                  <a:srgbClr val="10B981"/>
                </a:solidFill>
                <a:latin typeface="Courier New"/>
                <a:ea typeface="Courier New"/>
                <a:cs typeface="Courier New"/>
                <a:sym typeface="Courier New"/>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212C"/>
        </a:solidFill>
      </p:bgPr>
    </p:bg>
    <p:spTree>
      <p:nvGrpSpPr>
        <p:cNvPr id="401" name="Shape 401"/>
        <p:cNvGrpSpPr/>
        <p:nvPr/>
      </p:nvGrpSpPr>
      <p:grpSpPr>
        <a:xfrm>
          <a:off x="0" y="0"/>
          <a:ext cx="0" cy="0"/>
          <a:chOff x="0" y="0"/>
          <a:chExt cx="0" cy="0"/>
        </a:xfrm>
      </p:grpSpPr>
      <p:grpSp>
        <p:nvGrpSpPr>
          <p:cNvPr id="402" name="Google Shape;402;p26"/>
          <p:cNvGrpSpPr/>
          <p:nvPr/>
        </p:nvGrpSpPr>
        <p:grpSpPr>
          <a:xfrm>
            <a:off x="1619250" y="238125"/>
            <a:ext cx="6953400" cy="695250"/>
            <a:chOff x="1619250" y="238125"/>
            <a:chExt cx="6953400" cy="695250"/>
          </a:xfrm>
        </p:grpSpPr>
        <p:sp>
          <p:nvSpPr>
            <p:cNvPr id="403" name="Google Shape;403;p26"/>
            <p:cNvSpPr txBox="1"/>
            <p:nvPr/>
          </p:nvSpPr>
          <p:spPr>
            <a:xfrm>
              <a:off x="1852900" y="238125"/>
              <a:ext cx="6719700" cy="428700"/>
            </a:xfrm>
            <a:prstGeom prst="rect">
              <a:avLst/>
            </a:prstGeom>
            <a:noFill/>
            <a:ln>
              <a:noFill/>
            </a:ln>
          </p:spPr>
          <p:txBody>
            <a:bodyPr anchorCtr="0" anchor="t" bIns="0" lIns="0" spcFirstLastPara="1" rIns="0" wrap="square" tIns="0">
              <a:noAutofit/>
            </a:bodyPr>
            <a:lstStyle/>
            <a:p>
              <a:pPr indent="0" lvl="0" marL="0" rtl="1" algn="r">
                <a:spcBef>
                  <a:spcPts val="0"/>
                </a:spcBef>
                <a:spcAft>
                  <a:spcPts val="0"/>
                </a:spcAft>
                <a:buNone/>
              </a:pPr>
              <a:r>
                <a:rPr b="0" lang="iw" sz="2220">
                  <a:solidFill>
                    <a:srgbClr val="FFFFFF"/>
                  </a:solidFill>
                  <a:latin typeface="Assistant ExtraBold"/>
                  <a:ea typeface="Assistant ExtraBold"/>
                  <a:cs typeface="Assistant ExtraBold"/>
                  <a:sym typeface="Assistant ExtraBold"/>
                </a:rPr>
                <a:t>הבסיס המתמטי של Random Forest - מודל מרכזי במאמר</a:t>
              </a:r>
              <a:endParaRPr b="0" sz="2220">
                <a:solidFill>
                  <a:srgbClr val="FFFFFF"/>
                </a:solidFill>
                <a:latin typeface="Assistant ExtraBold"/>
                <a:ea typeface="Assistant ExtraBold"/>
                <a:cs typeface="Assistant ExtraBold"/>
                <a:sym typeface="Assistant ExtraBold"/>
              </a:endParaRPr>
            </a:p>
          </p:txBody>
        </p:sp>
        <p:sp>
          <p:nvSpPr>
            <p:cNvPr id="404" name="Google Shape;404;p26"/>
            <p:cNvSpPr txBox="1"/>
            <p:nvPr/>
          </p:nvSpPr>
          <p:spPr>
            <a:xfrm>
              <a:off x="1619250" y="600075"/>
              <a:ext cx="6953400" cy="333300"/>
            </a:xfrm>
            <a:prstGeom prst="rect">
              <a:avLst/>
            </a:prstGeom>
            <a:noFill/>
            <a:ln>
              <a:noFill/>
            </a:ln>
          </p:spPr>
          <p:txBody>
            <a:bodyPr anchorCtr="0" anchor="t" bIns="0" lIns="0" spcFirstLastPara="1" rIns="0" wrap="square" tIns="0">
              <a:noAutofit/>
            </a:bodyPr>
            <a:lstStyle/>
            <a:p>
              <a:pPr indent="0" lvl="0" marL="0" rtl="1" algn="r">
                <a:spcBef>
                  <a:spcPts val="0"/>
                </a:spcBef>
                <a:spcAft>
                  <a:spcPts val="0"/>
                </a:spcAft>
                <a:buNone/>
              </a:pPr>
              <a:r>
                <a:rPr b="0" lang="iw" sz="1000">
                  <a:solidFill>
                    <a:srgbClr val="7A8D9E"/>
                  </a:solidFill>
                  <a:latin typeface="Assistant"/>
                  <a:ea typeface="Assistant"/>
                  <a:cs typeface="Assistant"/>
                  <a:sym typeface="Assistant"/>
                </a:rPr>
                <a:t>ניתוח פורמלי של מודל יער אקראי: שילוב עצי החלטה עצמאיים לקבלת החלטה משוקללת ומבוססת רוב קולות.</a:t>
              </a:r>
              <a:endParaRPr b="0" sz="1000">
                <a:solidFill>
                  <a:srgbClr val="7A8D9E"/>
                </a:solidFill>
                <a:latin typeface="Assistant"/>
                <a:ea typeface="Assistant"/>
                <a:cs typeface="Assistant"/>
                <a:sym typeface="Assistant"/>
              </a:endParaRPr>
            </a:p>
          </p:txBody>
        </p:sp>
      </p:grpSp>
      <p:grpSp>
        <p:nvGrpSpPr>
          <p:cNvPr id="405" name="Google Shape;405;p26"/>
          <p:cNvGrpSpPr/>
          <p:nvPr/>
        </p:nvGrpSpPr>
        <p:grpSpPr>
          <a:xfrm>
            <a:off x="4810125" y="904875"/>
            <a:ext cx="3762300" cy="3238500"/>
            <a:chOff x="4810125" y="904875"/>
            <a:chExt cx="3762300" cy="3238500"/>
          </a:xfrm>
        </p:grpSpPr>
        <p:sp>
          <p:nvSpPr>
            <p:cNvPr id="406" name="Google Shape;406;p26"/>
            <p:cNvSpPr/>
            <p:nvPr/>
          </p:nvSpPr>
          <p:spPr>
            <a:xfrm>
              <a:off x="4810125" y="904875"/>
              <a:ext cx="3762300" cy="3238500"/>
            </a:xfrm>
            <a:prstGeom prst="roundRect">
              <a:avLst>
                <a:gd fmla="val 1764" name="adj"/>
              </a:avLst>
            </a:prstGeom>
            <a:solidFill>
              <a:srgbClr val="0E1524"/>
            </a:solidFill>
            <a:ln cap="flat" cmpd="sng" w="9525">
              <a:solidFill>
                <a:srgbClr val="1F2E4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07" name="Google Shape;407;p26"/>
            <p:cNvSpPr/>
            <p:nvPr/>
          </p:nvSpPr>
          <p:spPr>
            <a:xfrm>
              <a:off x="4810125" y="904875"/>
              <a:ext cx="3762300" cy="38100"/>
            </a:xfrm>
            <a:prstGeom prst="rect">
              <a:avLst/>
            </a:prstGeom>
            <a:solidFill>
              <a:srgbClr val="00E5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08" name="Google Shape;408;p26"/>
            <p:cNvSpPr txBox="1"/>
            <p:nvPr/>
          </p:nvSpPr>
          <p:spPr>
            <a:xfrm>
              <a:off x="5000625" y="1047750"/>
              <a:ext cx="3381300" cy="2952900"/>
            </a:xfrm>
            <a:prstGeom prst="rect">
              <a:avLst/>
            </a:prstGeom>
            <a:noFill/>
            <a:ln>
              <a:noFill/>
            </a:ln>
          </p:spPr>
          <p:txBody>
            <a:bodyPr anchorCtr="0" anchor="t" bIns="0" lIns="0" spcFirstLastPara="1" rIns="0" wrap="square" tIns="0">
              <a:noAutofit/>
            </a:bodyPr>
            <a:lstStyle/>
            <a:p>
              <a:pPr indent="0" lvl="0" marL="0" rtl="1" algn="r">
                <a:spcBef>
                  <a:spcPts val="0"/>
                </a:spcBef>
                <a:spcAft>
                  <a:spcPts val="0"/>
                </a:spcAft>
                <a:buNone/>
              </a:pPr>
              <a:r>
                <a:rPr b="1" lang="iw" sz="850">
                  <a:solidFill>
                    <a:srgbClr val="00E5FF"/>
                  </a:solidFill>
                  <a:latin typeface="Courier New"/>
                  <a:ea typeface="Courier New"/>
                  <a:cs typeface="Courier New"/>
                  <a:sym typeface="Courier New"/>
                </a:rPr>
                <a:t>FORMULATION_01 // ENSEMBLE_VOTE</a:t>
              </a:r>
              <a:endParaRPr b="1" sz="850">
                <a:solidFill>
                  <a:srgbClr val="00E5FF"/>
                </a:solidFill>
                <a:latin typeface="Courier New"/>
                <a:ea typeface="Courier New"/>
                <a:cs typeface="Courier New"/>
                <a:sym typeface="Courier New"/>
              </a:endParaRPr>
            </a:p>
            <a:p>
              <a:pPr indent="0" lvl="0" marL="0" rtl="1" algn="r">
                <a:spcBef>
                  <a:spcPts val="450"/>
                </a:spcBef>
                <a:spcAft>
                  <a:spcPts val="0"/>
                </a:spcAft>
                <a:buNone/>
              </a:pPr>
              <a:r>
                <a:rPr b="1" lang="iw" sz="1400">
                  <a:solidFill>
                    <a:srgbClr val="FFFFFF"/>
                  </a:solidFill>
                  <a:latin typeface="Assistant"/>
                  <a:ea typeface="Assistant"/>
                  <a:cs typeface="Assistant"/>
                  <a:sym typeface="Assistant"/>
                </a:rPr>
                <a:t>פונקציית החיזוי המשוקללת</a:t>
              </a:r>
              <a:endParaRPr b="1" sz="850">
                <a:solidFill>
                  <a:srgbClr val="10B981"/>
                </a:solidFill>
                <a:latin typeface="Courier New"/>
                <a:ea typeface="Courier New"/>
                <a:cs typeface="Courier New"/>
                <a:sym typeface="Courier New"/>
              </a:endParaRPr>
            </a:p>
            <a:p>
              <a:pPr indent="0" lvl="0" marL="0" rtl="1" algn="ctr">
                <a:spcBef>
                  <a:spcPts val="1200"/>
                </a:spcBef>
                <a:spcAft>
                  <a:spcPts val="0"/>
                </a:spcAft>
                <a:buNone/>
              </a:pPr>
              <a:r>
                <a:rPr b="1" lang="iw" sz="1400">
                  <a:solidFill>
                    <a:srgbClr val="00E5FF"/>
                  </a:solidFill>
                  <a:highlight>
                    <a:srgbClr val="152E3C"/>
                  </a:highlight>
                  <a:latin typeface="Courier New"/>
                  <a:ea typeface="Courier New"/>
                  <a:cs typeface="Courier New"/>
                  <a:sym typeface="Courier New"/>
                </a:rPr>
                <a:t>ŷ = mode( f₁(x), f₂(x), ..., f_K(x) )</a:t>
              </a:r>
              <a:endParaRPr b="1" sz="850">
                <a:solidFill>
                  <a:srgbClr val="10B981"/>
                </a:solidFill>
                <a:latin typeface="Courier New"/>
                <a:ea typeface="Courier New"/>
                <a:cs typeface="Courier New"/>
                <a:sym typeface="Courier New"/>
              </a:endParaRPr>
            </a:p>
            <a:p>
              <a:pPr indent="0" lvl="0" marL="0" rtl="1" algn="r">
                <a:spcBef>
                  <a:spcPts val="800"/>
                </a:spcBef>
                <a:spcAft>
                  <a:spcPts val="0"/>
                </a:spcAft>
                <a:buNone/>
              </a:pPr>
              <a:r>
                <a:rPr b="0" lang="iw" sz="950">
                  <a:solidFill>
                    <a:srgbClr val="A0B2C6"/>
                  </a:solidFill>
                  <a:latin typeface="Assistant"/>
                  <a:ea typeface="Assistant"/>
                  <a:cs typeface="Assistant"/>
                  <a:sym typeface="Assistant"/>
                </a:rPr>
                <a:t>החיזוי הסופי נקבע על ידי שילוב של מספר עצי החלטה בנפרד. כל עץ ביער מספק תחזית עצמאית לגמרי עבור דוגמת הקלט.</a:t>
              </a:r>
              <a:endParaRPr b="1" sz="850">
                <a:solidFill>
                  <a:srgbClr val="10B981"/>
                </a:solidFill>
                <a:latin typeface="Courier New"/>
                <a:ea typeface="Courier New"/>
                <a:cs typeface="Courier New"/>
                <a:sym typeface="Courier New"/>
              </a:endParaRPr>
            </a:p>
            <a:p>
              <a:pPr indent="0" lvl="0" marL="0" rtl="1" algn="r">
                <a:spcBef>
                  <a:spcPts val="800"/>
                </a:spcBef>
                <a:spcAft>
                  <a:spcPts val="0"/>
                </a:spcAft>
                <a:buNone/>
              </a:pPr>
              <a:r>
                <a:rPr b="1" lang="iw" sz="950">
                  <a:solidFill>
                    <a:srgbClr val="FFFFFF"/>
                  </a:solidFill>
                  <a:latin typeface="Assistant"/>
                  <a:ea typeface="Assistant"/>
                  <a:cs typeface="Assistant"/>
                  <a:sym typeface="Assistant"/>
                </a:rPr>
                <a:t>מרכיבי הנוסחה:</a:t>
              </a:r>
              <a:endParaRPr b="1" sz="850">
                <a:solidFill>
                  <a:srgbClr val="10B981"/>
                </a:solidFill>
                <a:latin typeface="Courier New"/>
                <a:ea typeface="Courier New"/>
                <a:cs typeface="Courier New"/>
                <a:sym typeface="Courier New"/>
              </a:endParaRPr>
            </a:p>
            <a:p>
              <a:pPr indent="0" lvl="0" marL="0" rtl="1" algn="r">
                <a:spcBef>
                  <a:spcPts val="400"/>
                </a:spcBef>
                <a:spcAft>
                  <a:spcPts val="0"/>
                </a:spcAft>
                <a:buNone/>
              </a:pPr>
              <a:r>
                <a:rPr b="0" lang="iw" sz="950">
                  <a:solidFill>
                    <a:srgbClr val="A0B2C6"/>
                  </a:solidFill>
                  <a:latin typeface="Assistant"/>
                  <a:ea typeface="Assistant"/>
                  <a:cs typeface="Assistant"/>
                  <a:sym typeface="Assistant"/>
                </a:rPr>
                <a:t>• </a:t>
              </a:r>
              <a:r>
                <a:rPr b="1" lang="iw" sz="950">
                  <a:solidFill>
                    <a:srgbClr val="FFFFFF"/>
                  </a:solidFill>
                  <a:latin typeface="Assistant"/>
                  <a:ea typeface="Assistant"/>
                  <a:cs typeface="Assistant"/>
                  <a:sym typeface="Assistant"/>
                </a:rPr>
                <a:t>ŷ (החיזוי הסופי):</a:t>
              </a:r>
              <a:r>
                <a:rPr b="0" lang="iw" sz="950">
                  <a:solidFill>
                    <a:srgbClr val="A0B2C6"/>
                  </a:solidFill>
                  <a:latin typeface="Assistant"/>
                  <a:ea typeface="Assistant"/>
                  <a:cs typeface="Assistant"/>
                  <a:sym typeface="Assistant"/>
                </a:rPr>
                <a:t> הסיווג שנקבע עבור המטופל (חולה או בריא) על בסיס שקלול היער.</a:t>
              </a:r>
              <a:endParaRPr b="1" sz="850">
                <a:solidFill>
                  <a:srgbClr val="10B981"/>
                </a:solidFill>
                <a:latin typeface="Courier New"/>
                <a:ea typeface="Courier New"/>
                <a:cs typeface="Courier New"/>
                <a:sym typeface="Courier New"/>
              </a:endParaRPr>
            </a:p>
            <a:p>
              <a:pPr indent="0" lvl="0" marL="0" rtl="1" algn="r">
                <a:spcBef>
                  <a:spcPts val="300"/>
                </a:spcBef>
                <a:spcAft>
                  <a:spcPts val="0"/>
                </a:spcAft>
                <a:buNone/>
              </a:pPr>
              <a:r>
                <a:rPr b="0" lang="iw" sz="950">
                  <a:solidFill>
                    <a:srgbClr val="A0B2C6"/>
                  </a:solidFill>
                  <a:latin typeface="Assistant"/>
                  <a:ea typeface="Assistant"/>
                  <a:cs typeface="Assistant"/>
                  <a:sym typeface="Assistant"/>
                </a:rPr>
                <a:t>• </a:t>
              </a:r>
              <a:r>
                <a:rPr b="1" lang="iw" sz="950">
                  <a:solidFill>
                    <a:srgbClr val="FFFFFF"/>
                  </a:solidFill>
                  <a:latin typeface="Assistant"/>
                  <a:ea typeface="Assistant"/>
                  <a:cs typeface="Assistant"/>
                  <a:sym typeface="Assistant"/>
                </a:rPr>
                <a:t>mode (שכיח / רוב קולות):</a:t>
              </a:r>
              <a:r>
                <a:rPr b="0" lang="iw" sz="950">
                  <a:solidFill>
                    <a:srgbClr val="A0B2C6"/>
                  </a:solidFill>
                  <a:latin typeface="Assistant"/>
                  <a:ea typeface="Assistant"/>
                  <a:cs typeface="Assistant"/>
                  <a:sym typeface="Assistant"/>
                </a:rPr>
                <a:t> פונקציה הבוחרת את הקטגוריה השכיחה ביותר מבין כל התוצאות.</a:t>
              </a:r>
              <a:endParaRPr b="1" sz="850">
                <a:solidFill>
                  <a:srgbClr val="10B981"/>
                </a:solidFill>
                <a:latin typeface="Courier New"/>
                <a:ea typeface="Courier New"/>
                <a:cs typeface="Courier New"/>
                <a:sym typeface="Courier New"/>
              </a:endParaRPr>
            </a:p>
            <a:p>
              <a:pPr indent="0" lvl="0" marL="0" rtl="1" algn="r">
                <a:spcBef>
                  <a:spcPts val="300"/>
                </a:spcBef>
                <a:spcAft>
                  <a:spcPts val="0"/>
                </a:spcAft>
                <a:buNone/>
              </a:pPr>
              <a:r>
                <a:rPr b="0" lang="iw" sz="950">
                  <a:solidFill>
                    <a:srgbClr val="A0B2C6"/>
                  </a:solidFill>
                  <a:latin typeface="Assistant"/>
                  <a:ea typeface="Assistant"/>
                  <a:cs typeface="Assistant"/>
                  <a:sym typeface="Assistant"/>
                </a:rPr>
                <a:t>• </a:t>
              </a:r>
              <a:r>
                <a:rPr b="1" lang="iw" sz="950">
                  <a:solidFill>
                    <a:srgbClr val="FFFFFF"/>
                  </a:solidFill>
                  <a:latin typeface="Assistant"/>
                  <a:ea typeface="Assistant"/>
                  <a:cs typeface="Assistant"/>
                  <a:sym typeface="Assistant"/>
                </a:rPr>
                <a:t>f_k(x) (תחזית עץ בודד):</a:t>
              </a:r>
              <a:r>
                <a:rPr b="0" lang="iw" sz="950">
                  <a:solidFill>
                    <a:srgbClr val="A0B2C6"/>
                  </a:solidFill>
                  <a:latin typeface="Assistant"/>
                  <a:ea typeface="Assistant"/>
                  <a:cs typeface="Assistant"/>
                  <a:sym typeface="Assistant"/>
                </a:rPr>
                <a:t> ההחלטה של העץ ה-k-י מתוך סך הכל K עצי החלטה ביער.</a:t>
              </a:r>
              <a:endParaRPr b="1" sz="850">
                <a:solidFill>
                  <a:srgbClr val="10B981"/>
                </a:solidFill>
                <a:latin typeface="Courier New"/>
                <a:ea typeface="Courier New"/>
                <a:cs typeface="Courier New"/>
                <a:sym typeface="Courier New"/>
              </a:endParaRPr>
            </a:p>
          </p:txBody>
        </p:sp>
      </p:grpSp>
      <p:grpSp>
        <p:nvGrpSpPr>
          <p:cNvPr id="409" name="Google Shape;409;p26"/>
          <p:cNvGrpSpPr/>
          <p:nvPr/>
        </p:nvGrpSpPr>
        <p:grpSpPr>
          <a:xfrm>
            <a:off x="571500" y="904875"/>
            <a:ext cx="3762300" cy="3238500"/>
            <a:chOff x="571500" y="904875"/>
            <a:chExt cx="3762300" cy="3238500"/>
          </a:xfrm>
        </p:grpSpPr>
        <p:sp>
          <p:nvSpPr>
            <p:cNvPr id="410" name="Google Shape;410;p26"/>
            <p:cNvSpPr/>
            <p:nvPr/>
          </p:nvSpPr>
          <p:spPr>
            <a:xfrm>
              <a:off x="571500" y="904875"/>
              <a:ext cx="3762300" cy="3238500"/>
            </a:xfrm>
            <a:prstGeom prst="roundRect">
              <a:avLst>
                <a:gd fmla="val 1764" name="adj"/>
              </a:avLst>
            </a:prstGeom>
            <a:solidFill>
              <a:srgbClr val="0E1524"/>
            </a:solidFill>
            <a:ln cap="flat" cmpd="sng" w="9525">
              <a:solidFill>
                <a:srgbClr val="1F2E4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11" name="Google Shape;411;p26"/>
            <p:cNvSpPr/>
            <p:nvPr/>
          </p:nvSpPr>
          <p:spPr>
            <a:xfrm>
              <a:off x="571500" y="904875"/>
              <a:ext cx="3762300" cy="38100"/>
            </a:xfrm>
            <a:prstGeom prst="rect">
              <a:avLst/>
            </a:prstGeom>
            <a:solidFill>
              <a:srgbClr val="10B98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12" name="Google Shape;412;p26"/>
            <p:cNvSpPr txBox="1"/>
            <p:nvPr/>
          </p:nvSpPr>
          <p:spPr>
            <a:xfrm>
              <a:off x="762000" y="1047750"/>
              <a:ext cx="3381300" cy="2952900"/>
            </a:xfrm>
            <a:prstGeom prst="rect">
              <a:avLst/>
            </a:prstGeom>
            <a:noFill/>
            <a:ln>
              <a:noFill/>
            </a:ln>
          </p:spPr>
          <p:txBody>
            <a:bodyPr anchorCtr="0" anchor="t" bIns="0" lIns="0" spcFirstLastPara="1" rIns="0" wrap="square" tIns="0">
              <a:noAutofit/>
            </a:bodyPr>
            <a:lstStyle/>
            <a:p>
              <a:pPr indent="0" lvl="0" marL="0" rtl="1" algn="r">
                <a:spcBef>
                  <a:spcPts val="0"/>
                </a:spcBef>
                <a:spcAft>
                  <a:spcPts val="0"/>
                </a:spcAft>
                <a:buNone/>
              </a:pPr>
              <a:r>
                <a:rPr b="1" lang="iw" sz="850">
                  <a:solidFill>
                    <a:srgbClr val="10B981"/>
                  </a:solidFill>
                  <a:latin typeface="Courier New"/>
                  <a:ea typeface="Courier New"/>
                  <a:cs typeface="Courier New"/>
                  <a:sym typeface="Courier New"/>
                </a:rPr>
                <a:t>FORMULATION_02 // MAJORITY_DECISION</a:t>
              </a:r>
              <a:endParaRPr b="1" sz="850">
                <a:solidFill>
                  <a:srgbClr val="10B981"/>
                </a:solidFill>
                <a:latin typeface="Courier New"/>
                <a:ea typeface="Courier New"/>
                <a:cs typeface="Courier New"/>
                <a:sym typeface="Courier New"/>
              </a:endParaRPr>
            </a:p>
            <a:p>
              <a:pPr indent="0" lvl="0" marL="0" rtl="1" algn="r">
                <a:spcBef>
                  <a:spcPts val="450"/>
                </a:spcBef>
                <a:spcAft>
                  <a:spcPts val="0"/>
                </a:spcAft>
                <a:buNone/>
              </a:pPr>
              <a:r>
                <a:rPr b="1" lang="iw" sz="1400">
                  <a:solidFill>
                    <a:srgbClr val="FFFFFF"/>
                  </a:solidFill>
                  <a:latin typeface="Assistant"/>
                  <a:ea typeface="Assistant"/>
                  <a:cs typeface="Assistant"/>
                  <a:sym typeface="Assistant"/>
                </a:rPr>
                <a:t>קבלת החלטה ברוב קולות</a:t>
              </a:r>
              <a:endParaRPr b="1" sz="850">
                <a:solidFill>
                  <a:srgbClr val="10B981"/>
                </a:solidFill>
                <a:latin typeface="Courier New"/>
                <a:ea typeface="Courier New"/>
                <a:cs typeface="Courier New"/>
                <a:sym typeface="Courier New"/>
              </a:endParaRPr>
            </a:p>
            <a:p>
              <a:pPr indent="0" lvl="0" marL="0" rtl="1" algn="ctr">
                <a:spcBef>
                  <a:spcPts val="1200"/>
                </a:spcBef>
                <a:spcAft>
                  <a:spcPts val="0"/>
                </a:spcAft>
                <a:buNone/>
              </a:pPr>
              <a:r>
                <a:rPr b="1" lang="iw" sz="1400">
                  <a:solidFill>
                    <a:srgbClr val="10B981"/>
                  </a:solidFill>
                  <a:highlight>
                    <a:srgbClr val="14322C"/>
                  </a:highlight>
                  <a:latin typeface="Courier New"/>
                  <a:ea typeface="Courier New"/>
                  <a:cs typeface="Courier New"/>
                  <a:sym typeface="Courier New"/>
                </a:rPr>
                <a:t>Majority Vote Rules</a:t>
              </a:r>
              <a:endParaRPr b="1" sz="850">
                <a:solidFill>
                  <a:srgbClr val="10B981"/>
                </a:solidFill>
                <a:latin typeface="Courier New"/>
                <a:ea typeface="Courier New"/>
                <a:cs typeface="Courier New"/>
                <a:sym typeface="Courier New"/>
              </a:endParaRPr>
            </a:p>
            <a:p>
              <a:pPr indent="0" lvl="0" marL="0" rtl="1" algn="r">
                <a:spcBef>
                  <a:spcPts val="1000"/>
                </a:spcBef>
                <a:spcAft>
                  <a:spcPts val="0"/>
                </a:spcAft>
                <a:buNone/>
              </a:pPr>
              <a:r>
                <a:rPr b="0" lang="iw" sz="950">
                  <a:solidFill>
                    <a:srgbClr val="A0B2C6"/>
                  </a:solidFill>
                  <a:latin typeface="Assistant"/>
                  <a:ea typeface="Assistant"/>
                  <a:cs typeface="Assistant"/>
                  <a:sym typeface="Assistant"/>
                </a:rPr>
                <a:t>כל עץ החלטה שנבנה בתהליך האימון מצביע בנפרד לקטגוריה מסוימת. העיקרון המנחה הוא שילוב המידע לקבלת החלטה קבוצתית מדויקת.</a:t>
              </a:r>
              <a:endParaRPr b="1" sz="850">
                <a:solidFill>
                  <a:srgbClr val="10B981"/>
                </a:solidFill>
                <a:latin typeface="Courier New"/>
                <a:ea typeface="Courier New"/>
                <a:cs typeface="Courier New"/>
                <a:sym typeface="Courier New"/>
              </a:endParaRPr>
            </a:p>
            <a:p>
              <a:pPr indent="0" lvl="0" marL="0" rtl="1" algn="r">
                <a:spcBef>
                  <a:spcPts val="1000"/>
                </a:spcBef>
                <a:spcAft>
                  <a:spcPts val="0"/>
                </a:spcAft>
                <a:buNone/>
              </a:pPr>
              <a:r>
                <a:rPr b="1" lang="iw" sz="950">
                  <a:solidFill>
                    <a:srgbClr val="FFFFFF"/>
                  </a:solidFill>
                  <a:latin typeface="Assistant"/>
                  <a:ea typeface="Assistant"/>
                  <a:cs typeface="Assistant"/>
                  <a:sym typeface="Assistant"/>
                </a:rPr>
                <a:t>מנגנון ההחלטה:</a:t>
              </a:r>
              <a:endParaRPr b="1" sz="850">
                <a:solidFill>
                  <a:srgbClr val="10B981"/>
                </a:solidFill>
                <a:latin typeface="Courier New"/>
                <a:ea typeface="Courier New"/>
                <a:cs typeface="Courier New"/>
                <a:sym typeface="Courier New"/>
              </a:endParaRPr>
            </a:p>
            <a:p>
              <a:pPr indent="0" lvl="0" marL="0" rtl="1" algn="r">
                <a:spcBef>
                  <a:spcPts val="400"/>
                </a:spcBef>
                <a:spcAft>
                  <a:spcPts val="0"/>
                </a:spcAft>
                <a:buNone/>
              </a:pPr>
              <a:r>
                <a:rPr b="0" lang="iw" sz="950">
                  <a:solidFill>
                    <a:srgbClr val="A0B2C6"/>
                  </a:solidFill>
                  <a:latin typeface="Assistant"/>
                  <a:ea typeface="Assistant"/>
                  <a:cs typeface="Assistant"/>
                  <a:sym typeface="Assistant"/>
                </a:rPr>
                <a:t>• </a:t>
              </a:r>
              <a:r>
                <a:rPr b="1" lang="iw" sz="950">
                  <a:solidFill>
                    <a:srgbClr val="FFFFFF"/>
                  </a:solidFill>
                  <a:latin typeface="Assistant"/>
                  <a:ea typeface="Assistant"/>
                  <a:cs typeface="Assistant"/>
                  <a:sym typeface="Assistant"/>
                </a:rPr>
                <a:t>הצבעת העצים:</a:t>
              </a:r>
              <a:r>
                <a:rPr b="0" lang="iw" sz="950">
                  <a:solidFill>
                    <a:srgbClr val="A0B2C6"/>
                  </a:solidFill>
                  <a:latin typeface="Assistant"/>
                  <a:ea typeface="Assistant"/>
                  <a:cs typeface="Assistant"/>
                  <a:sym typeface="Assistant"/>
                </a:rPr>
                <a:t> כל עץ "מצביע" על סמך התכונות הייחודיות של נתוני המטופל שנחשפו אליו.</a:t>
              </a:r>
              <a:endParaRPr b="1" sz="850">
                <a:solidFill>
                  <a:srgbClr val="10B981"/>
                </a:solidFill>
                <a:latin typeface="Courier New"/>
                <a:ea typeface="Courier New"/>
                <a:cs typeface="Courier New"/>
                <a:sym typeface="Courier New"/>
              </a:endParaRPr>
            </a:p>
            <a:p>
              <a:pPr indent="0" lvl="0" marL="0" rtl="1" algn="r">
                <a:spcBef>
                  <a:spcPts val="300"/>
                </a:spcBef>
                <a:spcAft>
                  <a:spcPts val="0"/>
                </a:spcAft>
                <a:buNone/>
              </a:pPr>
              <a:r>
                <a:rPr b="0" lang="iw" sz="950">
                  <a:solidFill>
                    <a:srgbClr val="A0B2C6"/>
                  </a:solidFill>
                  <a:latin typeface="Assistant"/>
                  <a:ea typeface="Assistant"/>
                  <a:cs typeface="Assistant"/>
                  <a:sym typeface="Assistant"/>
                </a:rPr>
                <a:t>• </a:t>
              </a:r>
              <a:r>
                <a:rPr b="1" lang="iw" sz="950">
                  <a:solidFill>
                    <a:srgbClr val="FFFFFF"/>
                  </a:solidFill>
                  <a:latin typeface="Assistant"/>
                  <a:ea typeface="Assistant"/>
                  <a:cs typeface="Assistant"/>
                  <a:sym typeface="Assistant"/>
                </a:rPr>
                <a:t>מניעת התאמת יתר:</a:t>
              </a:r>
              <a:r>
                <a:rPr b="0" lang="iw" sz="950">
                  <a:solidFill>
                    <a:srgbClr val="A0B2C6"/>
                  </a:solidFill>
                  <a:latin typeface="Assistant"/>
                  <a:ea typeface="Assistant"/>
                  <a:cs typeface="Assistant"/>
                  <a:sym typeface="Assistant"/>
                </a:rPr>
                <a:t> הבחירה הסטטיסטית בשכיח מנטרלת שגיאות נקודתיות של עצים בודדים.</a:t>
              </a:r>
              <a:endParaRPr b="1" sz="850">
                <a:solidFill>
                  <a:srgbClr val="10B981"/>
                </a:solidFill>
                <a:latin typeface="Courier New"/>
                <a:ea typeface="Courier New"/>
                <a:cs typeface="Courier New"/>
                <a:sym typeface="Courier New"/>
              </a:endParaRPr>
            </a:p>
            <a:p>
              <a:pPr indent="0" lvl="0" marL="0" rtl="1" algn="r">
                <a:spcBef>
                  <a:spcPts val="300"/>
                </a:spcBef>
                <a:spcAft>
                  <a:spcPts val="0"/>
                </a:spcAft>
                <a:buNone/>
              </a:pPr>
              <a:r>
                <a:rPr b="0" lang="iw" sz="950">
                  <a:solidFill>
                    <a:srgbClr val="A0B2C6"/>
                  </a:solidFill>
                  <a:latin typeface="Assistant"/>
                  <a:ea typeface="Assistant"/>
                  <a:cs typeface="Assistant"/>
                  <a:sym typeface="Assistant"/>
                </a:rPr>
                <a:t>• </a:t>
              </a:r>
              <a:r>
                <a:rPr b="1" lang="iw" sz="950">
                  <a:solidFill>
                    <a:srgbClr val="FFFFFF"/>
                  </a:solidFill>
                  <a:latin typeface="Assistant"/>
                  <a:ea typeface="Assistant"/>
                  <a:cs typeface="Assistant"/>
                  <a:sym typeface="Assistant"/>
                </a:rPr>
                <a:t>עקרון רוב הקולות:</a:t>
              </a:r>
              <a:r>
                <a:rPr b="0" lang="iw" sz="950">
                  <a:solidFill>
                    <a:srgbClr val="A0B2C6"/>
                  </a:solidFill>
                  <a:latin typeface="Assistant"/>
                  <a:ea typeface="Assistant"/>
                  <a:cs typeface="Assistant"/>
                  <a:sym typeface="Assistant"/>
                </a:rPr>
                <a:t> הקטגוריה שקיבלה את מירב קולות העצים נבחרת כחיזוי הסופי של המודל.</a:t>
              </a:r>
              <a:endParaRPr b="1" sz="850">
                <a:solidFill>
                  <a:srgbClr val="10B981"/>
                </a:solidFill>
                <a:latin typeface="Courier New"/>
                <a:ea typeface="Courier New"/>
                <a:cs typeface="Courier New"/>
                <a:sym typeface="Courier New"/>
              </a:endParaRPr>
            </a:p>
          </p:txBody>
        </p:sp>
      </p:grpSp>
      <p:grpSp>
        <p:nvGrpSpPr>
          <p:cNvPr id="413" name="Google Shape;413;p26"/>
          <p:cNvGrpSpPr/>
          <p:nvPr/>
        </p:nvGrpSpPr>
        <p:grpSpPr>
          <a:xfrm>
            <a:off x="571500" y="4333875"/>
            <a:ext cx="8001000" cy="362100"/>
            <a:chOff x="571500" y="4333875"/>
            <a:chExt cx="8001000" cy="362100"/>
          </a:xfrm>
        </p:grpSpPr>
        <p:sp>
          <p:nvSpPr>
            <p:cNvPr id="414" name="Google Shape;414;p26"/>
            <p:cNvSpPr/>
            <p:nvPr/>
          </p:nvSpPr>
          <p:spPr>
            <a:xfrm>
              <a:off x="571500" y="4333875"/>
              <a:ext cx="8001000" cy="362100"/>
            </a:xfrm>
            <a:prstGeom prst="roundRect">
              <a:avLst>
                <a:gd fmla="val 10526" name="adj"/>
              </a:avLst>
            </a:prstGeom>
            <a:solidFill>
              <a:srgbClr val="0A0E1A"/>
            </a:solidFill>
            <a:ln cap="flat" cmpd="sng" w="9525">
              <a:solidFill>
                <a:srgbClr val="1F2E4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15" name="Google Shape;415;p26"/>
            <p:cNvSpPr/>
            <p:nvPr/>
          </p:nvSpPr>
          <p:spPr>
            <a:xfrm>
              <a:off x="7772400" y="4476750"/>
              <a:ext cx="76200" cy="76200"/>
            </a:xfrm>
            <a:prstGeom prst="ellipse">
              <a:avLst/>
            </a:prstGeom>
            <a:solidFill>
              <a:srgbClr val="10B98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16" name="Google Shape;416;p26"/>
            <p:cNvSpPr txBox="1"/>
            <p:nvPr/>
          </p:nvSpPr>
          <p:spPr>
            <a:xfrm>
              <a:off x="714375" y="4333875"/>
              <a:ext cx="6905700" cy="362100"/>
            </a:xfrm>
            <a:prstGeom prst="rect">
              <a:avLst/>
            </a:prstGeom>
            <a:noFill/>
            <a:ln>
              <a:noFill/>
            </a:ln>
          </p:spPr>
          <p:txBody>
            <a:bodyPr anchorCtr="0" anchor="ctr" bIns="0" lIns="0" spcFirstLastPara="1" rIns="0" wrap="square" tIns="0">
              <a:noAutofit/>
            </a:bodyPr>
            <a:lstStyle/>
            <a:p>
              <a:pPr indent="0" lvl="0" marL="0" rtl="1" algn="r">
                <a:spcBef>
                  <a:spcPts val="0"/>
                </a:spcBef>
                <a:spcAft>
                  <a:spcPts val="0"/>
                </a:spcAft>
                <a:buNone/>
              </a:pPr>
              <a:r>
                <a:rPr b="1" lang="iw" sz="900">
                  <a:solidFill>
                    <a:srgbClr val="10B981"/>
                  </a:solidFill>
                  <a:latin typeface="Courier New"/>
                  <a:ea typeface="Courier New"/>
                  <a:cs typeface="Courier New"/>
                  <a:sym typeface="Courier New"/>
                </a:rPr>
                <a:t>הסבר מתמטי: </a:t>
              </a:r>
              <a:r>
                <a:rPr b="0" lang="iw" sz="900">
                  <a:solidFill>
                    <a:srgbClr val="7A8D9E"/>
                  </a:solidFill>
                  <a:latin typeface="Assistant"/>
                  <a:ea typeface="Assistant"/>
                  <a:cs typeface="Assistant"/>
                  <a:sym typeface="Assistant"/>
                </a:rPr>
                <a:t>אלגוריתם היער האקראי משלב את החיזויים של עצי החלטה מרובים, כאשר החיזוי הסופי של המודל נקבע בצורה דמוקרטית על פי רוב הקולות של העצים המצביעים.</a:t>
              </a:r>
              <a:endParaRPr b="1" sz="900">
                <a:solidFill>
                  <a:srgbClr val="10B981"/>
                </a:solidFill>
                <a:latin typeface="Courier New"/>
                <a:ea typeface="Courier New"/>
                <a:cs typeface="Courier New"/>
                <a:sym typeface="Courier New"/>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212C"/>
        </a:solidFill>
      </p:bgPr>
    </p:bg>
    <p:spTree>
      <p:nvGrpSpPr>
        <p:cNvPr id="420" name="Shape 420"/>
        <p:cNvGrpSpPr/>
        <p:nvPr/>
      </p:nvGrpSpPr>
      <p:grpSpPr>
        <a:xfrm>
          <a:off x="0" y="0"/>
          <a:ext cx="0" cy="0"/>
          <a:chOff x="0" y="0"/>
          <a:chExt cx="0" cy="0"/>
        </a:xfrm>
      </p:grpSpPr>
      <p:grpSp>
        <p:nvGrpSpPr>
          <p:cNvPr id="421" name="Google Shape;421;p27"/>
          <p:cNvGrpSpPr/>
          <p:nvPr/>
        </p:nvGrpSpPr>
        <p:grpSpPr>
          <a:xfrm>
            <a:off x="1619250" y="238125"/>
            <a:ext cx="6953400" cy="695250"/>
            <a:chOff x="1619250" y="238125"/>
            <a:chExt cx="6953400" cy="695250"/>
          </a:xfrm>
        </p:grpSpPr>
        <p:sp>
          <p:nvSpPr>
            <p:cNvPr id="422" name="Google Shape;422;p27"/>
            <p:cNvSpPr txBox="1"/>
            <p:nvPr/>
          </p:nvSpPr>
          <p:spPr>
            <a:xfrm>
              <a:off x="4381500" y="238125"/>
              <a:ext cx="4191000" cy="428700"/>
            </a:xfrm>
            <a:prstGeom prst="rect">
              <a:avLst/>
            </a:prstGeom>
            <a:noFill/>
            <a:ln>
              <a:noFill/>
            </a:ln>
          </p:spPr>
          <p:txBody>
            <a:bodyPr anchorCtr="0" anchor="ctr" bIns="0" lIns="0" spcFirstLastPara="1" rIns="0" wrap="square" tIns="0">
              <a:noAutofit/>
            </a:bodyPr>
            <a:lstStyle/>
            <a:p>
              <a:pPr indent="0" lvl="0" marL="0" rtl="1" algn="r">
                <a:spcBef>
                  <a:spcPts val="0"/>
                </a:spcBef>
                <a:spcAft>
                  <a:spcPts val="0"/>
                </a:spcAft>
                <a:buNone/>
              </a:pPr>
              <a:r>
                <a:rPr b="0" lang="iw" sz="1870">
                  <a:solidFill>
                    <a:srgbClr val="FFFFFF"/>
                  </a:solidFill>
                  <a:latin typeface="Assistant ExtraBold"/>
                  <a:ea typeface="Assistant ExtraBold"/>
                  <a:cs typeface="Assistant ExtraBold"/>
                  <a:sym typeface="Assistant ExtraBold"/>
                </a:rPr>
                <a:t>הבסיס המתמטי של Logistic Regression</a:t>
              </a:r>
              <a:endParaRPr b="0" sz="1870">
                <a:solidFill>
                  <a:srgbClr val="FFFFFF"/>
                </a:solidFill>
                <a:latin typeface="Assistant ExtraBold"/>
                <a:ea typeface="Assistant ExtraBold"/>
                <a:cs typeface="Assistant ExtraBold"/>
                <a:sym typeface="Assistant ExtraBold"/>
              </a:endParaRPr>
            </a:p>
          </p:txBody>
        </p:sp>
        <p:sp>
          <p:nvSpPr>
            <p:cNvPr id="423" name="Google Shape;423;p27"/>
            <p:cNvSpPr txBox="1"/>
            <p:nvPr/>
          </p:nvSpPr>
          <p:spPr>
            <a:xfrm>
              <a:off x="1619250" y="600075"/>
              <a:ext cx="6953400" cy="333300"/>
            </a:xfrm>
            <a:prstGeom prst="rect">
              <a:avLst/>
            </a:prstGeom>
            <a:noFill/>
            <a:ln>
              <a:noFill/>
            </a:ln>
          </p:spPr>
          <p:txBody>
            <a:bodyPr anchorCtr="0" anchor="ctr" bIns="0" lIns="0" spcFirstLastPara="1" rIns="0" wrap="square" tIns="0">
              <a:noAutofit/>
            </a:bodyPr>
            <a:lstStyle/>
            <a:p>
              <a:pPr indent="0" lvl="0" marL="0" rtl="1" algn="r">
                <a:spcBef>
                  <a:spcPts val="0"/>
                </a:spcBef>
                <a:spcAft>
                  <a:spcPts val="0"/>
                </a:spcAft>
                <a:buNone/>
              </a:pPr>
              <a:r>
                <a:rPr b="0" lang="iw" sz="1000">
                  <a:solidFill>
                    <a:srgbClr val="7A8D9E"/>
                  </a:solidFill>
                  <a:latin typeface="Assistant"/>
                  <a:ea typeface="Assistant"/>
                  <a:cs typeface="Assistant"/>
                  <a:sym typeface="Assistant"/>
                </a:rPr>
                <a:t>ניתוח פורמלי של מודל רגרסיה לוגיסטית: חישוב הסתברות ההשתייכות למחלקה בעזרת פונקציית הסיגמואיד.</a:t>
              </a:r>
              <a:endParaRPr b="0" sz="1000">
                <a:solidFill>
                  <a:srgbClr val="7A8D9E"/>
                </a:solidFill>
                <a:latin typeface="Assistant"/>
                <a:ea typeface="Assistant"/>
                <a:cs typeface="Assistant"/>
                <a:sym typeface="Assistant"/>
              </a:endParaRPr>
            </a:p>
          </p:txBody>
        </p:sp>
      </p:grpSp>
      <p:grpSp>
        <p:nvGrpSpPr>
          <p:cNvPr id="424" name="Google Shape;424;p27"/>
          <p:cNvGrpSpPr/>
          <p:nvPr/>
        </p:nvGrpSpPr>
        <p:grpSpPr>
          <a:xfrm>
            <a:off x="4810125" y="904875"/>
            <a:ext cx="3762300" cy="3238500"/>
            <a:chOff x="4810125" y="904875"/>
            <a:chExt cx="3762300" cy="3238500"/>
          </a:xfrm>
        </p:grpSpPr>
        <p:sp>
          <p:nvSpPr>
            <p:cNvPr id="425" name="Google Shape;425;p27"/>
            <p:cNvSpPr/>
            <p:nvPr/>
          </p:nvSpPr>
          <p:spPr>
            <a:xfrm>
              <a:off x="4810125" y="904875"/>
              <a:ext cx="3762300" cy="3238500"/>
            </a:xfrm>
            <a:prstGeom prst="roundRect">
              <a:avLst>
                <a:gd fmla="val 1764" name="adj"/>
              </a:avLst>
            </a:prstGeom>
            <a:solidFill>
              <a:srgbClr val="0E1524"/>
            </a:solidFill>
            <a:ln cap="flat" cmpd="sng" w="9525">
              <a:solidFill>
                <a:srgbClr val="1F2E4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26" name="Google Shape;426;p27"/>
            <p:cNvSpPr/>
            <p:nvPr/>
          </p:nvSpPr>
          <p:spPr>
            <a:xfrm>
              <a:off x="4810125" y="904875"/>
              <a:ext cx="3762300" cy="38100"/>
            </a:xfrm>
            <a:prstGeom prst="rect">
              <a:avLst/>
            </a:prstGeom>
            <a:solidFill>
              <a:srgbClr val="00E5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27" name="Google Shape;427;p27"/>
            <p:cNvSpPr txBox="1"/>
            <p:nvPr/>
          </p:nvSpPr>
          <p:spPr>
            <a:xfrm>
              <a:off x="5000625" y="1047750"/>
              <a:ext cx="3381300" cy="2952900"/>
            </a:xfrm>
            <a:prstGeom prst="rect">
              <a:avLst/>
            </a:prstGeom>
            <a:noFill/>
            <a:ln>
              <a:noFill/>
            </a:ln>
          </p:spPr>
          <p:txBody>
            <a:bodyPr anchorCtr="0" anchor="ctr" bIns="0" lIns="0" spcFirstLastPara="1" rIns="0" wrap="square" tIns="0">
              <a:noAutofit/>
            </a:bodyPr>
            <a:lstStyle/>
            <a:p>
              <a:pPr indent="0" lvl="0" marL="0" rtl="1" algn="r">
                <a:spcBef>
                  <a:spcPts val="0"/>
                </a:spcBef>
                <a:spcAft>
                  <a:spcPts val="0"/>
                </a:spcAft>
                <a:buNone/>
              </a:pPr>
              <a:r>
                <a:rPr b="1" lang="iw" sz="850">
                  <a:solidFill>
                    <a:srgbClr val="00E5FF"/>
                  </a:solidFill>
                  <a:latin typeface="Courier New"/>
                  <a:ea typeface="Courier New"/>
                  <a:cs typeface="Courier New"/>
                  <a:sym typeface="Courier New"/>
                </a:rPr>
                <a:t>FORMULATION_01 // SIGMOID_FUNCTION</a:t>
              </a:r>
              <a:endParaRPr b="1" sz="850">
                <a:solidFill>
                  <a:srgbClr val="00E5FF"/>
                </a:solidFill>
                <a:latin typeface="Courier New"/>
                <a:ea typeface="Courier New"/>
                <a:cs typeface="Courier New"/>
                <a:sym typeface="Courier New"/>
              </a:endParaRPr>
            </a:p>
            <a:p>
              <a:pPr indent="0" lvl="0" marL="0" rtl="1" algn="r">
                <a:spcBef>
                  <a:spcPts val="450"/>
                </a:spcBef>
                <a:spcAft>
                  <a:spcPts val="0"/>
                </a:spcAft>
                <a:buNone/>
              </a:pPr>
              <a:r>
                <a:rPr b="1" lang="iw" sz="1400">
                  <a:solidFill>
                    <a:srgbClr val="FFFFFF"/>
                  </a:solidFill>
                  <a:latin typeface="Assistant"/>
                  <a:ea typeface="Assistant"/>
                  <a:cs typeface="Assistant"/>
                  <a:sym typeface="Assistant"/>
                </a:rPr>
                <a:t>נוסחת ה־Sigmoid</a:t>
              </a:r>
              <a:endParaRPr b="1" sz="1400">
                <a:solidFill>
                  <a:srgbClr val="FFFFFF"/>
                </a:solidFill>
                <a:latin typeface="Assistant"/>
                <a:ea typeface="Assistant"/>
                <a:cs typeface="Assistant"/>
                <a:sym typeface="Assistant"/>
              </a:endParaRPr>
            </a:p>
            <a:p>
              <a:pPr indent="0" lvl="0" marL="0" rtl="1" algn="ctr">
                <a:spcBef>
                  <a:spcPts val="1200"/>
                </a:spcBef>
                <a:spcAft>
                  <a:spcPts val="0"/>
                </a:spcAft>
                <a:buNone/>
              </a:pPr>
              <a:r>
                <a:rPr b="1" lang="iw" sz="1400">
                  <a:solidFill>
                    <a:srgbClr val="00E5FF"/>
                  </a:solidFill>
                  <a:highlight>
                    <a:srgbClr val="152E3C"/>
                  </a:highlight>
                  <a:latin typeface="Courier New"/>
                  <a:ea typeface="Courier New"/>
                  <a:cs typeface="Courier New"/>
                  <a:sym typeface="Courier New"/>
                </a:rPr>
                <a:t>P(y=1|x) = 1 / (1 + e^-(wᵀx+b))</a:t>
              </a:r>
              <a:endParaRPr b="1" sz="850">
                <a:solidFill>
                  <a:srgbClr val="00E5FF"/>
                </a:solidFill>
                <a:latin typeface="Courier New"/>
                <a:ea typeface="Courier New"/>
                <a:cs typeface="Courier New"/>
                <a:sym typeface="Courier New"/>
              </a:endParaRPr>
            </a:p>
            <a:p>
              <a:pPr indent="0" lvl="0" marL="0" rtl="1" algn="r">
                <a:spcBef>
                  <a:spcPts val="1200"/>
                </a:spcBef>
                <a:spcAft>
                  <a:spcPts val="0"/>
                </a:spcAft>
                <a:buNone/>
              </a:pPr>
              <a:r>
                <a:rPr b="0" lang="iw" sz="950">
                  <a:solidFill>
                    <a:srgbClr val="A0B2C6"/>
                  </a:solidFill>
                  <a:latin typeface="Assistant"/>
                  <a:ea typeface="Assistant"/>
                  <a:cs typeface="Assistant"/>
                  <a:sym typeface="Assistant"/>
                </a:rPr>
                <a:t>המודל מחשב את ההסתברות שהדוגמה שייכת למחלקה מסוימת (למשל, חולה) על ידי מיפוי הצירוף הליניארי לערך הסתברותי.</a:t>
              </a:r>
              <a:endParaRPr b="0" sz="950">
                <a:solidFill>
                  <a:srgbClr val="A0B2C6"/>
                </a:solidFill>
                <a:latin typeface="Assistant"/>
                <a:ea typeface="Assistant"/>
                <a:cs typeface="Assistant"/>
                <a:sym typeface="Assistant"/>
              </a:endParaRPr>
            </a:p>
            <a:p>
              <a:pPr indent="0" lvl="0" marL="0" rtl="1" algn="r">
                <a:spcBef>
                  <a:spcPts val="800"/>
                </a:spcBef>
                <a:spcAft>
                  <a:spcPts val="0"/>
                </a:spcAft>
                <a:buNone/>
              </a:pPr>
              <a:r>
                <a:rPr b="1" lang="iw" sz="850">
                  <a:solidFill>
                    <a:srgbClr val="FFFFFF"/>
                  </a:solidFill>
                  <a:latin typeface="Assistant"/>
                  <a:ea typeface="Assistant"/>
                  <a:cs typeface="Assistant"/>
                  <a:sym typeface="Assistant"/>
                </a:rPr>
                <a:t>מרכיבי הנוסחה:</a:t>
              </a:r>
              <a:endParaRPr b="1" sz="850">
                <a:solidFill>
                  <a:srgbClr val="FFFFFF"/>
                </a:solidFill>
                <a:latin typeface="Assistant"/>
                <a:ea typeface="Assistant"/>
                <a:cs typeface="Assistant"/>
                <a:sym typeface="Assistant"/>
              </a:endParaRPr>
            </a:p>
            <a:p>
              <a:pPr indent="0" lvl="0" marL="0" rtl="1" algn="r">
                <a:spcBef>
                  <a:spcPts val="400"/>
                </a:spcBef>
                <a:spcAft>
                  <a:spcPts val="0"/>
                </a:spcAft>
                <a:buNone/>
              </a:pPr>
              <a:r>
                <a:rPr b="0" lang="iw" sz="950">
                  <a:solidFill>
                    <a:srgbClr val="A0B2C6"/>
                  </a:solidFill>
                  <a:latin typeface="Assistant"/>
                  <a:ea typeface="Assistant"/>
                  <a:cs typeface="Assistant"/>
                  <a:sym typeface="Assistant"/>
                </a:rPr>
                <a:t>• </a:t>
              </a:r>
              <a:r>
                <a:rPr b="1" lang="iw" sz="950">
                  <a:solidFill>
                    <a:srgbClr val="FFFFFF"/>
                  </a:solidFill>
                  <a:latin typeface="Assistant"/>
                  <a:ea typeface="Assistant"/>
                  <a:cs typeface="Assistant"/>
                  <a:sym typeface="Assistant"/>
                </a:rPr>
                <a:t>wᵀx + b:</a:t>
              </a:r>
              <a:r>
                <a:rPr b="0" lang="iw" sz="950">
                  <a:solidFill>
                    <a:srgbClr val="A0B2C6"/>
                  </a:solidFill>
                  <a:latin typeface="Assistant"/>
                  <a:ea typeface="Assistant"/>
                  <a:cs typeface="Assistant"/>
                  <a:sym typeface="Assistant"/>
                </a:rPr>
                <a:t> הצירוף הליניארי של משתני הקלט והמשקולות.</a:t>
              </a:r>
              <a:endParaRPr b="0" sz="950">
                <a:solidFill>
                  <a:srgbClr val="A0B2C6"/>
                </a:solidFill>
                <a:latin typeface="Assistant"/>
                <a:ea typeface="Assistant"/>
                <a:cs typeface="Assistant"/>
                <a:sym typeface="Assistant"/>
              </a:endParaRPr>
            </a:p>
            <a:p>
              <a:pPr indent="0" lvl="0" marL="0" rtl="1" algn="r">
                <a:spcBef>
                  <a:spcPts val="300"/>
                </a:spcBef>
                <a:spcAft>
                  <a:spcPts val="0"/>
                </a:spcAft>
                <a:buNone/>
              </a:pPr>
              <a:r>
                <a:rPr b="0" lang="iw" sz="950">
                  <a:solidFill>
                    <a:srgbClr val="A0B2C6"/>
                  </a:solidFill>
                  <a:latin typeface="Assistant"/>
                  <a:ea typeface="Assistant"/>
                  <a:cs typeface="Assistant"/>
                  <a:sym typeface="Assistant"/>
                </a:rPr>
                <a:t>• </a:t>
              </a:r>
              <a:r>
                <a:rPr b="1" lang="iw" sz="950">
                  <a:solidFill>
                    <a:srgbClr val="FFFFFF"/>
                  </a:solidFill>
                  <a:latin typeface="Assistant"/>
                  <a:ea typeface="Assistant"/>
                  <a:cs typeface="Assistant"/>
                  <a:sym typeface="Assistant"/>
                </a:rPr>
                <a:t>e (קבוע אוילר):</a:t>
              </a:r>
              <a:r>
                <a:rPr b="0" lang="iw" sz="950">
                  <a:solidFill>
                    <a:srgbClr val="A0B2C6"/>
                  </a:solidFill>
                  <a:latin typeface="Assistant"/>
                  <a:ea typeface="Assistant"/>
                  <a:cs typeface="Assistant"/>
                  <a:sym typeface="Assistant"/>
                </a:rPr>
                <a:t> בסיס הלוגריתם הטבעי, המשמש לייצוג הגידול המעריכי.</a:t>
              </a:r>
              <a:endParaRPr b="0" sz="950">
                <a:solidFill>
                  <a:srgbClr val="A0B2C6"/>
                </a:solidFill>
                <a:latin typeface="Assistant"/>
                <a:ea typeface="Assistant"/>
                <a:cs typeface="Assistant"/>
                <a:sym typeface="Assistant"/>
              </a:endParaRPr>
            </a:p>
          </p:txBody>
        </p:sp>
      </p:grpSp>
      <p:grpSp>
        <p:nvGrpSpPr>
          <p:cNvPr id="428" name="Google Shape;428;p27"/>
          <p:cNvGrpSpPr/>
          <p:nvPr/>
        </p:nvGrpSpPr>
        <p:grpSpPr>
          <a:xfrm>
            <a:off x="571500" y="904875"/>
            <a:ext cx="3762300" cy="3238500"/>
            <a:chOff x="571500" y="904875"/>
            <a:chExt cx="3762300" cy="3238500"/>
          </a:xfrm>
        </p:grpSpPr>
        <p:sp>
          <p:nvSpPr>
            <p:cNvPr id="429" name="Google Shape;429;p27"/>
            <p:cNvSpPr/>
            <p:nvPr/>
          </p:nvSpPr>
          <p:spPr>
            <a:xfrm>
              <a:off x="571500" y="904875"/>
              <a:ext cx="3762300" cy="3238500"/>
            </a:xfrm>
            <a:prstGeom prst="roundRect">
              <a:avLst>
                <a:gd fmla="val 1764" name="adj"/>
              </a:avLst>
            </a:prstGeom>
            <a:solidFill>
              <a:srgbClr val="0E1524"/>
            </a:solidFill>
            <a:ln cap="flat" cmpd="sng" w="9525">
              <a:solidFill>
                <a:srgbClr val="1F2E4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30" name="Google Shape;430;p27"/>
            <p:cNvSpPr/>
            <p:nvPr/>
          </p:nvSpPr>
          <p:spPr>
            <a:xfrm>
              <a:off x="571500" y="904875"/>
              <a:ext cx="3762300" cy="38100"/>
            </a:xfrm>
            <a:prstGeom prst="rect">
              <a:avLst/>
            </a:prstGeom>
            <a:solidFill>
              <a:srgbClr val="10B98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31" name="Google Shape;431;p27"/>
            <p:cNvSpPr txBox="1"/>
            <p:nvPr/>
          </p:nvSpPr>
          <p:spPr>
            <a:xfrm>
              <a:off x="762000" y="1047750"/>
              <a:ext cx="3381300" cy="2952900"/>
            </a:xfrm>
            <a:prstGeom prst="rect">
              <a:avLst/>
            </a:prstGeom>
            <a:noFill/>
            <a:ln>
              <a:noFill/>
            </a:ln>
          </p:spPr>
          <p:txBody>
            <a:bodyPr anchorCtr="0" anchor="ctr" bIns="0" lIns="0" spcFirstLastPara="1" rIns="0" wrap="square" tIns="0">
              <a:noAutofit/>
            </a:bodyPr>
            <a:lstStyle/>
            <a:p>
              <a:pPr indent="0" lvl="0" marL="0" rtl="1" algn="r">
                <a:spcBef>
                  <a:spcPts val="0"/>
                </a:spcBef>
                <a:spcAft>
                  <a:spcPts val="0"/>
                </a:spcAft>
                <a:buNone/>
              </a:pPr>
              <a:r>
                <a:rPr b="1" lang="iw" sz="850">
                  <a:solidFill>
                    <a:srgbClr val="10B981"/>
                  </a:solidFill>
                  <a:latin typeface="Courier New"/>
                  <a:ea typeface="Courier New"/>
                  <a:cs typeface="Courier New"/>
                  <a:sym typeface="Courier New"/>
                </a:rPr>
                <a:t>FORMULATION_02 // DECISION_THRESHOLD</a:t>
              </a:r>
              <a:endParaRPr b="1" sz="850">
                <a:solidFill>
                  <a:srgbClr val="10B981"/>
                </a:solidFill>
                <a:latin typeface="Courier New"/>
                <a:ea typeface="Courier New"/>
                <a:cs typeface="Courier New"/>
                <a:sym typeface="Courier New"/>
              </a:endParaRPr>
            </a:p>
            <a:p>
              <a:pPr indent="0" lvl="0" marL="0" rtl="1" algn="r">
                <a:spcBef>
                  <a:spcPts val="450"/>
                </a:spcBef>
                <a:spcAft>
                  <a:spcPts val="0"/>
                </a:spcAft>
                <a:buNone/>
              </a:pPr>
              <a:r>
                <a:rPr b="1" lang="iw" sz="1400">
                  <a:solidFill>
                    <a:srgbClr val="FFFFFF"/>
                  </a:solidFill>
                  <a:latin typeface="Assistant"/>
                  <a:ea typeface="Assistant"/>
                  <a:cs typeface="Assistant"/>
                  <a:sym typeface="Assistant"/>
                </a:rPr>
                <a:t>קבלת החלטה וסיווג</a:t>
              </a:r>
              <a:endParaRPr b="1" sz="1400">
                <a:solidFill>
                  <a:srgbClr val="FFFFFF"/>
                </a:solidFill>
                <a:latin typeface="Assistant"/>
                <a:ea typeface="Assistant"/>
                <a:cs typeface="Assistant"/>
                <a:sym typeface="Assistant"/>
              </a:endParaRPr>
            </a:p>
            <a:p>
              <a:pPr indent="0" lvl="0" marL="0" rtl="1" algn="ctr">
                <a:spcBef>
                  <a:spcPts val="1200"/>
                </a:spcBef>
                <a:spcAft>
                  <a:spcPts val="0"/>
                </a:spcAft>
                <a:buNone/>
              </a:pPr>
              <a:r>
                <a:rPr b="1" lang="iw" sz="1400">
                  <a:solidFill>
                    <a:srgbClr val="10B981"/>
                  </a:solidFill>
                  <a:highlight>
                    <a:srgbClr val="14322C"/>
                  </a:highlight>
                  <a:latin typeface="Courier New"/>
                  <a:ea typeface="Courier New"/>
                  <a:cs typeface="Courier New"/>
                  <a:sym typeface="Courier New"/>
                </a:rPr>
                <a:t>P(y=1|x) ≥ 0.5 ➔ Disease (1)</a:t>
              </a:r>
              <a:endParaRPr b="1" sz="850">
                <a:solidFill>
                  <a:srgbClr val="10B981"/>
                </a:solidFill>
                <a:latin typeface="Courier New"/>
                <a:ea typeface="Courier New"/>
                <a:cs typeface="Courier New"/>
                <a:sym typeface="Courier New"/>
              </a:endParaRPr>
            </a:p>
            <a:p>
              <a:pPr indent="0" lvl="0" marL="0" rtl="1" algn="r">
                <a:spcBef>
                  <a:spcPts val="1200"/>
                </a:spcBef>
                <a:spcAft>
                  <a:spcPts val="0"/>
                </a:spcAft>
                <a:buNone/>
              </a:pPr>
              <a:r>
                <a:rPr b="0" lang="iw" sz="950">
                  <a:solidFill>
                    <a:srgbClr val="A0B2C6"/>
                  </a:solidFill>
                  <a:latin typeface="Assistant"/>
                  <a:ea typeface="Assistant"/>
                  <a:cs typeface="Assistant"/>
                  <a:sym typeface="Assistant"/>
                </a:rPr>
                <a:t>הפלט של המודל הוא הסתברות בין 0 ל־1. קביעת הסיווג בפועל מתבצעת על פי השוואה לסף ההחלטה המוגדר מראש.</a:t>
              </a:r>
              <a:endParaRPr b="0" sz="950">
                <a:solidFill>
                  <a:srgbClr val="A0B2C6"/>
                </a:solidFill>
                <a:latin typeface="Assistant"/>
                <a:ea typeface="Assistant"/>
                <a:cs typeface="Assistant"/>
                <a:sym typeface="Assistant"/>
              </a:endParaRPr>
            </a:p>
            <a:p>
              <a:pPr indent="0" lvl="0" marL="0" rtl="1" algn="r">
                <a:spcBef>
                  <a:spcPts val="800"/>
                </a:spcBef>
                <a:spcAft>
                  <a:spcPts val="0"/>
                </a:spcAft>
                <a:buNone/>
              </a:pPr>
              <a:r>
                <a:rPr b="1" lang="iw" sz="850">
                  <a:solidFill>
                    <a:srgbClr val="FFFFFF"/>
                  </a:solidFill>
                  <a:latin typeface="Assistant"/>
                  <a:ea typeface="Assistant"/>
                  <a:cs typeface="Assistant"/>
                  <a:sym typeface="Assistant"/>
                </a:rPr>
                <a:t>מנגנון הסיווג:</a:t>
              </a:r>
              <a:endParaRPr b="1" sz="850">
                <a:solidFill>
                  <a:srgbClr val="FFFFFF"/>
                </a:solidFill>
                <a:latin typeface="Assistant"/>
                <a:ea typeface="Assistant"/>
                <a:cs typeface="Assistant"/>
                <a:sym typeface="Assistant"/>
              </a:endParaRPr>
            </a:p>
            <a:p>
              <a:pPr indent="0" lvl="0" marL="0" rtl="1" algn="r">
                <a:spcBef>
                  <a:spcPts val="400"/>
                </a:spcBef>
                <a:spcAft>
                  <a:spcPts val="0"/>
                </a:spcAft>
                <a:buNone/>
              </a:pPr>
              <a:r>
                <a:rPr b="0" lang="iw" sz="950">
                  <a:solidFill>
                    <a:srgbClr val="A0B2C6"/>
                  </a:solidFill>
                  <a:latin typeface="Assistant"/>
                  <a:ea typeface="Assistant"/>
                  <a:cs typeface="Assistant"/>
                  <a:sym typeface="Assistant"/>
                </a:rPr>
                <a:t>• </a:t>
              </a:r>
              <a:r>
                <a:rPr b="1" lang="iw" sz="950">
                  <a:solidFill>
                    <a:srgbClr val="FFFFFF"/>
                  </a:solidFill>
                  <a:latin typeface="Assistant"/>
                  <a:ea typeface="Assistant"/>
                  <a:cs typeface="Assistant"/>
                  <a:sym typeface="Assistant"/>
                </a:rPr>
                <a:t>מעל הסף (≥ 0.5):</a:t>
              </a:r>
              <a:r>
                <a:rPr b="0" lang="iw" sz="950">
                  <a:solidFill>
                    <a:srgbClr val="A0B2C6"/>
                  </a:solidFill>
                  <a:latin typeface="Assistant"/>
                  <a:ea typeface="Assistant"/>
                  <a:cs typeface="Assistant"/>
                  <a:sym typeface="Assistant"/>
                </a:rPr>
                <a:t> הדוגמה מסווגת כחולה (Positive).</a:t>
              </a:r>
              <a:endParaRPr b="0" sz="950">
                <a:solidFill>
                  <a:srgbClr val="A0B2C6"/>
                </a:solidFill>
                <a:latin typeface="Assistant"/>
                <a:ea typeface="Assistant"/>
                <a:cs typeface="Assistant"/>
                <a:sym typeface="Assistant"/>
              </a:endParaRPr>
            </a:p>
            <a:p>
              <a:pPr indent="0" lvl="0" marL="0" rtl="1" algn="r">
                <a:spcBef>
                  <a:spcPts val="300"/>
                </a:spcBef>
                <a:spcAft>
                  <a:spcPts val="0"/>
                </a:spcAft>
                <a:buNone/>
              </a:pPr>
              <a:r>
                <a:rPr b="0" lang="iw" sz="950">
                  <a:solidFill>
                    <a:srgbClr val="A0B2C6"/>
                  </a:solidFill>
                  <a:latin typeface="Assistant"/>
                  <a:ea typeface="Assistant"/>
                  <a:cs typeface="Assistant"/>
                  <a:sym typeface="Assistant"/>
                </a:rPr>
                <a:t>• </a:t>
              </a:r>
              <a:r>
                <a:rPr b="1" lang="iw" sz="950">
                  <a:solidFill>
                    <a:srgbClr val="FFFFFF"/>
                  </a:solidFill>
                  <a:latin typeface="Assistant"/>
                  <a:ea typeface="Assistant"/>
                  <a:cs typeface="Assistant"/>
                  <a:sym typeface="Assistant"/>
                </a:rPr>
                <a:t>מתחת לסף (&lt; 0.5):</a:t>
              </a:r>
              <a:r>
                <a:rPr b="0" lang="iw" sz="950">
                  <a:solidFill>
                    <a:srgbClr val="A0B2C6"/>
                  </a:solidFill>
                  <a:latin typeface="Assistant"/>
                  <a:ea typeface="Assistant"/>
                  <a:cs typeface="Assistant"/>
                  <a:sym typeface="Assistant"/>
                </a:rPr>
                <a:t> הדוגמה מסווגת כבריאה (Negative).</a:t>
              </a:r>
              <a:endParaRPr b="0" sz="950">
                <a:solidFill>
                  <a:srgbClr val="A0B2C6"/>
                </a:solidFill>
                <a:latin typeface="Assistant"/>
                <a:ea typeface="Assistant"/>
                <a:cs typeface="Assistant"/>
                <a:sym typeface="Assistant"/>
              </a:endParaRPr>
            </a:p>
          </p:txBody>
        </p:sp>
      </p:grpSp>
      <p:grpSp>
        <p:nvGrpSpPr>
          <p:cNvPr id="432" name="Google Shape;432;p27"/>
          <p:cNvGrpSpPr/>
          <p:nvPr/>
        </p:nvGrpSpPr>
        <p:grpSpPr>
          <a:xfrm>
            <a:off x="571500" y="4333875"/>
            <a:ext cx="8001000" cy="362100"/>
            <a:chOff x="571500" y="4333875"/>
            <a:chExt cx="8001000" cy="362100"/>
          </a:xfrm>
        </p:grpSpPr>
        <p:sp>
          <p:nvSpPr>
            <p:cNvPr id="433" name="Google Shape;433;p27"/>
            <p:cNvSpPr/>
            <p:nvPr/>
          </p:nvSpPr>
          <p:spPr>
            <a:xfrm>
              <a:off x="571500" y="4333875"/>
              <a:ext cx="8001000" cy="362100"/>
            </a:xfrm>
            <a:prstGeom prst="roundRect">
              <a:avLst>
                <a:gd fmla="val 10526" name="adj"/>
              </a:avLst>
            </a:prstGeom>
            <a:solidFill>
              <a:srgbClr val="0A0E1A"/>
            </a:solidFill>
            <a:ln cap="flat" cmpd="sng" w="9525">
              <a:solidFill>
                <a:srgbClr val="1F2E4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34" name="Google Shape;434;p27"/>
            <p:cNvSpPr/>
            <p:nvPr/>
          </p:nvSpPr>
          <p:spPr>
            <a:xfrm>
              <a:off x="7772400" y="4476750"/>
              <a:ext cx="76200" cy="76200"/>
            </a:xfrm>
            <a:prstGeom prst="ellipse">
              <a:avLst/>
            </a:prstGeom>
            <a:solidFill>
              <a:srgbClr val="10B98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35" name="Google Shape;435;p27"/>
            <p:cNvSpPr txBox="1"/>
            <p:nvPr/>
          </p:nvSpPr>
          <p:spPr>
            <a:xfrm>
              <a:off x="714375" y="4333875"/>
              <a:ext cx="6905700" cy="362100"/>
            </a:xfrm>
            <a:prstGeom prst="rect">
              <a:avLst/>
            </a:prstGeom>
            <a:noFill/>
            <a:ln>
              <a:noFill/>
            </a:ln>
          </p:spPr>
          <p:txBody>
            <a:bodyPr anchorCtr="0" anchor="ctr" bIns="0" lIns="0" spcFirstLastPara="1" rIns="0" wrap="square" tIns="0">
              <a:noAutofit/>
            </a:bodyPr>
            <a:lstStyle/>
            <a:p>
              <a:pPr indent="0" lvl="0" marL="0" rtl="1" algn="r">
                <a:spcBef>
                  <a:spcPts val="0"/>
                </a:spcBef>
                <a:spcAft>
                  <a:spcPts val="0"/>
                </a:spcAft>
                <a:buNone/>
              </a:pPr>
              <a:r>
                <a:rPr b="1" lang="iw" sz="900">
                  <a:solidFill>
                    <a:srgbClr val="10B981"/>
                  </a:solidFill>
                  <a:latin typeface="Courier New"/>
                  <a:ea typeface="Courier New"/>
                  <a:cs typeface="Courier New"/>
                  <a:sym typeface="Courier New"/>
                </a:rPr>
                <a:t>הסבר מתמטי: </a:t>
              </a:r>
              <a:r>
                <a:rPr b="0" lang="iw" sz="900">
                  <a:solidFill>
                    <a:srgbClr val="7A8D9E"/>
                  </a:solidFill>
                  <a:latin typeface="Assistant"/>
                  <a:ea typeface="Assistant"/>
                  <a:cs typeface="Assistant"/>
                  <a:sym typeface="Assistant"/>
                </a:rPr>
                <a:t>המודל מתמקד בחישוב ההסתברות הישירה ומסווג את המטופל על בסיס סף קבוע (0.5), ללא צורך בהצגת פונקציית העלות או חישובי גזירות מורכבים.</a:t>
              </a:r>
              <a:endParaRPr b="1" sz="900">
                <a:solidFill>
                  <a:srgbClr val="10B981"/>
                </a:solidFill>
                <a:latin typeface="Courier New"/>
                <a:ea typeface="Courier New"/>
                <a:cs typeface="Courier New"/>
                <a:sym typeface="Courier New"/>
              </a:endParaRPr>
            </a:p>
          </p:txBody>
        </p:sp>
      </p:gr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212C"/>
        </a:solidFill>
      </p:bgPr>
    </p:bg>
    <p:spTree>
      <p:nvGrpSpPr>
        <p:cNvPr id="439" name="Shape 439"/>
        <p:cNvGrpSpPr/>
        <p:nvPr/>
      </p:nvGrpSpPr>
      <p:grpSpPr>
        <a:xfrm>
          <a:off x="0" y="0"/>
          <a:ext cx="0" cy="0"/>
          <a:chOff x="0" y="0"/>
          <a:chExt cx="0" cy="0"/>
        </a:xfrm>
      </p:grpSpPr>
      <p:grpSp>
        <p:nvGrpSpPr>
          <p:cNvPr id="440" name="Google Shape;440;p28"/>
          <p:cNvGrpSpPr/>
          <p:nvPr/>
        </p:nvGrpSpPr>
        <p:grpSpPr>
          <a:xfrm>
            <a:off x="1619250" y="238125"/>
            <a:ext cx="6953400" cy="695250"/>
            <a:chOff x="1619250" y="238125"/>
            <a:chExt cx="6953400" cy="695250"/>
          </a:xfrm>
        </p:grpSpPr>
        <p:sp>
          <p:nvSpPr>
            <p:cNvPr id="441" name="Google Shape;441;p28"/>
            <p:cNvSpPr txBox="1"/>
            <p:nvPr/>
          </p:nvSpPr>
          <p:spPr>
            <a:xfrm>
              <a:off x="4381500" y="238125"/>
              <a:ext cx="4191000" cy="428700"/>
            </a:xfrm>
            <a:prstGeom prst="rect">
              <a:avLst/>
            </a:prstGeom>
            <a:noFill/>
            <a:ln>
              <a:noFill/>
            </a:ln>
          </p:spPr>
          <p:txBody>
            <a:bodyPr anchorCtr="0" anchor="ctr" bIns="0" lIns="0" spcFirstLastPara="1" rIns="0" wrap="square" tIns="0">
              <a:noAutofit/>
            </a:bodyPr>
            <a:lstStyle/>
            <a:p>
              <a:pPr indent="0" lvl="0" marL="0" rtl="1" algn="r">
                <a:spcBef>
                  <a:spcPts val="0"/>
                </a:spcBef>
                <a:spcAft>
                  <a:spcPts val="0"/>
                </a:spcAft>
                <a:buNone/>
              </a:pPr>
              <a:r>
                <a:rPr b="0" lang="iw" sz="2400">
                  <a:solidFill>
                    <a:srgbClr val="FFFFFF"/>
                  </a:solidFill>
                  <a:latin typeface="Assistant ExtraBold"/>
                  <a:ea typeface="Assistant ExtraBold"/>
                  <a:cs typeface="Assistant ExtraBold"/>
                  <a:sym typeface="Assistant ExtraBold"/>
                </a:rPr>
                <a:t>הבסיס המתמטי של KNN</a:t>
              </a:r>
              <a:endParaRPr b="0" sz="2400">
                <a:solidFill>
                  <a:srgbClr val="FFFFFF"/>
                </a:solidFill>
                <a:latin typeface="Assistant ExtraBold"/>
                <a:ea typeface="Assistant ExtraBold"/>
                <a:cs typeface="Assistant ExtraBold"/>
                <a:sym typeface="Assistant ExtraBold"/>
              </a:endParaRPr>
            </a:p>
          </p:txBody>
        </p:sp>
        <p:sp>
          <p:nvSpPr>
            <p:cNvPr id="442" name="Google Shape;442;p28"/>
            <p:cNvSpPr txBox="1"/>
            <p:nvPr/>
          </p:nvSpPr>
          <p:spPr>
            <a:xfrm>
              <a:off x="1619250" y="600075"/>
              <a:ext cx="6953400" cy="333300"/>
            </a:xfrm>
            <a:prstGeom prst="rect">
              <a:avLst/>
            </a:prstGeom>
            <a:noFill/>
            <a:ln>
              <a:noFill/>
            </a:ln>
          </p:spPr>
          <p:txBody>
            <a:bodyPr anchorCtr="0" anchor="t" bIns="0" lIns="0" spcFirstLastPara="1" rIns="0" wrap="square" tIns="0">
              <a:noAutofit/>
            </a:bodyPr>
            <a:lstStyle/>
            <a:p>
              <a:pPr indent="0" lvl="0" marL="0" rtl="1" algn="r">
                <a:spcBef>
                  <a:spcPts val="0"/>
                </a:spcBef>
                <a:spcAft>
                  <a:spcPts val="0"/>
                </a:spcAft>
                <a:buNone/>
              </a:pPr>
              <a:r>
                <a:rPr b="0" lang="iw" sz="1000">
                  <a:solidFill>
                    <a:srgbClr val="7A8D9E"/>
                  </a:solidFill>
                  <a:latin typeface="Assistant"/>
                  <a:ea typeface="Assistant"/>
                  <a:cs typeface="Assistant"/>
                  <a:sym typeface="Assistant"/>
                </a:rPr>
                <a:t>ניתוח פורמלי של אלגוריתם K-Nearest Neighbors: ללא שלב אימון מודל או נוסחת אופטימיזציה, אלא על בסיס חישוב מרחק ישיר במרחב.</a:t>
              </a:r>
              <a:endParaRPr b="0" sz="1000">
                <a:solidFill>
                  <a:srgbClr val="7A8D9E"/>
                </a:solidFill>
                <a:latin typeface="Assistant"/>
                <a:ea typeface="Assistant"/>
                <a:cs typeface="Assistant"/>
                <a:sym typeface="Assistant"/>
              </a:endParaRPr>
            </a:p>
          </p:txBody>
        </p:sp>
      </p:grpSp>
      <p:grpSp>
        <p:nvGrpSpPr>
          <p:cNvPr id="443" name="Google Shape;443;p28"/>
          <p:cNvGrpSpPr/>
          <p:nvPr/>
        </p:nvGrpSpPr>
        <p:grpSpPr>
          <a:xfrm>
            <a:off x="4810125" y="904875"/>
            <a:ext cx="3762300" cy="3238500"/>
            <a:chOff x="4810125" y="904875"/>
            <a:chExt cx="3762300" cy="3238500"/>
          </a:xfrm>
        </p:grpSpPr>
        <p:sp>
          <p:nvSpPr>
            <p:cNvPr id="444" name="Google Shape;444;p28"/>
            <p:cNvSpPr/>
            <p:nvPr/>
          </p:nvSpPr>
          <p:spPr>
            <a:xfrm>
              <a:off x="4810125" y="904875"/>
              <a:ext cx="3762300" cy="3238500"/>
            </a:xfrm>
            <a:prstGeom prst="roundRect">
              <a:avLst>
                <a:gd fmla="val 1764" name="adj"/>
              </a:avLst>
            </a:prstGeom>
            <a:solidFill>
              <a:srgbClr val="0E1524"/>
            </a:solidFill>
            <a:ln cap="flat" cmpd="sng" w="9525">
              <a:solidFill>
                <a:srgbClr val="1F2E4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45" name="Google Shape;445;p28"/>
            <p:cNvSpPr/>
            <p:nvPr/>
          </p:nvSpPr>
          <p:spPr>
            <a:xfrm>
              <a:off x="4810125" y="904875"/>
              <a:ext cx="3762300" cy="38100"/>
            </a:xfrm>
            <a:prstGeom prst="rect">
              <a:avLst/>
            </a:prstGeom>
            <a:solidFill>
              <a:srgbClr val="00E5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46" name="Google Shape;446;p28"/>
            <p:cNvSpPr txBox="1"/>
            <p:nvPr/>
          </p:nvSpPr>
          <p:spPr>
            <a:xfrm>
              <a:off x="5000625" y="1047750"/>
              <a:ext cx="3381300" cy="2952900"/>
            </a:xfrm>
            <a:prstGeom prst="rect">
              <a:avLst/>
            </a:prstGeom>
            <a:noFill/>
            <a:ln>
              <a:noFill/>
            </a:ln>
          </p:spPr>
          <p:txBody>
            <a:bodyPr anchorCtr="0" anchor="t" bIns="0" lIns="0" spcFirstLastPara="1" rIns="0" wrap="square" tIns="0">
              <a:noAutofit/>
            </a:bodyPr>
            <a:lstStyle/>
            <a:p>
              <a:pPr indent="0" lvl="0" marL="0" rtl="1" algn="r">
                <a:spcBef>
                  <a:spcPts val="0"/>
                </a:spcBef>
                <a:spcAft>
                  <a:spcPts val="0"/>
                </a:spcAft>
                <a:buNone/>
              </a:pPr>
              <a:r>
                <a:rPr b="1" lang="iw" sz="850">
                  <a:solidFill>
                    <a:srgbClr val="00E5FF"/>
                  </a:solidFill>
                  <a:latin typeface="Courier New"/>
                  <a:ea typeface="Courier New"/>
                  <a:cs typeface="Courier New"/>
                  <a:sym typeface="Courier New"/>
                </a:rPr>
                <a:t>FORMULATION_01 // DISTANCE_METRIC</a:t>
              </a:r>
              <a:endParaRPr b="1" sz="850">
                <a:solidFill>
                  <a:srgbClr val="00E5FF"/>
                </a:solidFill>
                <a:latin typeface="Courier New"/>
                <a:ea typeface="Courier New"/>
                <a:cs typeface="Courier New"/>
                <a:sym typeface="Courier New"/>
              </a:endParaRPr>
            </a:p>
            <a:p>
              <a:pPr indent="0" lvl="0" marL="0" rtl="1" algn="r">
                <a:spcBef>
                  <a:spcPts val="450"/>
                </a:spcBef>
                <a:spcAft>
                  <a:spcPts val="0"/>
                </a:spcAft>
                <a:buNone/>
              </a:pPr>
              <a:r>
                <a:rPr b="1" lang="iw" sz="1400">
                  <a:solidFill>
                    <a:srgbClr val="FFFFFF"/>
                  </a:solidFill>
                  <a:latin typeface="Assistant"/>
                  <a:ea typeface="Assistant"/>
                  <a:cs typeface="Assistant"/>
                  <a:sym typeface="Assistant"/>
                </a:rPr>
                <a:t>חישוב המרחק האוקלידי</a:t>
              </a:r>
              <a:endParaRPr b="1" sz="1400">
                <a:solidFill>
                  <a:srgbClr val="FFFFFF"/>
                </a:solidFill>
                <a:latin typeface="Assistant"/>
                <a:ea typeface="Assistant"/>
                <a:cs typeface="Assistant"/>
                <a:sym typeface="Assistant"/>
              </a:endParaRPr>
            </a:p>
            <a:p>
              <a:pPr indent="0" lvl="0" marL="0" rtl="1" algn="ctr">
                <a:spcBef>
                  <a:spcPts val="1200"/>
                </a:spcBef>
                <a:spcAft>
                  <a:spcPts val="0"/>
                </a:spcAft>
                <a:buNone/>
              </a:pPr>
              <a:r>
                <a:rPr b="1" lang="iw" sz="1400">
                  <a:solidFill>
                    <a:srgbClr val="00E5FF"/>
                  </a:solidFill>
                  <a:highlight>
                    <a:srgbClr val="152E3C"/>
                  </a:highlight>
                  <a:latin typeface="Courier New"/>
                  <a:ea typeface="Courier New"/>
                  <a:cs typeface="Courier New"/>
                  <a:sym typeface="Courier New"/>
                </a:rPr>
                <a:t>d(x,y) = √ ∑ᵢ₌₁ⁿ (xᵢ - yᵢ)²</a:t>
              </a:r>
              <a:endParaRPr b="1" sz="1400">
                <a:solidFill>
                  <a:srgbClr val="00E5FF"/>
                </a:solidFill>
                <a:highlight>
                  <a:srgbClr val="152E3C"/>
                </a:highlight>
                <a:latin typeface="Courier New"/>
                <a:ea typeface="Courier New"/>
                <a:cs typeface="Courier New"/>
                <a:sym typeface="Courier New"/>
              </a:endParaRPr>
            </a:p>
            <a:p>
              <a:pPr indent="0" lvl="0" marL="0" rtl="1" algn="r">
                <a:spcBef>
                  <a:spcPts val="1200"/>
                </a:spcBef>
                <a:spcAft>
                  <a:spcPts val="0"/>
                </a:spcAft>
                <a:buNone/>
              </a:pPr>
              <a:r>
                <a:rPr b="0" lang="iw" sz="950">
                  <a:solidFill>
                    <a:srgbClr val="A0B2C6"/>
                  </a:solidFill>
                  <a:latin typeface="Assistant"/>
                  <a:ea typeface="Assistant"/>
                  <a:cs typeface="Assistant"/>
                  <a:sym typeface="Assistant"/>
                </a:rPr>
                <a:t>מכיוון של-KNN אין "מודל" פרמטרי או תהליך אופטימיזציה מקדים, האלגוריתם מסתמך באופן ישיר על חישוב מרחק גאומטרי בין נקודות הנתונים.</a:t>
              </a:r>
              <a:endParaRPr b="0" sz="950">
                <a:solidFill>
                  <a:srgbClr val="A0B2C6"/>
                </a:solidFill>
                <a:latin typeface="Assistant"/>
                <a:ea typeface="Assistant"/>
                <a:cs typeface="Assistant"/>
                <a:sym typeface="Assistant"/>
              </a:endParaRPr>
            </a:p>
            <a:p>
              <a:pPr indent="0" lvl="0" marL="0" rtl="1" algn="r">
                <a:spcBef>
                  <a:spcPts val="800"/>
                </a:spcBef>
                <a:spcAft>
                  <a:spcPts val="0"/>
                </a:spcAft>
                <a:buNone/>
              </a:pPr>
              <a:r>
                <a:rPr b="1" lang="iw" sz="950">
                  <a:solidFill>
                    <a:srgbClr val="FFFFFF"/>
                  </a:solidFill>
                  <a:latin typeface="Assistant"/>
                  <a:ea typeface="Assistant"/>
                  <a:cs typeface="Assistant"/>
                  <a:sym typeface="Assistant"/>
                </a:rPr>
                <a:t>פירוט הנוסחה:</a:t>
              </a:r>
              <a:endParaRPr b="1" sz="950">
                <a:solidFill>
                  <a:srgbClr val="FFFFFF"/>
                </a:solidFill>
                <a:latin typeface="Assistant"/>
                <a:ea typeface="Assistant"/>
                <a:cs typeface="Assistant"/>
                <a:sym typeface="Assistant"/>
              </a:endParaRPr>
            </a:p>
            <a:p>
              <a:pPr indent="0" lvl="0" marL="0" rtl="1" algn="r">
                <a:spcBef>
                  <a:spcPts val="400"/>
                </a:spcBef>
                <a:spcAft>
                  <a:spcPts val="0"/>
                </a:spcAft>
                <a:buNone/>
              </a:pPr>
              <a:r>
                <a:rPr b="0" lang="iw" sz="950">
                  <a:solidFill>
                    <a:srgbClr val="A0B2C6"/>
                  </a:solidFill>
                  <a:latin typeface="Assistant"/>
                  <a:ea typeface="Assistant"/>
                  <a:cs typeface="Assistant"/>
                  <a:sym typeface="Assistant"/>
                </a:rPr>
                <a:t>• </a:t>
              </a:r>
              <a:r>
                <a:rPr b="1" lang="iw" sz="950">
                  <a:solidFill>
                    <a:srgbClr val="FFFFFF"/>
                  </a:solidFill>
                  <a:latin typeface="Assistant"/>
                  <a:ea typeface="Assistant"/>
                  <a:cs typeface="Assistant"/>
                  <a:sym typeface="Assistant"/>
                </a:rPr>
                <a:t>d(x,y):</a:t>
              </a:r>
              <a:r>
                <a:rPr b="0" lang="iw" sz="950">
                  <a:solidFill>
                    <a:srgbClr val="A0B2C6"/>
                  </a:solidFill>
                  <a:latin typeface="Assistant"/>
                  <a:ea typeface="Assistant"/>
                  <a:cs typeface="Assistant"/>
                  <a:sym typeface="Assistant"/>
                </a:rPr>
                <a:t> המרחק בין דוגמת הקלט החדשה x לבין דוגמה קיימת y במאגר.</a:t>
              </a:r>
              <a:endParaRPr b="0" sz="950">
                <a:solidFill>
                  <a:srgbClr val="A0B2C6"/>
                </a:solidFill>
                <a:latin typeface="Assistant"/>
                <a:ea typeface="Assistant"/>
                <a:cs typeface="Assistant"/>
                <a:sym typeface="Assistant"/>
              </a:endParaRPr>
            </a:p>
            <a:p>
              <a:pPr indent="0" lvl="0" marL="0" rtl="1" algn="r">
                <a:spcBef>
                  <a:spcPts val="300"/>
                </a:spcBef>
                <a:spcAft>
                  <a:spcPts val="0"/>
                </a:spcAft>
                <a:buNone/>
              </a:pPr>
              <a:r>
                <a:rPr b="0" lang="iw" sz="950">
                  <a:solidFill>
                    <a:srgbClr val="A0B2C6"/>
                  </a:solidFill>
                  <a:latin typeface="Assistant"/>
                  <a:ea typeface="Assistant"/>
                  <a:cs typeface="Assistant"/>
                  <a:sym typeface="Assistant"/>
                </a:rPr>
                <a:t>• </a:t>
              </a:r>
              <a:r>
                <a:rPr b="1" lang="iw" sz="950">
                  <a:solidFill>
                    <a:srgbClr val="FFFFFF"/>
                  </a:solidFill>
                  <a:latin typeface="Assistant"/>
                  <a:ea typeface="Assistant"/>
                  <a:cs typeface="Assistant"/>
                  <a:sym typeface="Assistant"/>
                </a:rPr>
                <a:t>xᵢ, yᵢ:</a:t>
              </a:r>
              <a:r>
                <a:rPr b="0" lang="iw" sz="950">
                  <a:solidFill>
                    <a:srgbClr val="A0B2C6"/>
                  </a:solidFill>
                  <a:latin typeface="Assistant"/>
                  <a:ea typeface="Assistant"/>
                  <a:cs typeface="Assistant"/>
                  <a:sym typeface="Assistant"/>
                </a:rPr>
                <a:t> ערכי התכונות (הקואורדינטות) השונות בממד ה-i מתוך n ממדים.</a:t>
              </a:r>
              <a:endParaRPr b="0" sz="950">
                <a:solidFill>
                  <a:srgbClr val="A0B2C6"/>
                </a:solidFill>
                <a:latin typeface="Assistant"/>
                <a:ea typeface="Assistant"/>
                <a:cs typeface="Assistant"/>
                <a:sym typeface="Assistant"/>
              </a:endParaRPr>
            </a:p>
            <a:p>
              <a:pPr indent="0" lvl="0" marL="0" rtl="1" algn="r">
                <a:spcBef>
                  <a:spcPts val="300"/>
                </a:spcBef>
                <a:spcAft>
                  <a:spcPts val="0"/>
                </a:spcAft>
                <a:buNone/>
              </a:pPr>
              <a:r>
                <a:rPr b="0" lang="iw" sz="950">
                  <a:solidFill>
                    <a:srgbClr val="A0B2C6"/>
                  </a:solidFill>
                  <a:latin typeface="Assistant"/>
                  <a:ea typeface="Assistant"/>
                  <a:cs typeface="Assistant"/>
                  <a:sym typeface="Assistant"/>
                </a:rPr>
                <a:t>• </a:t>
              </a:r>
              <a:r>
                <a:rPr b="1" lang="iw" sz="950">
                  <a:solidFill>
                    <a:srgbClr val="FFFFFF"/>
                  </a:solidFill>
                  <a:latin typeface="Assistant"/>
                  <a:ea typeface="Assistant"/>
                  <a:cs typeface="Assistant"/>
                  <a:sym typeface="Assistant"/>
                </a:rPr>
                <a:t>∑ (סכום ההפרשים):</a:t>
              </a:r>
              <a:r>
                <a:rPr b="0" lang="iw" sz="950">
                  <a:solidFill>
                    <a:srgbClr val="A0B2C6"/>
                  </a:solidFill>
                  <a:latin typeface="Assistant"/>
                  <a:ea typeface="Assistant"/>
                  <a:cs typeface="Assistant"/>
                  <a:sym typeface="Assistant"/>
                </a:rPr>
                <a:t> סכימת הריבועים של ההפרשים בכל אחד מממדי התכונות של המטופלים.</a:t>
              </a:r>
              <a:endParaRPr b="0" sz="950">
                <a:solidFill>
                  <a:srgbClr val="A0B2C6"/>
                </a:solidFill>
                <a:latin typeface="Assistant"/>
                <a:ea typeface="Assistant"/>
                <a:cs typeface="Assistant"/>
                <a:sym typeface="Assistant"/>
              </a:endParaRPr>
            </a:p>
          </p:txBody>
        </p:sp>
      </p:grpSp>
      <p:grpSp>
        <p:nvGrpSpPr>
          <p:cNvPr id="447" name="Google Shape;447;p28"/>
          <p:cNvGrpSpPr/>
          <p:nvPr/>
        </p:nvGrpSpPr>
        <p:grpSpPr>
          <a:xfrm>
            <a:off x="571500" y="904875"/>
            <a:ext cx="3762300" cy="3238500"/>
            <a:chOff x="571500" y="904875"/>
            <a:chExt cx="3762300" cy="3238500"/>
          </a:xfrm>
        </p:grpSpPr>
        <p:sp>
          <p:nvSpPr>
            <p:cNvPr id="448" name="Google Shape;448;p28"/>
            <p:cNvSpPr/>
            <p:nvPr/>
          </p:nvSpPr>
          <p:spPr>
            <a:xfrm>
              <a:off x="571500" y="904875"/>
              <a:ext cx="3762300" cy="3238500"/>
            </a:xfrm>
            <a:prstGeom prst="roundRect">
              <a:avLst>
                <a:gd fmla="val 1764" name="adj"/>
              </a:avLst>
            </a:prstGeom>
            <a:solidFill>
              <a:srgbClr val="0E1524"/>
            </a:solidFill>
            <a:ln cap="flat" cmpd="sng" w="9525">
              <a:solidFill>
                <a:srgbClr val="1F2E4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49" name="Google Shape;449;p28"/>
            <p:cNvSpPr/>
            <p:nvPr/>
          </p:nvSpPr>
          <p:spPr>
            <a:xfrm>
              <a:off x="571500" y="904875"/>
              <a:ext cx="3762300" cy="38100"/>
            </a:xfrm>
            <a:prstGeom prst="rect">
              <a:avLst/>
            </a:prstGeom>
            <a:solidFill>
              <a:srgbClr val="10B98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50" name="Google Shape;450;p28"/>
            <p:cNvSpPr txBox="1"/>
            <p:nvPr/>
          </p:nvSpPr>
          <p:spPr>
            <a:xfrm>
              <a:off x="762000" y="1047750"/>
              <a:ext cx="3381300" cy="2952900"/>
            </a:xfrm>
            <a:prstGeom prst="rect">
              <a:avLst/>
            </a:prstGeom>
            <a:noFill/>
            <a:ln>
              <a:noFill/>
            </a:ln>
          </p:spPr>
          <p:txBody>
            <a:bodyPr anchorCtr="0" anchor="t" bIns="0" lIns="0" spcFirstLastPara="1" rIns="0" wrap="square" tIns="0">
              <a:noAutofit/>
            </a:bodyPr>
            <a:lstStyle/>
            <a:p>
              <a:pPr indent="0" lvl="0" marL="0" rtl="1" algn="r">
                <a:spcBef>
                  <a:spcPts val="0"/>
                </a:spcBef>
                <a:spcAft>
                  <a:spcPts val="0"/>
                </a:spcAft>
                <a:buNone/>
              </a:pPr>
              <a:r>
                <a:rPr b="1" lang="iw" sz="850">
                  <a:solidFill>
                    <a:srgbClr val="10B981"/>
                  </a:solidFill>
                  <a:latin typeface="Courier New"/>
                  <a:ea typeface="Courier New"/>
                  <a:cs typeface="Courier New"/>
                  <a:sym typeface="Courier New"/>
                </a:rPr>
                <a:t>FORMULATION_02 // NEIGHBORS_CLASSIFICATION</a:t>
              </a:r>
              <a:endParaRPr b="1" sz="850">
                <a:solidFill>
                  <a:srgbClr val="10B981"/>
                </a:solidFill>
                <a:latin typeface="Courier New"/>
                <a:ea typeface="Courier New"/>
                <a:cs typeface="Courier New"/>
                <a:sym typeface="Courier New"/>
              </a:endParaRPr>
            </a:p>
            <a:p>
              <a:pPr indent="0" lvl="0" marL="0" rtl="1" algn="r">
                <a:spcBef>
                  <a:spcPts val="450"/>
                </a:spcBef>
                <a:spcAft>
                  <a:spcPts val="0"/>
                </a:spcAft>
                <a:buNone/>
              </a:pPr>
              <a:r>
                <a:rPr b="1" lang="iw" sz="1400">
                  <a:solidFill>
                    <a:srgbClr val="FFFFFF"/>
                  </a:solidFill>
                  <a:latin typeface="Assistant"/>
                  <a:ea typeface="Assistant"/>
                  <a:cs typeface="Assistant"/>
                  <a:sym typeface="Assistant"/>
                </a:rPr>
                <a:t>סיווג לפי רוב קולות השכנים</a:t>
              </a:r>
              <a:endParaRPr b="1" sz="1400">
                <a:solidFill>
                  <a:srgbClr val="FFFFFF"/>
                </a:solidFill>
                <a:latin typeface="Assistant"/>
                <a:ea typeface="Assistant"/>
                <a:cs typeface="Assistant"/>
                <a:sym typeface="Assistant"/>
              </a:endParaRPr>
            </a:p>
            <a:p>
              <a:pPr indent="0" lvl="0" marL="0" rtl="1" algn="ctr">
                <a:spcBef>
                  <a:spcPts val="1200"/>
                </a:spcBef>
                <a:spcAft>
                  <a:spcPts val="0"/>
                </a:spcAft>
                <a:buNone/>
              </a:pPr>
              <a:r>
                <a:rPr b="1" lang="iw" sz="1400">
                  <a:solidFill>
                    <a:srgbClr val="10B981"/>
                  </a:solidFill>
                  <a:highlight>
                    <a:srgbClr val="14322C"/>
                  </a:highlight>
                  <a:latin typeface="Courier New"/>
                  <a:ea typeface="Courier New"/>
                  <a:cs typeface="Courier New"/>
                  <a:sym typeface="Courier New"/>
                </a:rPr>
                <a:t>ŷ = argmax_c ∑_{i ∈ N_K(x)} I(y_i = c)</a:t>
              </a:r>
              <a:endParaRPr b="1" sz="1400">
                <a:solidFill>
                  <a:srgbClr val="10B981"/>
                </a:solidFill>
                <a:highlight>
                  <a:srgbClr val="14322C"/>
                </a:highlight>
                <a:latin typeface="Courier New"/>
                <a:ea typeface="Courier New"/>
                <a:cs typeface="Courier New"/>
                <a:sym typeface="Courier New"/>
              </a:endParaRPr>
            </a:p>
            <a:p>
              <a:pPr indent="0" lvl="0" marL="0" rtl="1" algn="r">
                <a:spcBef>
                  <a:spcPts val="1200"/>
                </a:spcBef>
                <a:spcAft>
                  <a:spcPts val="0"/>
                </a:spcAft>
                <a:buNone/>
              </a:pPr>
              <a:r>
                <a:rPr b="0" lang="iw" sz="950">
                  <a:solidFill>
                    <a:srgbClr val="A0B2C6"/>
                  </a:solidFill>
                  <a:latin typeface="Assistant"/>
                  <a:ea typeface="Assistant"/>
                  <a:cs typeface="Assistant"/>
                  <a:sym typeface="Assistant"/>
                </a:rPr>
                <a:t>לאחר חישוב המרחקים, האלגוריתם מאתר את K השכנים הקרובים ביותר ומבצע החלטה דמוקרטית המבוססת על השכיח בקבוצה.</a:t>
              </a:r>
              <a:endParaRPr b="0" sz="950">
                <a:solidFill>
                  <a:srgbClr val="A0B2C6"/>
                </a:solidFill>
                <a:latin typeface="Assistant"/>
                <a:ea typeface="Assistant"/>
                <a:cs typeface="Assistant"/>
                <a:sym typeface="Assistant"/>
              </a:endParaRPr>
            </a:p>
            <a:p>
              <a:pPr indent="0" lvl="0" marL="0" rtl="1" algn="r">
                <a:spcBef>
                  <a:spcPts val="800"/>
                </a:spcBef>
                <a:spcAft>
                  <a:spcPts val="0"/>
                </a:spcAft>
                <a:buNone/>
              </a:pPr>
              <a:r>
                <a:rPr b="1" lang="iw" sz="950">
                  <a:solidFill>
                    <a:srgbClr val="FFFFFF"/>
                  </a:solidFill>
                  <a:latin typeface="Assistant"/>
                  <a:ea typeface="Assistant"/>
                  <a:cs typeface="Assistant"/>
                  <a:sym typeface="Assistant"/>
                </a:rPr>
                <a:t>שלבי האלגוריתם:</a:t>
              </a:r>
              <a:endParaRPr b="1" sz="950">
                <a:solidFill>
                  <a:srgbClr val="FFFFFF"/>
                </a:solidFill>
                <a:latin typeface="Assistant"/>
                <a:ea typeface="Assistant"/>
                <a:cs typeface="Assistant"/>
                <a:sym typeface="Assistant"/>
              </a:endParaRPr>
            </a:p>
            <a:p>
              <a:pPr indent="0" lvl="0" marL="0" rtl="1" algn="r">
                <a:spcBef>
                  <a:spcPts val="400"/>
                </a:spcBef>
                <a:spcAft>
                  <a:spcPts val="0"/>
                </a:spcAft>
                <a:buNone/>
              </a:pPr>
              <a:r>
                <a:rPr b="0" lang="iw" sz="950">
                  <a:solidFill>
                    <a:srgbClr val="A0B2C6"/>
                  </a:solidFill>
                  <a:latin typeface="Assistant"/>
                  <a:ea typeface="Assistant"/>
                  <a:cs typeface="Assistant"/>
                  <a:sym typeface="Assistant"/>
                </a:rPr>
                <a:t>• </a:t>
              </a:r>
              <a:r>
                <a:rPr b="1" lang="iw" sz="950">
                  <a:solidFill>
                    <a:srgbClr val="FFFFFF"/>
                  </a:solidFill>
                  <a:latin typeface="Assistant"/>
                  <a:ea typeface="Assistant"/>
                  <a:cs typeface="Assistant"/>
                  <a:sym typeface="Assistant"/>
                </a:rPr>
                <a:t>חישוב מרחקים מקיף:</a:t>
              </a:r>
              <a:r>
                <a:rPr b="0" lang="iw" sz="950">
                  <a:solidFill>
                    <a:srgbClr val="A0B2C6"/>
                  </a:solidFill>
                  <a:latin typeface="Assistant"/>
                  <a:ea typeface="Assistant"/>
                  <a:cs typeface="Assistant"/>
                  <a:sym typeface="Assistant"/>
                </a:rPr>
                <a:t> מדידת המרחק d(x,y) בין הדוגמה החדשה לכל נקודה במאגר.</a:t>
              </a:r>
              <a:endParaRPr b="0" sz="950">
                <a:solidFill>
                  <a:srgbClr val="A0B2C6"/>
                </a:solidFill>
                <a:latin typeface="Assistant"/>
                <a:ea typeface="Assistant"/>
                <a:cs typeface="Assistant"/>
                <a:sym typeface="Assistant"/>
              </a:endParaRPr>
            </a:p>
            <a:p>
              <a:pPr indent="0" lvl="0" marL="0" rtl="1" algn="r">
                <a:spcBef>
                  <a:spcPts val="300"/>
                </a:spcBef>
                <a:spcAft>
                  <a:spcPts val="0"/>
                </a:spcAft>
                <a:buNone/>
              </a:pPr>
              <a:r>
                <a:rPr b="0" lang="iw" sz="950">
                  <a:solidFill>
                    <a:srgbClr val="A0B2C6"/>
                  </a:solidFill>
                  <a:latin typeface="Assistant"/>
                  <a:ea typeface="Assistant"/>
                  <a:cs typeface="Assistant"/>
                  <a:sym typeface="Assistant"/>
                </a:rPr>
                <a:t>• </a:t>
              </a:r>
              <a:r>
                <a:rPr b="1" lang="iw" sz="950">
                  <a:solidFill>
                    <a:srgbClr val="FFFFFF"/>
                  </a:solidFill>
                  <a:latin typeface="Assistant"/>
                  <a:ea typeface="Assistant"/>
                  <a:cs typeface="Assistant"/>
                  <a:sym typeface="Assistant"/>
                </a:rPr>
                <a:t>בחירת K השכנים:</a:t>
              </a:r>
              <a:r>
                <a:rPr b="0" lang="iw" sz="950">
                  <a:solidFill>
                    <a:srgbClr val="A0B2C6"/>
                  </a:solidFill>
                  <a:latin typeface="Assistant"/>
                  <a:ea typeface="Assistant"/>
                  <a:cs typeface="Assistant"/>
                  <a:sym typeface="Assistant"/>
                </a:rPr>
                <a:t> סינון ומציאת ה-K נקודות בעלות המרחק המינימלי ביותר.</a:t>
              </a:r>
              <a:endParaRPr b="0" sz="950">
                <a:solidFill>
                  <a:srgbClr val="A0B2C6"/>
                </a:solidFill>
                <a:latin typeface="Assistant"/>
                <a:ea typeface="Assistant"/>
                <a:cs typeface="Assistant"/>
                <a:sym typeface="Assistant"/>
              </a:endParaRPr>
            </a:p>
            <a:p>
              <a:pPr indent="0" lvl="0" marL="0" rtl="1" algn="r">
                <a:spcBef>
                  <a:spcPts val="300"/>
                </a:spcBef>
                <a:spcAft>
                  <a:spcPts val="0"/>
                </a:spcAft>
                <a:buNone/>
              </a:pPr>
              <a:r>
                <a:rPr b="0" lang="iw" sz="950">
                  <a:solidFill>
                    <a:srgbClr val="A0B2C6"/>
                  </a:solidFill>
                  <a:latin typeface="Assistant"/>
                  <a:ea typeface="Assistant"/>
                  <a:cs typeface="Assistant"/>
                  <a:sym typeface="Assistant"/>
                </a:rPr>
                <a:t>• </a:t>
              </a:r>
              <a:r>
                <a:rPr b="1" lang="iw" sz="950">
                  <a:solidFill>
                    <a:srgbClr val="FFFFFF"/>
                  </a:solidFill>
                  <a:latin typeface="Assistant"/>
                  <a:ea typeface="Assistant"/>
                  <a:cs typeface="Assistant"/>
                  <a:sym typeface="Assistant"/>
                </a:rPr>
                <a:t>הצבעת הרוב:</a:t>
              </a:r>
              <a:r>
                <a:rPr b="0" lang="iw" sz="950">
                  <a:solidFill>
                    <a:srgbClr val="A0B2C6"/>
                  </a:solidFill>
                  <a:latin typeface="Assistant"/>
                  <a:ea typeface="Assistant"/>
                  <a:cs typeface="Assistant"/>
                  <a:sym typeface="Assistant"/>
                </a:rPr>
                <a:t> קביעת הסיווג הסופי ŷ לפי מחלקת הרוב של השכנים שנבחרו.</a:t>
              </a:r>
              <a:endParaRPr b="0" sz="950">
                <a:solidFill>
                  <a:srgbClr val="A0B2C6"/>
                </a:solidFill>
                <a:latin typeface="Assistant"/>
                <a:ea typeface="Assistant"/>
                <a:cs typeface="Assistant"/>
                <a:sym typeface="Assistant"/>
              </a:endParaRPr>
            </a:p>
          </p:txBody>
        </p:sp>
      </p:grpSp>
      <p:grpSp>
        <p:nvGrpSpPr>
          <p:cNvPr id="451" name="Google Shape;451;p28"/>
          <p:cNvGrpSpPr/>
          <p:nvPr/>
        </p:nvGrpSpPr>
        <p:grpSpPr>
          <a:xfrm>
            <a:off x="571500" y="4333875"/>
            <a:ext cx="8001000" cy="362100"/>
            <a:chOff x="571500" y="4333875"/>
            <a:chExt cx="8001000" cy="362100"/>
          </a:xfrm>
        </p:grpSpPr>
        <p:sp>
          <p:nvSpPr>
            <p:cNvPr id="452" name="Google Shape;452;p28"/>
            <p:cNvSpPr/>
            <p:nvPr/>
          </p:nvSpPr>
          <p:spPr>
            <a:xfrm>
              <a:off x="571500" y="4333875"/>
              <a:ext cx="8001000" cy="362100"/>
            </a:xfrm>
            <a:prstGeom prst="roundRect">
              <a:avLst>
                <a:gd fmla="val 10526" name="adj"/>
              </a:avLst>
            </a:prstGeom>
            <a:solidFill>
              <a:srgbClr val="0A0E1A"/>
            </a:solidFill>
            <a:ln cap="flat" cmpd="sng" w="9525">
              <a:solidFill>
                <a:srgbClr val="1F2E4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53" name="Google Shape;453;p28"/>
            <p:cNvSpPr/>
            <p:nvPr/>
          </p:nvSpPr>
          <p:spPr>
            <a:xfrm>
              <a:off x="7772400" y="4476750"/>
              <a:ext cx="76200" cy="76200"/>
            </a:xfrm>
            <a:prstGeom prst="ellipse">
              <a:avLst/>
            </a:prstGeom>
            <a:solidFill>
              <a:srgbClr val="10B98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54" name="Google Shape;454;p28"/>
            <p:cNvSpPr txBox="1"/>
            <p:nvPr/>
          </p:nvSpPr>
          <p:spPr>
            <a:xfrm>
              <a:off x="714375" y="4333875"/>
              <a:ext cx="6905700" cy="362100"/>
            </a:xfrm>
            <a:prstGeom prst="rect">
              <a:avLst/>
            </a:prstGeom>
            <a:noFill/>
            <a:ln>
              <a:noFill/>
            </a:ln>
          </p:spPr>
          <p:txBody>
            <a:bodyPr anchorCtr="0" anchor="ctr" bIns="0" lIns="0" spcFirstLastPara="1" rIns="0" wrap="square" tIns="0">
              <a:noAutofit/>
            </a:bodyPr>
            <a:lstStyle/>
            <a:p>
              <a:pPr indent="0" lvl="0" marL="0" rtl="1" algn="r">
                <a:spcBef>
                  <a:spcPts val="0"/>
                </a:spcBef>
                <a:spcAft>
                  <a:spcPts val="0"/>
                </a:spcAft>
                <a:buNone/>
              </a:pPr>
              <a:r>
                <a:rPr b="1" lang="iw" sz="900">
                  <a:solidFill>
                    <a:srgbClr val="10B981"/>
                  </a:solidFill>
                  <a:latin typeface="Courier New"/>
                  <a:ea typeface="Courier New"/>
                  <a:cs typeface="Courier New"/>
                  <a:sym typeface="Courier New"/>
                </a:rPr>
                <a:t>הסבר מתמטי: </a:t>
              </a:r>
              <a:r>
                <a:rPr b="0" lang="iw" sz="900">
                  <a:solidFill>
                    <a:srgbClr val="7A8D9E"/>
                  </a:solidFill>
                  <a:latin typeface="Assistant"/>
                  <a:ea typeface="Assistant"/>
                  <a:cs typeface="Assistant"/>
                  <a:sym typeface="Assistant"/>
                </a:rPr>
                <a:t>אלגוריתם KNN אינו מייצר מודל מוכלל אלא משמש כאלגוריתם עצל (Lazy Learner), המבצע את כל חישובי המרחק האוקלידי וסיווג הרוב רק בעת קבלת שאילתה חדשה.</a:t>
              </a:r>
              <a:endParaRPr b="1" sz="900">
                <a:solidFill>
                  <a:srgbClr val="10B981"/>
                </a:solidFill>
                <a:latin typeface="Courier New"/>
                <a:ea typeface="Courier New"/>
                <a:cs typeface="Courier New"/>
                <a:sym typeface="Courier New"/>
              </a:endParaRPr>
            </a:p>
          </p:txBody>
        </p:sp>
      </p:gr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212C"/>
        </a:solidFill>
      </p:bgPr>
    </p:bg>
    <p:spTree>
      <p:nvGrpSpPr>
        <p:cNvPr id="458" name="Shape 458"/>
        <p:cNvGrpSpPr/>
        <p:nvPr/>
      </p:nvGrpSpPr>
      <p:grpSpPr>
        <a:xfrm>
          <a:off x="0" y="0"/>
          <a:ext cx="0" cy="0"/>
          <a:chOff x="0" y="0"/>
          <a:chExt cx="0" cy="0"/>
        </a:xfrm>
      </p:grpSpPr>
      <p:grpSp>
        <p:nvGrpSpPr>
          <p:cNvPr id="459" name="Google Shape;459;p29"/>
          <p:cNvGrpSpPr/>
          <p:nvPr/>
        </p:nvGrpSpPr>
        <p:grpSpPr>
          <a:xfrm>
            <a:off x="1619250" y="238125"/>
            <a:ext cx="7077375" cy="695250"/>
            <a:chOff x="1619250" y="238125"/>
            <a:chExt cx="7077375" cy="695250"/>
          </a:xfrm>
        </p:grpSpPr>
        <p:sp>
          <p:nvSpPr>
            <p:cNvPr id="460" name="Google Shape;460;p29"/>
            <p:cNvSpPr txBox="1"/>
            <p:nvPr/>
          </p:nvSpPr>
          <p:spPr>
            <a:xfrm>
              <a:off x="4505625" y="238125"/>
              <a:ext cx="4191000" cy="428700"/>
            </a:xfrm>
            <a:prstGeom prst="rect">
              <a:avLst/>
            </a:prstGeom>
            <a:noFill/>
            <a:ln>
              <a:noFill/>
            </a:ln>
          </p:spPr>
          <p:txBody>
            <a:bodyPr anchorCtr="0" anchor="ctr" bIns="0" lIns="0" spcFirstLastPara="1" rIns="0" wrap="square" tIns="0">
              <a:noAutofit/>
            </a:bodyPr>
            <a:lstStyle/>
            <a:p>
              <a:pPr indent="0" lvl="0" marL="0" rtl="1" algn="r">
                <a:spcBef>
                  <a:spcPts val="0"/>
                </a:spcBef>
                <a:spcAft>
                  <a:spcPts val="0"/>
                </a:spcAft>
                <a:buNone/>
              </a:pPr>
              <a:r>
                <a:rPr b="0" lang="iw" sz="2400">
                  <a:solidFill>
                    <a:srgbClr val="FFFFFF"/>
                  </a:solidFill>
                  <a:latin typeface="Assistant ExtraBold"/>
                  <a:ea typeface="Assistant ExtraBold"/>
                  <a:cs typeface="Assistant ExtraBold"/>
                  <a:sym typeface="Assistant ExtraBold"/>
                </a:rPr>
                <a:t>השוואת ביצועי מודלי הסיווג</a:t>
              </a:r>
              <a:endParaRPr b="0" sz="2400">
                <a:solidFill>
                  <a:srgbClr val="FFFFFF"/>
                </a:solidFill>
                <a:latin typeface="Assistant ExtraBold"/>
                <a:ea typeface="Assistant ExtraBold"/>
                <a:cs typeface="Assistant ExtraBold"/>
                <a:sym typeface="Assistant ExtraBold"/>
              </a:endParaRPr>
            </a:p>
          </p:txBody>
        </p:sp>
        <p:sp>
          <p:nvSpPr>
            <p:cNvPr id="461" name="Google Shape;461;p29"/>
            <p:cNvSpPr txBox="1"/>
            <p:nvPr/>
          </p:nvSpPr>
          <p:spPr>
            <a:xfrm>
              <a:off x="1619250" y="600075"/>
              <a:ext cx="6953400" cy="333300"/>
            </a:xfrm>
            <a:prstGeom prst="rect">
              <a:avLst/>
            </a:prstGeom>
            <a:noFill/>
            <a:ln>
              <a:noFill/>
            </a:ln>
          </p:spPr>
          <p:txBody>
            <a:bodyPr anchorCtr="0" anchor="ctr" bIns="0" lIns="0" spcFirstLastPara="1" rIns="0" wrap="square" tIns="0">
              <a:noAutofit/>
            </a:bodyPr>
            <a:lstStyle/>
            <a:p>
              <a:pPr indent="0" lvl="0" marL="0" rtl="1" algn="r">
                <a:spcBef>
                  <a:spcPts val="0"/>
                </a:spcBef>
                <a:spcAft>
                  <a:spcPts val="0"/>
                </a:spcAft>
                <a:buNone/>
              </a:pPr>
              <a:r>
                <a:rPr b="0" lang="iw" sz="1000">
                  <a:solidFill>
                    <a:srgbClr val="7A8D9E"/>
                  </a:solidFill>
                  <a:latin typeface="Assistant"/>
                  <a:ea typeface="Assistant"/>
                  <a:cs typeface="Assistant"/>
                  <a:sym typeface="Assistant"/>
                </a:rPr>
                <a:t>השוואה והערכת ביצועי המודלים השונים באמצעות מדדי דיוק, מטריצת בלבול ועקומת ROC.</a:t>
              </a:r>
              <a:endParaRPr b="0" sz="1000">
                <a:solidFill>
                  <a:srgbClr val="7A8D9E"/>
                </a:solidFill>
                <a:latin typeface="Assistant"/>
                <a:ea typeface="Assistant"/>
                <a:cs typeface="Assistant"/>
                <a:sym typeface="Assistant"/>
              </a:endParaRPr>
            </a:p>
          </p:txBody>
        </p:sp>
      </p:grpSp>
      <p:grpSp>
        <p:nvGrpSpPr>
          <p:cNvPr id="462" name="Google Shape;462;p29"/>
          <p:cNvGrpSpPr/>
          <p:nvPr/>
        </p:nvGrpSpPr>
        <p:grpSpPr>
          <a:xfrm>
            <a:off x="571500" y="904907"/>
            <a:ext cx="3762300" cy="4086339"/>
            <a:chOff x="571500" y="904875"/>
            <a:chExt cx="3762300" cy="3238500"/>
          </a:xfrm>
        </p:grpSpPr>
        <p:sp>
          <p:nvSpPr>
            <p:cNvPr id="463" name="Google Shape;463;p29"/>
            <p:cNvSpPr/>
            <p:nvPr/>
          </p:nvSpPr>
          <p:spPr>
            <a:xfrm>
              <a:off x="571500" y="904875"/>
              <a:ext cx="3762300" cy="3238500"/>
            </a:xfrm>
            <a:prstGeom prst="roundRect">
              <a:avLst>
                <a:gd fmla="val 1764" name="adj"/>
              </a:avLst>
            </a:prstGeom>
            <a:solidFill>
              <a:srgbClr val="0E1524"/>
            </a:solidFill>
            <a:ln cap="flat" cmpd="sng" w="9525">
              <a:solidFill>
                <a:srgbClr val="1F2E4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64" name="Google Shape;464;p29"/>
            <p:cNvSpPr/>
            <p:nvPr/>
          </p:nvSpPr>
          <p:spPr>
            <a:xfrm>
              <a:off x="571500" y="904875"/>
              <a:ext cx="3762300" cy="38100"/>
            </a:xfrm>
            <a:prstGeom prst="rect">
              <a:avLst/>
            </a:prstGeom>
            <a:solidFill>
              <a:srgbClr val="10B98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65" name="Google Shape;465;p29"/>
            <p:cNvSpPr txBox="1"/>
            <p:nvPr/>
          </p:nvSpPr>
          <p:spPr>
            <a:xfrm>
              <a:off x="762000" y="1095375"/>
              <a:ext cx="3381300" cy="2857500"/>
            </a:xfrm>
            <a:prstGeom prst="rect">
              <a:avLst/>
            </a:prstGeom>
            <a:noFill/>
            <a:ln>
              <a:noFill/>
            </a:ln>
          </p:spPr>
          <p:txBody>
            <a:bodyPr anchorCtr="0" anchor="ctr" bIns="0" lIns="0" spcFirstLastPara="1" rIns="0" wrap="square" tIns="0">
              <a:noAutofit/>
            </a:bodyPr>
            <a:lstStyle/>
            <a:p>
              <a:pPr indent="0" lvl="0" marL="0" rtl="1" algn="r">
                <a:spcBef>
                  <a:spcPts val="0"/>
                </a:spcBef>
                <a:spcAft>
                  <a:spcPts val="0"/>
                </a:spcAft>
                <a:buNone/>
              </a:pPr>
              <a:r>
                <a:rPr b="1" lang="iw" sz="850">
                  <a:solidFill>
                    <a:srgbClr val="00E5FF"/>
                  </a:solidFill>
                  <a:latin typeface="Courier New"/>
                  <a:ea typeface="Courier New"/>
                  <a:cs typeface="Courier New"/>
                  <a:sym typeface="Courier New"/>
                </a:rPr>
                <a:t>EVALUATION_METRICS // 03</a:t>
              </a:r>
              <a:endParaRPr b="1" sz="850">
                <a:solidFill>
                  <a:srgbClr val="00E5FF"/>
                </a:solidFill>
                <a:latin typeface="Courier New"/>
                <a:ea typeface="Courier New"/>
                <a:cs typeface="Courier New"/>
                <a:sym typeface="Courier New"/>
              </a:endParaRPr>
            </a:p>
            <a:p>
              <a:pPr indent="0" lvl="0" marL="0" rtl="1" algn="r">
                <a:spcBef>
                  <a:spcPts val="675"/>
                </a:spcBef>
                <a:spcAft>
                  <a:spcPts val="0"/>
                </a:spcAft>
                <a:buNone/>
              </a:pPr>
              <a:r>
                <a:rPr b="1" lang="iw" sz="1400">
                  <a:solidFill>
                    <a:srgbClr val="FFFFFF"/>
                  </a:solidFill>
                  <a:latin typeface="Assistant"/>
                  <a:ea typeface="Assistant"/>
                  <a:cs typeface="Assistant"/>
                  <a:sym typeface="Assistant"/>
                </a:rPr>
                <a:t>רכיבי ההערכה</a:t>
              </a:r>
              <a:endParaRPr b="1" sz="1400">
                <a:solidFill>
                  <a:srgbClr val="FFFFFF"/>
                </a:solidFill>
                <a:latin typeface="Assistant"/>
                <a:ea typeface="Assistant"/>
                <a:cs typeface="Assistant"/>
                <a:sym typeface="Assistant"/>
              </a:endParaRPr>
            </a:p>
            <a:p>
              <a:pPr indent="0" lvl="0" marL="0" rtl="1" algn="r">
                <a:spcBef>
                  <a:spcPts val="900"/>
                </a:spcBef>
                <a:spcAft>
                  <a:spcPts val="0"/>
                </a:spcAft>
                <a:buNone/>
              </a:pPr>
              <a:r>
                <a:rPr b="0" lang="iw" sz="1100">
                  <a:solidFill>
                    <a:srgbClr val="A0B2C6"/>
                  </a:solidFill>
                  <a:latin typeface="Assistant"/>
                  <a:ea typeface="Assistant"/>
                  <a:cs typeface="Assistant"/>
                  <a:sym typeface="Assistant"/>
                </a:rPr>
                <a:t>בוצעה השוואה בין ארבעה מודלי סיווג עיקריים:</a:t>
              </a:r>
              <a:endParaRPr b="0" sz="1100">
                <a:solidFill>
                  <a:srgbClr val="A0B2C6"/>
                </a:solidFill>
                <a:latin typeface="Assistant"/>
                <a:ea typeface="Assistant"/>
                <a:cs typeface="Assistant"/>
                <a:sym typeface="Assistant"/>
              </a:endParaRPr>
            </a:p>
            <a:p>
              <a:pPr indent="-298450" lvl="0" marL="457200" rtl="1" algn="r">
                <a:spcBef>
                  <a:spcPts val="900"/>
                </a:spcBef>
                <a:spcAft>
                  <a:spcPts val="0"/>
                </a:spcAft>
                <a:buClr>
                  <a:srgbClr val="A0B2C6"/>
                </a:buClr>
                <a:buSzPts val="1100"/>
                <a:buFont typeface="Assistant"/>
                <a:buChar char="●"/>
              </a:pPr>
              <a:r>
                <a:rPr b="1" lang="iw" sz="1100">
                  <a:solidFill>
                    <a:srgbClr val="FFFFFF"/>
                  </a:solidFill>
                  <a:latin typeface="Assistant"/>
                  <a:ea typeface="Assistant"/>
                  <a:cs typeface="Assistant"/>
                  <a:sym typeface="Assistant"/>
                </a:rPr>
                <a:t>Logistic Regression</a:t>
              </a:r>
              <a:endParaRPr b="0" sz="1100">
                <a:solidFill>
                  <a:srgbClr val="A0B2C6"/>
                </a:solidFill>
                <a:latin typeface="Assistant"/>
                <a:ea typeface="Assistant"/>
                <a:cs typeface="Assistant"/>
                <a:sym typeface="Assistant"/>
              </a:endParaRPr>
            </a:p>
            <a:p>
              <a:pPr indent="-298450" lvl="0" marL="457200" rtl="1" algn="r">
                <a:spcBef>
                  <a:spcPts val="450"/>
                </a:spcBef>
                <a:spcAft>
                  <a:spcPts val="0"/>
                </a:spcAft>
                <a:buClr>
                  <a:srgbClr val="A0B2C6"/>
                </a:buClr>
                <a:buSzPts val="1100"/>
                <a:buFont typeface="Assistant"/>
                <a:buChar char="●"/>
              </a:pPr>
              <a:r>
                <a:rPr b="1" lang="iw" sz="1100">
                  <a:solidFill>
                    <a:srgbClr val="FFFFFF"/>
                  </a:solidFill>
                  <a:latin typeface="Assistant"/>
                  <a:ea typeface="Assistant"/>
                  <a:cs typeface="Assistant"/>
                  <a:sym typeface="Assistant"/>
                </a:rPr>
                <a:t>K-Nearest Neighbors (KNN)</a:t>
              </a:r>
              <a:endParaRPr b="0" sz="1100">
                <a:solidFill>
                  <a:srgbClr val="A0B2C6"/>
                </a:solidFill>
                <a:latin typeface="Assistant"/>
                <a:ea typeface="Assistant"/>
                <a:cs typeface="Assistant"/>
                <a:sym typeface="Assistant"/>
              </a:endParaRPr>
            </a:p>
            <a:p>
              <a:pPr indent="-298450" lvl="0" marL="457200" rtl="1" algn="r">
                <a:spcBef>
                  <a:spcPts val="450"/>
                </a:spcBef>
                <a:spcAft>
                  <a:spcPts val="0"/>
                </a:spcAft>
                <a:buClr>
                  <a:srgbClr val="A0B2C6"/>
                </a:buClr>
                <a:buSzPts val="1100"/>
                <a:buFont typeface="Assistant"/>
                <a:buChar char="●"/>
              </a:pPr>
              <a:r>
                <a:rPr b="1" lang="iw" sz="1100">
                  <a:solidFill>
                    <a:srgbClr val="FFFFFF"/>
                  </a:solidFill>
                  <a:latin typeface="Assistant"/>
                  <a:ea typeface="Assistant"/>
                  <a:cs typeface="Assistant"/>
                  <a:sym typeface="Assistant"/>
                </a:rPr>
                <a:t>Support Vector Machine (SVM)</a:t>
              </a:r>
              <a:endParaRPr b="0" sz="1100">
                <a:solidFill>
                  <a:srgbClr val="A0B2C6"/>
                </a:solidFill>
                <a:latin typeface="Assistant"/>
                <a:ea typeface="Assistant"/>
                <a:cs typeface="Assistant"/>
                <a:sym typeface="Assistant"/>
              </a:endParaRPr>
            </a:p>
            <a:p>
              <a:pPr indent="-298450" lvl="0" marL="457200" rtl="1" algn="r">
                <a:spcBef>
                  <a:spcPts val="450"/>
                </a:spcBef>
                <a:spcAft>
                  <a:spcPts val="0"/>
                </a:spcAft>
                <a:buClr>
                  <a:srgbClr val="A0B2C6"/>
                </a:buClr>
                <a:buSzPts val="1100"/>
                <a:buFont typeface="Assistant"/>
                <a:buChar char="●"/>
              </a:pPr>
              <a:r>
                <a:rPr b="1" lang="iw" sz="1100">
                  <a:solidFill>
                    <a:srgbClr val="FFFFFF"/>
                  </a:solidFill>
                  <a:latin typeface="Assistant"/>
                  <a:ea typeface="Assistant"/>
                  <a:cs typeface="Assistant"/>
                  <a:sym typeface="Assistant"/>
                </a:rPr>
                <a:t>Random Forest</a:t>
              </a:r>
              <a:br>
                <a:rPr lang="iw" sz="1100">
                  <a:solidFill>
                    <a:srgbClr val="A0B2C6"/>
                  </a:solidFill>
                  <a:latin typeface="Assistant"/>
                  <a:ea typeface="Assistant"/>
                  <a:cs typeface="Assistant"/>
                  <a:sym typeface="Assistant"/>
                </a:rPr>
              </a:br>
              <a:br>
                <a:rPr lang="iw" sz="1100">
                  <a:solidFill>
                    <a:srgbClr val="A0B2C6"/>
                  </a:solidFill>
                  <a:latin typeface="Assistant"/>
                  <a:ea typeface="Assistant"/>
                  <a:cs typeface="Assistant"/>
                  <a:sym typeface="Assistant"/>
                </a:rPr>
              </a:br>
              <a:r>
                <a:rPr lang="iw" sz="1100">
                  <a:solidFill>
                    <a:srgbClr val="A0B2C6"/>
                  </a:solidFill>
                  <a:latin typeface="Assistant"/>
                  <a:ea typeface="Assistant"/>
                  <a:cs typeface="Assistant"/>
                  <a:sym typeface="Assistant"/>
                </a:rPr>
                <a:t>בוצעה השוואה בין ארבעת מודלי הסיווג באמצעות Accuracy, Precision, Recall, F1-Score ו־ROC-AUC.</a:t>
              </a:r>
              <a:endParaRPr sz="1100">
                <a:solidFill>
                  <a:srgbClr val="A0B2C6"/>
                </a:solidFill>
                <a:latin typeface="Assistant"/>
                <a:ea typeface="Assistant"/>
                <a:cs typeface="Assistant"/>
                <a:sym typeface="Assistant"/>
              </a:endParaRPr>
            </a:p>
            <a:p>
              <a:pPr indent="0" lvl="0" marL="0" rtl="1" algn="r">
                <a:lnSpc>
                  <a:spcPct val="115000"/>
                </a:lnSpc>
                <a:spcBef>
                  <a:spcPts val="1200"/>
                </a:spcBef>
                <a:spcAft>
                  <a:spcPts val="0"/>
                </a:spcAft>
                <a:buNone/>
              </a:pPr>
              <a:r>
                <a:rPr lang="iw" sz="1100">
                  <a:solidFill>
                    <a:srgbClr val="A0B2C6"/>
                  </a:solidFill>
                  <a:latin typeface="Assistant"/>
                  <a:ea typeface="Assistant"/>
                  <a:cs typeface="Assistant"/>
                  <a:sym typeface="Assistant"/>
                </a:rPr>
                <a:t>Random Forest השיג את הביצועים הגבוהים ביותר, ואחריו SVM, KNN ו־Logistic Regression. סדר התוצאות תואם את מסקנות המאמר.</a:t>
              </a:r>
              <a:r>
                <a:rPr lang="iw" sz="1100">
                  <a:solidFill>
                    <a:srgbClr val="A0B2C6"/>
                  </a:solidFill>
                  <a:latin typeface="Assistant"/>
                  <a:ea typeface="Assistant"/>
                  <a:cs typeface="Assistant"/>
                  <a:sym typeface="Assistant"/>
                </a:rPr>
                <a:t>מודל Random Forest השיג את רמת הדיוק הגבוהה ביותר (100%) על הדאטהסט שנבדק, ובכך חיזק את מסקנת המאמר שלפיה Random Forest הוא המודל בעל הביצועים הטובים ביותר. </a:t>
              </a:r>
              <a:endParaRPr sz="1100"/>
            </a:p>
            <a:p>
              <a:pPr indent="0" lvl="0" marL="0" rtl="1" algn="r">
                <a:spcBef>
                  <a:spcPts val="1200"/>
                </a:spcBef>
                <a:spcAft>
                  <a:spcPts val="0"/>
                </a:spcAft>
                <a:buNone/>
              </a:pPr>
              <a:r>
                <a:t/>
              </a:r>
              <a:endParaRPr sz="1100">
                <a:solidFill>
                  <a:srgbClr val="A0B2C6"/>
                </a:solidFill>
                <a:latin typeface="Assistant"/>
                <a:ea typeface="Assistant"/>
                <a:cs typeface="Assistant"/>
                <a:sym typeface="Assistant"/>
              </a:endParaRPr>
            </a:p>
          </p:txBody>
        </p:sp>
      </p:grpSp>
      <p:pic>
        <p:nvPicPr>
          <p:cNvPr id="466" name="Google Shape;466;p29"/>
          <p:cNvPicPr preferRelativeResize="0"/>
          <p:nvPr/>
        </p:nvPicPr>
        <p:blipFill>
          <a:blip r:embed="rId3">
            <a:alphaModFix/>
          </a:blip>
          <a:stretch>
            <a:fillRect/>
          </a:stretch>
        </p:blipFill>
        <p:spPr>
          <a:xfrm>
            <a:off x="4486200" y="1085775"/>
            <a:ext cx="4505399" cy="2536653"/>
          </a:xfrm>
          <a:prstGeom prst="rect">
            <a:avLst/>
          </a:prstGeom>
          <a:noFill/>
          <a:ln>
            <a:noFill/>
          </a:ln>
        </p:spPr>
      </p:pic>
      <p:pic>
        <p:nvPicPr>
          <p:cNvPr id="467" name="Google Shape;467;p29"/>
          <p:cNvPicPr preferRelativeResize="0"/>
          <p:nvPr/>
        </p:nvPicPr>
        <p:blipFill>
          <a:blip r:embed="rId4">
            <a:alphaModFix/>
          </a:blip>
          <a:stretch>
            <a:fillRect/>
          </a:stretch>
        </p:blipFill>
        <p:spPr>
          <a:xfrm>
            <a:off x="4674525" y="3774828"/>
            <a:ext cx="3776844" cy="1216272"/>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1" name="Shape 471"/>
        <p:cNvGrpSpPr/>
        <p:nvPr/>
      </p:nvGrpSpPr>
      <p:grpSpPr>
        <a:xfrm>
          <a:off x="0" y="0"/>
          <a:ext cx="0" cy="0"/>
          <a:chOff x="0" y="0"/>
          <a:chExt cx="0" cy="0"/>
        </a:xfrm>
      </p:grpSpPr>
      <p:grpSp>
        <p:nvGrpSpPr>
          <p:cNvPr id="472" name="Google Shape;472;p30"/>
          <p:cNvGrpSpPr/>
          <p:nvPr/>
        </p:nvGrpSpPr>
        <p:grpSpPr>
          <a:xfrm>
            <a:off x="1619250" y="238125"/>
            <a:ext cx="6953400" cy="666900"/>
            <a:chOff x="1619250" y="238125"/>
            <a:chExt cx="6953400" cy="666900"/>
          </a:xfrm>
        </p:grpSpPr>
        <p:sp>
          <p:nvSpPr>
            <p:cNvPr id="473" name="Google Shape;473;p30"/>
            <p:cNvSpPr txBox="1"/>
            <p:nvPr/>
          </p:nvSpPr>
          <p:spPr>
            <a:xfrm>
              <a:off x="3810000" y="238125"/>
              <a:ext cx="4762500" cy="428700"/>
            </a:xfrm>
            <a:prstGeom prst="rect">
              <a:avLst/>
            </a:prstGeom>
            <a:solidFill>
              <a:srgbClr val="000000">
                <a:alpha val="0"/>
              </a:srgbClr>
            </a:solidFill>
            <a:ln>
              <a:noFill/>
            </a:ln>
          </p:spPr>
          <p:txBody>
            <a:bodyPr anchorCtr="0" anchor="ctr" bIns="0" lIns="0" spcFirstLastPara="1" rIns="0" wrap="square" tIns="0">
              <a:noAutofit/>
            </a:bodyPr>
            <a:lstStyle/>
            <a:p>
              <a:pPr indent="0" lvl="0" marL="0" rtl="1" algn="r">
                <a:spcBef>
                  <a:spcPts val="0"/>
                </a:spcBef>
                <a:spcAft>
                  <a:spcPts val="0"/>
                </a:spcAft>
                <a:buNone/>
              </a:pPr>
              <a:r>
                <a:rPr b="0" lang="iw" sz="2400">
                  <a:solidFill>
                    <a:srgbClr val="FFFFFF"/>
                  </a:solidFill>
                  <a:latin typeface="Assistant ExtraBold"/>
                  <a:ea typeface="Assistant ExtraBold"/>
                  <a:cs typeface="Assistant ExtraBold"/>
                  <a:sym typeface="Assistant ExtraBold"/>
                </a:rPr>
                <a:t>תוצאות המודלים (Model Evaluation)</a:t>
              </a:r>
              <a:endParaRPr b="0" sz="2400">
                <a:solidFill>
                  <a:srgbClr val="FFFFFF"/>
                </a:solidFill>
                <a:latin typeface="Assistant ExtraBold"/>
                <a:ea typeface="Assistant ExtraBold"/>
                <a:cs typeface="Assistant ExtraBold"/>
                <a:sym typeface="Assistant ExtraBold"/>
              </a:endParaRPr>
            </a:p>
          </p:txBody>
        </p:sp>
        <p:sp>
          <p:nvSpPr>
            <p:cNvPr id="474" name="Google Shape;474;p30"/>
            <p:cNvSpPr txBox="1"/>
            <p:nvPr/>
          </p:nvSpPr>
          <p:spPr>
            <a:xfrm>
              <a:off x="1619250" y="619125"/>
              <a:ext cx="6953400" cy="285900"/>
            </a:xfrm>
            <a:prstGeom prst="rect">
              <a:avLst/>
            </a:prstGeom>
            <a:solidFill>
              <a:srgbClr val="000000">
                <a:alpha val="0"/>
              </a:srgbClr>
            </a:solidFill>
            <a:ln>
              <a:noFill/>
            </a:ln>
          </p:spPr>
          <p:txBody>
            <a:bodyPr anchorCtr="0" anchor="ctr" bIns="0" lIns="0" spcFirstLastPara="1" rIns="0" wrap="square" tIns="0">
              <a:noAutofit/>
            </a:bodyPr>
            <a:lstStyle/>
            <a:p>
              <a:pPr indent="0" lvl="0" marL="0" rtl="1" algn="r">
                <a:spcBef>
                  <a:spcPts val="0"/>
                </a:spcBef>
                <a:spcAft>
                  <a:spcPts val="0"/>
                </a:spcAft>
                <a:buNone/>
              </a:pPr>
              <a:r>
                <a:rPr b="0" lang="iw" sz="1000">
                  <a:solidFill>
                    <a:srgbClr val="7A8D9E"/>
                  </a:solidFill>
                  <a:latin typeface="Assistant"/>
                  <a:ea typeface="Assistant"/>
                  <a:cs typeface="Assistant"/>
                  <a:sym typeface="Assistant"/>
                </a:rPr>
                <a:t>הערכת ביצועי מודלי הסיווג והשוואת הטעויות באמצעות מטריצות בלבול מפורטות.</a:t>
              </a:r>
              <a:endParaRPr b="0" sz="1000">
                <a:solidFill>
                  <a:srgbClr val="7A8D9E"/>
                </a:solidFill>
                <a:latin typeface="Assistant"/>
                <a:ea typeface="Assistant"/>
                <a:cs typeface="Assistant"/>
                <a:sym typeface="Assistant"/>
              </a:endParaRPr>
            </a:p>
          </p:txBody>
        </p:sp>
      </p:grpSp>
      <p:pic>
        <p:nvPicPr>
          <p:cNvPr id="475" name="Google Shape;475;p30"/>
          <p:cNvPicPr preferRelativeResize="0"/>
          <p:nvPr/>
        </p:nvPicPr>
        <p:blipFill rotWithShape="1">
          <a:blip r:embed="rId3">
            <a:alphaModFix/>
          </a:blip>
          <a:srcRect b="70" l="0" r="0" t="80"/>
          <a:stretch/>
        </p:blipFill>
        <p:spPr>
          <a:xfrm>
            <a:off x="571500" y="990175"/>
            <a:ext cx="4286400" cy="3914700"/>
          </a:xfrm>
          <a:prstGeom prst="rect">
            <a:avLst/>
          </a:prstGeom>
          <a:noFill/>
          <a:ln>
            <a:noFill/>
          </a:ln>
        </p:spPr>
      </p:pic>
      <p:grpSp>
        <p:nvGrpSpPr>
          <p:cNvPr id="476" name="Google Shape;476;p30"/>
          <p:cNvGrpSpPr/>
          <p:nvPr/>
        </p:nvGrpSpPr>
        <p:grpSpPr>
          <a:xfrm>
            <a:off x="5143500" y="952500"/>
            <a:ext cx="3429000" cy="3914700"/>
            <a:chOff x="5143500" y="952500"/>
            <a:chExt cx="3429000" cy="3914700"/>
          </a:xfrm>
        </p:grpSpPr>
        <p:sp>
          <p:nvSpPr>
            <p:cNvPr id="477" name="Google Shape;477;p30"/>
            <p:cNvSpPr/>
            <p:nvPr/>
          </p:nvSpPr>
          <p:spPr>
            <a:xfrm>
              <a:off x="5143500" y="952500"/>
              <a:ext cx="3429000" cy="3914700"/>
            </a:xfrm>
            <a:prstGeom prst="roundRect">
              <a:avLst>
                <a:gd fmla="val 1666" name="adj"/>
              </a:avLst>
            </a:prstGeom>
            <a:solidFill>
              <a:srgbClr val="0E1524"/>
            </a:solidFill>
            <a:ln cap="flat" cmpd="sng" w="9525">
              <a:solidFill>
                <a:srgbClr val="1F2E4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78" name="Google Shape;478;p30"/>
            <p:cNvSpPr/>
            <p:nvPr/>
          </p:nvSpPr>
          <p:spPr>
            <a:xfrm>
              <a:off x="5143500" y="952500"/>
              <a:ext cx="3429000" cy="47700"/>
            </a:xfrm>
            <a:prstGeom prst="rect">
              <a:avLst/>
            </a:prstGeom>
            <a:solidFill>
              <a:srgbClr val="00E5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79" name="Google Shape;479;p30"/>
            <p:cNvSpPr txBox="1"/>
            <p:nvPr/>
          </p:nvSpPr>
          <p:spPr>
            <a:xfrm>
              <a:off x="5334000" y="1143000"/>
              <a:ext cx="3048000" cy="3524400"/>
            </a:xfrm>
            <a:prstGeom prst="rect">
              <a:avLst/>
            </a:prstGeom>
            <a:solidFill>
              <a:srgbClr val="000000">
                <a:alpha val="0"/>
              </a:srgbClr>
            </a:solidFill>
            <a:ln>
              <a:noFill/>
            </a:ln>
          </p:spPr>
          <p:txBody>
            <a:bodyPr anchorCtr="0" anchor="t" bIns="0" lIns="0" spcFirstLastPara="1" rIns="0" wrap="square" tIns="0">
              <a:noAutofit/>
            </a:bodyPr>
            <a:lstStyle/>
            <a:p>
              <a:pPr indent="0" lvl="0" marL="0" rtl="1" algn="r">
                <a:spcBef>
                  <a:spcPts val="0"/>
                </a:spcBef>
                <a:spcAft>
                  <a:spcPts val="0"/>
                </a:spcAft>
                <a:buNone/>
              </a:pPr>
              <a:r>
                <a:rPr b="1" lang="iw" sz="900">
                  <a:solidFill>
                    <a:srgbClr val="00E5FF"/>
                  </a:solidFill>
                  <a:latin typeface="Courier New"/>
                  <a:ea typeface="Courier New"/>
                  <a:cs typeface="Courier New"/>
                  <a:sym typeface="Courier New"/>
                </a:rPr>
                <a:t>CONFUSION_MATRIX // EVAL</a:t>
              </a:r>
              <a:endParaRPr b="1" sz="900">
                <a:solidFill>
                  <a:srgbClr val="00E5FF"/>
                </a:solidFill>
                <a:latin typeface="Courier New"/>
                <a:ea typeface="Courier New"/>
                <a:cs typeface="Courier New"/>
                <a:sym typeface="Courier New"/>
              </a:endParaRPr>
            </a:p>
            <a:p>
              <a:pPr indent="0" lvl="0" marL="0" rtl="1" algn="r">
                <a:spcBef>
                  <a:spcPts val="600"/>
                </a:spcBef>
                <a:spcAft>
                  <a:spcPts val="0"/>
                </a:spcAft>
                <a:buNone/>
              </a:pPr>
              <a:r>
                <a:rPr b="1" lang="iw" sz="1400">
                  <a:solidFill>
                    <a:srgbClr val="FFFFFF"/>
                  </a:solidFill>
                  <a:latin typeface="Assistant"/>
                  <a:ea typeface="Assistant"/>
                  <a:cs typeface="Assistant"/>
                  <a:sym typeface="Assistant"/>
                </a:rPr>
                <a:t>מטריצת בלבול (Confusion Matrix)</a:t>
              </a:r>
              <a:endParaRPr b="1" sz="1400">
                <a:solidFill>
                  <a:srgbClr val="FFFFFF"/>
                </a:solidFill>
                <a:latin typeface="Assistant"/>
                <a:ea typeface="Assistant"/>
                <a:cs typeface="Assistant"/>
                <a:sym typeface="Assistant"/>
              </a:endParaRPr>
            </a:p>
            <a:p>
              <a:pPr indent="0" lvl="0" marL="0" rtl="1" algn="r">
                <a:spcBef>
                  <a:spcPts val="900"/>
                </a:spcBef>
                <a:spcAft>
                  <a:spcPts val="0"/>
                </a:spcAft>
                <a:buNone/>
              </a:pPr>
              <a:r>
                <a:rPr b="0" lang="iw" sz="1050">
                  <a:solidFill>
                    <a:srgbClr val="A0B2C6"/>
                  </a:solidFill>
                  <a:latin typeface="Assistant"/>
                  <a:ea typeface="Assistant"/>
                  <a:cs typeface="Assistant"/>
                  <a:sym typeface="Assistant"/>
                </a:rPr>
                <a:t>בוצעה הערכה של כל אחד ממודלי הסיווג המציגה את מספר הדוגמאות שסווגו נכון ושגוי. מודל </a:t>
              </a:r>
              <a:r>
                <a:rPr b="1" lang="iw" sz="1050">
                  <a:solidFill>
                    <a:srgbClr val="FFFFFF"/>
                  </a:solidFill>
                  <a:latin typeface="Assistant"/>
                  <a:ea typeface="Assistant"/>
                  <a:cs typeface="Assistant"/>
                  <a:sym typeface="Assistant"/>
                </a:rPr>
                <a:t>Random Forest</a:t>
              </a:r>
              <a:r>
                <a:rPr b="0" lang="iw" sz="1050">
                  <a:solidFill>
                    <a:srgbClr val="A0B2C6"/>
                  </a:solidFill>
                  <a:latin typeface="Assistant"/>
                  <a:ea typeface="Assistant"/>
                  <a:cs typeface="Assistant"/>
                  <a:sym typeface="Assistant"/>
                </a:rPr>
                <a:t> הציג את מספר הטעויות הנמוך ביותר ואת יכולת הסיווג הטובה ביותר.</a:t>
              </a:r>
              <a:endParaRPr b="0" sz="1050">
                <a:solidFill>
                  <a:srgbClr val="A0B2C6"/>
                </a:solidFill>
                <a:latin typeface="Assistant"/>
                <a:ea typeface="Assistant"/>
                <a:cs typeface="Assistant"/>
                <a:sym typeface="Assistant"/>
              </a:endParaRPr>
            </a:p>
            <a:p>
              <a:pPr indent="0" lvl="0" marL="0" rtl="1" algn="r">
                <a:spcBef>
                  <a:spcPts val="900"/>
                </a:spcBef>
                <a:spcAft>
                  <a:spcPts val="0"/>
                </a:spcAft>
                <a:buNone/>
              </a:pPr>
              <a:r>
                <a:rPr b="1" lang="iw" sz="1100">
                  <a:solidFill>
                    <a:srgbClr val="FFFFFF"/>
                  </a:solidFill>
                  <a:latin typeface="Assistant"/>
                  <a:ea typeface="Assistant"/>
                  <a:cs typeface="Assistant"/>
                  <a:sym typeface="Assistant"/>
                </a:rPr>
                <a:t>Matrix Metrics Summary:</a:t>
              </a:r>
              <a:endParaRPr b="1" sz="1100">
                <a:solidFill>
                  <a:srgbClr val="FFFFFF"/>
                </a:solidFill>
                <a:latin typeface="Assistant"/>
                <a:ea typeface="Assistant"/>
                <a:cs typeface="Assistant"/>
                <a:sym typeface="Assistant"/>
              </a:endParaRPr>
            </a:p>
            <a:p>
              <a:pPr indent="0" lvl="0" marL="0" rtl="1" algn="r">
                <a:spcBef>
                  <a:spcPts val="600"/>
                </a:spcBef>
                <a:spcAft>
                  <a:spcPts val="0"/>
                </a:spcAft>
                <a:buNone/>
              </a:pPr>
              <a:r>
                <a:rPr b="1" lang="iw" sz="1000">
                  <a:solidFill>
                    <a:srgbClr val="00E5FF"/>
                  </a:solidFill>
                  <a:latin typeface="Assistant"/>
                  <a:ea typeface="Assistant"/>
                  <a:cs typeface="Assistant"/>
                  <a:sym typeface="Assistant"/>
                </a:rPr>
                <a:t>• True Positives (TP)</a:t>
              </a:r>
              <a:r>
                <a:rPr lang="iw" sz="1000">
                  <a:solidFill>
                    <a:srgbClr val="A0B2C6"/>
                  </a:solidFill>
                  <a:latin typeface="Assistant"/>
                  <a:ea typeface="Assistant"/>
                  <a:cs typeface="Assistant"/>
                  <a:sym typeface="Assistant"/>
                </a:rPr>
                <a:t> / </a:t>
              </a:r>
              <a:r>
                <a:rPr b="1" lang="iw" sz="1000">
                  <a:solidFill>
                    <a:srgbClr val="10B981"/>
                  </a:solidFill>
                  <a:latin typeface="Assistant"/>
                  <a:ea typeface="Assistant"/>
                  <a:cs typeface="Assistant"/>
                  <a:sym typeface="Assistant"/>
                </a:rPr>
                <a:t>True Negatives (TN)</a:t>
              </a:r>
              <a:endParaRPr sz="1000">
                <a:solidFill>
                  <a:srgbClr val="A0B2C6"/>
                </a:solidFill>
                <a:latin typeface="Assistant"/>
                <a:ea typeface="Assistant"/>
                <a:cs typeface="Assistant"/>
                <a:sym typeface="Assistant"/>
              </a:endParaRPr>
            </a:p>
            <a:p>
              <a:pPr indent="0" lvl="0" marL="0" rtl="1" algn="r">
                <a:spcBef>
                  <a:spcPts val="300"/>
                </a:spcBef>
                <a:spcAft>
                  <a:spcPts val="0"/>
                </a:spcAft>
                <a:buNone/>
              </a:pPr>
              <a:r>
                <a:rPr b="1" lang="iw" sz="1000">
                  <a:solidFill>
                    <a:srgbClr val="FF5F56"/>
                  </a:solidFill>
                  <a:latin typeface="Assistant"/>
                  <a:ea typeface="Assistant"/>
                  <a:cs typeface="Assistant"/>
                  <a:sym typeface="Assistant"/>
                </a:rPr>
                <a:t>• False Positives (FP)</a:t>
              </a:r>
              <a:r>
                <a:rPr lang="iw" sz="1000">
                  <a:solidFill>
                    <a:srgbClr val="A0B2C6"/>
                  </a:solidFill>
                  <a:latin typeface="Assistant"/>
                  <a:ea typeface="Assistant"/>
                  <a:cs typeface="Assistant"/>
                  <a:sym typeface="Assistant"/>
                </a:rPr>
                <a:t> / </a:t>
              </a:r>
              <a:r>
                <a:rPr b="1" lang="iw" sz="1000">
                  <a:solidFill>
                    <a:srgbClr val="FFBD2E"/>
                  </a:solidFill>
                  <a:latin typeface="Assistant"/>
                  <a:ea typeface="Assistant"/>
                  <a:cs typeface="Assistant"/>
                  <a:sym typeface="Assistant"/>
                </a:rPr>
                <a:t>False Negatives (FN)</a:t>
              </a:r>
              <a:endParaRPr sz="1000">
                <a:solidFill>
                  <a:srgbClr val="A0B2C6"/>
                </a:solidFill>
                <a:latin typeface="Assistant"/>
                <a:ea typeface="Assistant"/>
                <a:cs typeface="Assistant"/>
                <a:sym typeface="Assistant"/>
              </a:endParaRPr>
            </a:p>
            <a:p>
              <a:pPr indent="0" lvl="0" marL="0" rtl="1" algn="r">
                <a:spcBef>
                  <a:spcPts val="900"/>
                </a:spcBef>
                <a:spcAft>
                  <a:spcPts val="0"/>
                </a:spcAft>
                <a:buNone/>
              </a:pPr>
              <a:r>
                <a:rPr i="1" lang="iw" sz="950">
                  <a:solidFill>
                    <a:srgbClr val="7A8D9E"/>
                  </a:solidFill>
                  <a:latin typeface="Assistant"/>
                  <a:ea typeface="Assistant"/>
                  <a:cs typeface="Assistant"/>
                  <a:sym typeface="Assistant"/>
                </a:rPr>
                <a:t>This visualization helps identify the specific types of classification errors made by each model.</a:t>
              </a:r>
              <a:endParaRPr i="1" sz="950">
                <a:solidFill>
                  <a:srgbClr val="7A8D9E"/>
                </a:solidFill>
                <a:latin typeface="Assistant"/>
                <a:ea typeface="Assistant"/>
                <a:cs typeface="Assistant"/>
                <a:sym typeface="Assistant"/>
              </a:endParaRPr>
            </a:p>
          </p:txBody>
        </p:sp>
      </p:grpSp>
      <p:sp>
        <p:nvSpPr>
          <p:cNvPr id="480" name="Google Shape;480;p30"/>
          <p:cNvSpPr txBox="1"/>
          <p:nvPr/>
        </p:nvSpPr>
        <p:spPr>
          <a:xfrm>
            <a:off x="775825" y="162525"/>
            <a:ext cx="1687200" cy="818100"/>
          </a:xfrm>
          <a:prstGeom prst="rect">
            <a:avLst/>
          </a:prstGeom>
          <a:noFill/>
          <a:ln>
            <a:noFill/>
          </a:ln>
        </p:spPr>
        <p:txBody>
          <a:bodyPr anchorCtr="0" anchor="t" bIns="91425" lIns="91425" spcFirstLastPara="1" rIns="91425" wrap="square" tIns="91425">
            <a:spAutoFit/>
          </a:bodyPr>
          <a:lstStyle/>
          <a:p>
            <a:pPr indent="-254000" lvl="0" marL="457200" rtl="1" algn="r">
              <a:lnSpc>
                <a:spcPct val="115000"/>
              </a:lnSpc>
              <a:spcBef>
                <a:spcPts val="1200"/>
              </a:spcBef>
              <a:spcAft>
                <a:spcPts val="0"/>
              </a:spcAft>
              <a:buClr>
                <a:schemeClr val="lt1"/>
              </a:buClr>
              <a:buSzPts val="400"/>
              <a:buChar char="●"/>
            </a:pPr>
            <a:r>
              <a:rPr lang="iw" sz="700">
                <a:solidFill>
                  <a:schemeClr val="lt1"/>
                </a:solidFill>
              </a:rPr>
              <a:t>זיהה 96 חולים נכון ✅</a:t>
            </a:r>
            <a:endParaRPr sz="700">
              <a:solidFill>
                <a:schemeClr val="lt1"/>
              </a:solidFill>
            </a:endParaRPr>
          </a:p>
          <a:p>
            <a:pPr indent="-254000" lvl="0" marL="457200" rtl="1" algn="r">
              <a:lnSpc>
                <a:spcPct val="115000"/>
              </a:lnSpc>
              <a:spcBef>
                <a:spcPts val="0"/>
              </a:spcBef>
              <a:spcAft>
                <a:spcPts val="0"/>
              </a:spcAft>
              <a:buClr>
                <a:schemeClr val="lt1"/>
              </a:buClr>
              <a:buSzPts val="400"/>
              <a:buChar char="●"/>
            </a:pPr>
            <a:r>
              <a:rPr lang="iw" sz="700">
                <a:solidFill>
                  <a:schemeClr val="lt1"/>
                </a:solidFill>
              </a:rPr>
              <a:t>פספס 9 חולים ❌</a:t>
            </a:r>
            <a:endParaRPr sz="700">
              <a:solidFill>
                <a:schemeClr val="lt1"/>
              </a:solidFill>
            </a:endParaRPr>
          </a:p>
          <a:p>
            <a:pPr indent="-254000" lvl="0" marL="457200" rtl="1" algn="r">
              <a:lnSpc>
                <a:spcPct val="115000"/>
              </a:lnSpc>
              <a:spcBef>
                <a:spcPts val="0"/>
              </a:spcBef>
              <a:spcAft>
                <a:spcPts val="0"/>
              </a:spcAft>
              <a:buClr>
                <a:schemeClr val="lt1"/>
              </a:buClr>
              <a:buSzPts val="400"/>
              <a:buChar char="●"/>
            </a:pPr>
            <a:r>
              <a:rPr lang="iw" sz="700">
                <a:solidFill>
                  <a:schemeClr val="lt1"/>
                </a:solidFill>
              </a:rPr>
              <a:t>טעה לגבי 30 בריאים</a:t>
            </a:r>
            <a:endParaRPr sz="700">
              <a:solidFill>
                <a:schemeClr val="lt1"/>
              </a:solidFill>
            </a:endParaRPr>
          </a:p>
          <a:p>
            <a:pPr indent="0" lvl="0" marL="0" rtl="1" algn="r">
              <a:lnSpc>
                <a:spcPct val="115000"/>
              </a:lnSpc>
              <a:spcBef>
                <a:spcPts val="1200"/>
              </a:spcBef>
              <a:spcAft>
                <a:spcPts val="1200"/>
              </a:spcAft>
              <a:buNone/>
            </a:pPr>
            <a:r>
              <a:rPr lang="iw" sz="700">
                <a:solidFill>
                  <a:schemeClr val="lt1"/>
                </a:solidFill>
              </a:rPr>
              <a:t>זה מתאים ל־Accuracy של בערך 81%.</a:t>
            </a:r>
            <a:endParaRPr sz="700">
              <a:solidFill>
                <a:schemeClr val="lt1"/>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4" name="Shape 484"/>
        <p:cNvGrpSpPr/>
        <p:nvPr/>
      </p:nvGrpSpPr>
      <p:grpSpPr>
        <a:xfrm>
          <a:off x="0" y="0"/>
          <a:ext cx="0" cy="0"/>
          <a:chOff x="0" y="0"/>
          <a:chExt cx="0" cy="0"/>
        </a:xfrm>
      </p:grpSpPr>
      <p:pic>
        <p:nvPicPr>
          <p:cNvPr id="485" name="Google Shape;485;p31"/>
          <p:cNvPicPr preferRelativeResize="0"/>
          <p:nvPr/>
        </p:nvPicPr>
        <p:blipFill rotWithShape="1">
          <a:blip r:embed="rId3">
            <a:alphaModFix/>
          </a:blip>
          <a:srcRect b="0" l="407" r="417" t="0"/>
          <a:stretch/>
        </p:blipFill>
        <p:spPr>
          <a:xfrm>
            <a:off x="381000" y="1047750"/>
            <a:ext cx="4953000" cy="3619500"/>
          </a:xfrm>
          <a:prstGeom prst="rect">
            <a:avLst/>
          </a:prstGeom>
          <a:noFill/>
          <a:ln>
            <a:noFill/>
          </a:ln>
        </p:spPr>
      </p:pic>
      <p:grpSp>
        <p:nvGrpSpPr>
          <p:cNvPr id="486" name="Google Shape;486;p31"/>
          <p:cNvGrpSpPr/>
          <p:nvPr/>
        </p:nvGrpSpPr>
        <p:grpSpPr>
          <a:xfrm>
            <a:off x="1809750" y="238125"/>
            <a:ext cx="6953400" cy="666900"/>
            <a:chOff x="1809750" y="238125"/>
            <a:chExt cx="6953400" cy="666900"/>
          </a:xfrm>
        </p:grpSpPr>
        <p:sp>
          <p:nvSpPr>
            <p:cNvPr id="487" name="Google Shape;487;p31"/>
            <p:cNvSpPr txBox="1"/>
            <p:nvPr/>
          </p:nvSpPr>
          <p:spPr>
            <a:xfrm>
              <a:off x="4000500" y="238125"/>
              <a:ext cx="4762500" cy="428700"/>
            </a:xfrm>
            <a:prstGeom prst="rect">
              <a:avLst/>
            </a:prstGeom>
            <a:solidFill>
              <a:srgbClr val="000000">
                <a:alpha val="0"/>
              </a:srgbClr>
            </a:solidFill>
            <a:ln>
              <a:noFill/>
            </a:ln>
          </p:spPr>
          <p:txBody>
            <a:bodyPr anchorCtr="0" anchor="ctr" bIns="0" lIns="0" spcFirstLastPara="1" rIns="0" wrap="square" tIns="0">
              <a:noAutofit/>
            </a:bodyPr>
            <a:lstStyle/>
            <a:p>
              <a:pPr indent="0" lvl="0" marL="0" rtl="1" algn="r">
                <a:spcBef>
                  <a:spcPts val="0"/>
                </a:spcBef>
                <a:spcAft>
                  <a:spcPts val="0"/>
                </a:spcAft>
                <a:buNone/>
              </a:pPr>
              <a:r>
                <a:rPr b="0" lang="iw" sz="2400">
                  <a:solidFill>
                    <a:srgbClr val="FFFFFF"/>
                  </a:solidFill>
                  <a:latin typeface="Assistant ExtraBold"/>
                  <a:ea typeface="Assistant ExtraBold"/>
                  <a:cs typeface="Assistant ExtraBold"/>
                  <a:sym typeface="Assistant ExtraBold"/>
                </a:rPr>
                <a:t>עקומת (ROC Curve)</a:t>
              </a:r>
              <a:endParaRPr b="0" sz="2400">
                <a:solidFill>
                  <a:srgbClr val="FFFFFF"/>
                </a:solidFill>
                <a:latin typeface="Assistant ExtraBold"/>
                <a:ea typeface="Assistant ExtraBold"/>
                <a:cs typeface="Assistant ExtraBold"/>
                <a:sym typeface="Assistant ExtraBold"/>
              </a:endParaRPr>
            </a:p>
          </p:txBody>
        </p:sp>
        <p:sp>
          <p:nvSpPr>
            <p:cNvPr id="488" name="Google Shape;488;p31"/>
            <p:cNvSpPr txBox="1"/>
            <p:nvPr/>
          </p:nvSpPr>
          <p:spPr>
            <a:xfrm>
              <a:off x="1809750" y="619125"/>
              <a:ext cx="6953400" cy="285900"/>
            </a:xfrm>
            <a:prstGeom prst="rect">
              <a:avLst/>
            </a:prstGeom>
            <a:solidFill>
              <a:srgbClr val="000000">
                <a:alpha val="0"/>
              </a:srgbClr>
            </a:solidFill>
            <a:ln>
              <a:noFill/>
            </a:ln>
          </p:spPr>
          <p:txBody>
            <a:bodyPr anchorCtr="0" anchor="ctr" bIns="0" lIns="0" spcFirstLastPara="1" rIns="0" wrap="square" tIns="0">
              <a:noAutofit/>
            </a:bodyPr>
            <a:lstStyle/>
            <a:p>
              <a:pPr indent="0" lvl="0" marL="0" rtl="1" algn="r">
                <a:spcBef>
                  <a:spcPts val="0"/>
                </a:spcBef>
                <a:spcAft>
                  <a:spcPts val="0"/>
                </a:spcAft>
                <a:buNone/>
              </a:pPr>
              <a:r>
                <a:rPr b="0" lang="iw" sz="1000">
                  <a:solidFill>
                    <a:srgbClr val="7A8D9E"/>
                  </a:solidFill>
                  <a:latin typeface="Assistant"/>
                  <a:ea typeface="Assistant"/>
                  <a:cs typeface="Assistant"/>
                  <a:sym typeface="Assistant"/>
                </a:rPr>
                <a:t>השוואה והערכת יכולת ההבחנה וההפרדה של מודלי הסיווג השונים.</a:t>
              </a:r>
              <a:endParaRPr b="0" sz="1000">
                <a:solidFill>
                  <a:srgbClr val="7A8D9E"/>
                </a:solidFill>
                <a:latin typeface="Assistant"/>
                <a:ea typeface="Assistant"/>
                <a:cs typeface="Assistant"/>
                <a:sym typeface="Assistant"/>
              </a:endParaRPr>
            </a:p>
          </p:txBody>
        </p:sp>
      </p:grpSp>
      <p:grpSp>
        <p:nvGrpSpPr>
          <p:cNvPr id="489" name="Google Shape;489;p31"/>
          <p:cNvGrpSpPr/>
          <p:nvPr/>
        </p:nvGrpSpPr>
        <p:grpSpPr>
          <a:xfrm>
            <a:off x="5524500" y="1047750"/>
            <a:ext cx="3238500" cy="3619500"/>
            <a:chOff x="5524500" y="1047750"/>
            <a:chExt cx="3238500" cy="3619500"/>
          </a:xfrm>
        </p:grpSpPr>
        <p:sp>
          <p:nvSpPr>
            <p:cNvPr id="490" name="Google Shape;490;p31"/>
            <p:cNvSpPr/>
            <p:nvPr/>
          </p:nvSpPr>
          <p:spPr>
            <a:xfrm>
              <a:off x="5524500" y="1047750"/>
              <a:ext cx="3238500" cy="3619500"/>
            </a:xfrm>
            <a:prstGeom prst="roundRect">
              <a:avLst>
                <a:gd fmla="val 1764" name="adj"/>
              </a:avLst>
            </a:prstGeom>
            <a:solidFill>
              <a:srgbClr val="0E1524"/>
            </a:solidFill>
            <a:ln cap="flat" cmpd="sng" w="9525">
              <a:solidFill>
                <a:srgbClr val="1F2E4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91" name="Google Shape;491;p31"/>
            <p:cNvSpPr/>
            <p:nvPr/>
          </p:nvSpPr>
          <p:spPr>
            <a:xfrm>
              <a:off x="5524500" y="1047750"/>
              <a:ext cx="3238500" cy="47700"/>
            </a:xfrm>
            <a:prstGeom prst="rect">
              <a:avLst/>
            </a:prstGeom>
            <a:solidFill>
              <a:srgbClr val="00E5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92" name="Google Shape;492;p31"/>
            <p:cNvSpPr txBox="1"/>
            <p:nvPr/>
          </p:nvSpPr>
          <p:spPr>
            <a:xfrm>
              <a:off x="5715000" y="1285875"/>
              <a:ext cx="2857500" cy="3143400"/>
            </a:xfrm>
            <a:prstGeom prst="rect">
              <a:avLst/>
            </a:prstGeom>
            <a:solidFill>
              <a:srgbClr val="000000">
                <a:alpha val="0"/>
              </a:srgbClr>
            </a:solidFill>
            <a:ln>
              <a:noFill/>
            </a:ln>
          </p:spPr>
          <p:txBody>
            <a:bodyPr anchorCtr="0" anchor="t" bIns="0" lIns="0" spcFirstLastPara="1" rIns="0" wrap="square" tIns="0">
              <a:noAutofit/>
            </a:bodyPr>
            <a:lstStyle/>
            <a:p>
              <a:pPr indent="0" lvl="0" marL="0" rtl="1" algn="r">
                <a:spcBef>
                  <a:spcPts val="0"/>
                </a:spcBef>
                <a:spcAft>
                  <a:spcPts val="0"/>
                </a:spcAft>
                <a:buNone/>
              </a:pPr>
              <a:r>
                <a:rPr b="1" lang="iw" sz="900">
                  <a:solidFill>
                    <a:srgbClr val="00E5FF"/>
                  </a:solidFill>
                  <a:latin typeface="Courier New"/>
                  <a:ea typeface="Courier New"/>
                  <a:cs typeface="Courier New"/>
                  <a:sym typeface="Courier New"/>
                </a:rPr>
                <a:t>ROC_CURVE // EVALUATION</a:t>
              </a:r>
              <a:endParaRPr b="1" sz="900">
                <a:solidFill>
                  <a:srgbClr val="00E5FF"/>
                </a:solidFill>
                <a:latin typeface="Courier New"/>
                <a:ea typeface="Courier New"/>
                <a:cs typeface="Courier New"/>
                <a:sym typeface="Courier New"/>
              </a:endParaRPr>
            </a:p>
            <a:p>
              <a:pPr indent="0" lvl="0" marL="0" rtl="1" algn="r">
                <a:spcBef>
                  <a:spcPts val="600"/>
                </a:spcBef>
                <a:spcAft>
                  <a:spcPts val="0"/>
                </a:spcAft>
                <a:buNone/>
              </a:pPr>
              <a:r>
                <a:rPr b="1" lang="iw" sz="1400">
                  <a:solidFill>
                    <a:srgbClr val="FFFFFF"/>
                  </a:solidFill>
                  <a:latin typeface="Assistant"/>
                  <a:ea typeface="Assistant"/>
                  <a:cs typeface="Assistant"/>
                  <a:sym typeface="Assistant"/>
                </a:rPr>
                <a:t>מדד יכולת ההבחנה</a:t>
              </a:r>
              <a:endParaRPr b="1" sz="900">
                <a:solidFill>
                  <a:srgbClr val="00E5FF"/>
                </a:solidFill>
                <a:latin typeface="Courier New"/>
                <a:ea typeface="Courier New"/>
                <a:cs typeface="Courier New"/>
                <a:sym typeface="Courier New"/>
              </a:endParaRPr>
            </a:p>
            <a:p>
              <a:pPr indent="0" lvl="0" marL="0" rtl="1" algn="r">
                <a:spcBef>
                  <a:spcPts val="1200"/>
                </a:spcBef>
                <a:spcAft>
                  <a:spcPts val="0"/>
                </a:spcAft>
                <a:buNone/>
              </a:pPr>
              <a:r>
                <a:rPr b="1" lang="iw" sz="1100">
                  <a:solidFill>
                    <a:srgbClr val="FFFFFF"/>
                  </a:solidFill>
                  <a:latin typeface="Assistant"/>
                  <a:ea typeface="Assistant"/>
                  <a:cs typeface="Assistant"/>
                  <a:sym typeface="Assistant"/>
                </a:rPr>
                <a:t>עקומת ROC</a:t>
              </a:r>
              <a:r>
                <a:rPr b="0" lang="iw" sz="1100">
                  <a:solidFill>
                    <a:srgbClr val="A0B2C6"/>
                  </a:solidFill>
                  <a:latin typeface="Assistant"/>
                  <a:ea typeface="Assistant"/>
                  <a:cs typeface="Assistant"/>
                  <a:sym typeface="Assistant"/>
                </a:rPr>
                <a:t> משמשת להשוואת יכולת ההבחנה של המודל בין מחלקות (חולים לעומת בריאים) עבור כל אחד מהמודלים שנבחנו.</a:t>
              </a:r>
              <a:endParaRPr b="0" sz="1100">
                <a:solidFill>
                  <a:srgbClr val="A0B2C6"/>
                </a:solidFill>
                <a:latin typeface="Assistant"/>
                <a:ea typeface="Assistant"/>
                <a:cs typeface="Assistant"/>
                <a:sym typeface="Assistant"/>
              </a:endParaRPr>
            </a:p>
            <a:p>
              <a:pPr indent="0" lvl="0" marL="0" rtl="1" algn="r">
                <a:spcBef>
                  <a:spcPts val="1200"/>
                </a:spcBef>
                <a:spcAft>
                  <a:spcPts val="0"/>
                </a:spcAft>
                <a:buNone/>
              </a:pPr>
              <a:r>
                <a:rPr b="0" lang="iw" sz="1100">
                  <a:solidFill>
                    <a:srgbClr val="A0B2C6"/>
                  </a:solidFill>
                  <a:latin typeface="Assistant"/>
                  <a:ea typeface="Assistant"/>
                  <a:cs typeface="Assistant"/>
                  <a:sym typeface="Assistant"/>
                </a:rPr>
                <a:t>מודל בעל ערך </a:t>
              </a:r>
              <a:r>
                <a:rPr b="1" lang="iw" sz="1100">
                  <a:solidFill>
                    <a:srgbClr val="00E5FF"/>
                  </a:solidFill>
                  <a:latin typeface="Assistant"/>
                  <a:ea typeface="Assistant"/>
                  <a:cs typeface="Assistant"/>
                  <a:sym typeface="Assistant"/>
                </a:rPr>
                <a:t>ROC-AUC</a:t>
              </a:r>
              <a:r>
                <a:rPr b="0" lang="iw" sz="1100">
                  <a:solidFill>
                    <a:srgbClr val="A0B2C6"/>
                  </a:solidFill>
                  <a:latin typeface="Assistant"/>
                  <a:ea typeface="Assistant"/>
                  <a:cs typeface="Assistant"/>
                  <a:sym typeface="Assistant"/>
                </a:rPr>
                <a:t> גבוה יותר מסוגל להבחין בצורה מדויקת וטובה יותר בין מטופלים בריאים לבין מטופלים הסובלים ממחלת לב.</a:t>
              </a:r>
              <a:endParaRPr b="0" sz="1100">
                <a:solidFill>
                  <a:srgbClr val="A0B2C6"/>
                </a:solidFill>
                <a:latin typeface="Assistant"/>
                <a:ea typeface="Assistant"/>
                <a:cs typeface="Assistant"/>
                <a:sym typeface="Assistant"/>
              </a:endParaRPr>
            </a:p>
            <a:p>
              <a:pPr indent="0" lvl="0" marL="0" rtl="1" algn="r">
                <a:spcBef>
                  <a:spcPts val="1200"/>
                </a:spcBef>
                <a:spcAft>
                  <a:spcPts val="0"/>
                </a:spcAft>
                <a:buNone/>
              </a:pPr>
              <a:r>
                <a:rPr b="0" i="1" lang="iw" sz="1000">
                  <a:solidFill>
                    <a:srgbClr val="7A8D9E"/>
                  </a:solidFill>
                  <a:latin typeface="Assistant"/>
                  <a:ea typeface="Assistant"/>
                  <a:cs typeface="Assistant"/>
                  <a:sym typeface="Assistant"/>
                </a:rPr>
                <a:t>רמת AUC הקרובה ל-1.0 מייצגת מודל סיווג מושלם וכמעט ללא שגיאות.</a:t>
              </a:r>
              <a:endParaRPr b="0" i="1" sz="1000">
                <a:solidFill>
                  <a:srgbClr val="7A8D9E"/>
                </a:solidFill>
                <a:latin typeface="Assistant"/>
                <a:ea typeface="Assistant"/>
                <a:cs typeface="Assistant"/>
                <a:sym typeface="Assistant"/>
              </a:endParaRPr>
            </a:p>
          </p:txBody>
        </p:sp>
      </p:gr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6" name="Shape 496"/>
        <p:cNvGrpSpPr/>
        <p:nvPr/>
      </p:nvGrpSpPr>
      <p:grpSpPr>
        <a:xfrm>
          <a:off x="0" y="0"/>
          <a:ext cx="0" cy="0"/>
          <a:chOff x="0" y="0"/>
          <a:chExt cx="0" cy="0"/>
        </a:xfrm>
      </p:grpSpPr>
      <p:pic>
        <p:nvPicPr>
          <p:cNvPr id="497" name="Google Shape;497;p32"/>
          <p:cNvPicPr preferRelativeResize="0"/>
          <p:nvPr/>
        </p:nvPicPr>
        <p:blipFill>
          <a:blip r:embed="rId3">
            <a:alphaModFix/>
          </a:blip>
          <a:stretch>
            <a:fillRect/>
          </a:stretch>
        </p:blipFill>
        <p:spPr>
          <a:xfrm>
            <a:off x="122275" y="913150"/>
            <a:ext cx="5171051" cy="2970040"/>
          </a:xfrm>
          <a:prstGeom prst="rect">
            <a:avLst/>
          </a:prstGeom>
          <a:noFill/>
          <a:ln>
            <a:noFill/>
          </a:ln>
        </p:spPr>
      </p:pic>
      <p:grpSp>
        <p:nvGrpSpPr>
          <p:cNvPr id="498" name="Google Shape;498;p32"/>
          <p:cNvGrpSpPr/>
          <p:nvPr/>
        </p:nvGrpSpPr>
        <p:grpSpPr>
          <a:xfrm>
            <a:off x="1809750" y="238125"/>
            <a:ext cx="6953400" cy="714300"/>
            <a:chOff x="1809750" y="238125"/>
            <a:chExt cx="6953400" cy="714300"/>
          </a:xfrm>
        </p:grpSpPr>
        <p:sp>
          <p:nvSpPr>
            <p:cNvPr id="499" name="Google Shape;499;p32"/>
            <p:cNvSpPr txBox="1"/>
            <p:nvPr/>
          </p:nvSpPr>
          <p:spPr>
            <a:xfrm>
              <a:off x="4000500" y="238125"/>
              <a:ext cx="4762500" cy="428700"/>
            </a:xfrm>
            <a:prstGeom prst="rect">
              <a:avLst/>
            </a:prstGeom>
            <a:noFill/>
            <a:ln>
              <a:noFill/>
            </a:ln>
          </p:spPr>
          <p:txBody>
            <a:bodyPr anchorCtr="0" anchor="ctr" bIns="0" lIns="0" spcFirstLastPara="1" rIns="0" wrap="square" tIns="0">
              <a:noAutofit/>
            </a:bodyPr>
            <a:lstStyle/>
            <a:p>
              <a:pPr indent="0" lvl="0" marL="0" rtl="1" algn="r">
                <a:spcBef>
                  <a:spcPts val="0"/>
                </a:spcBef>
                <a:spcAft>
                  <a:spcPts val="0"/>
                </a:spcAft>
                <a:buNone/>
              </a:pPr>
              <a:r>
                <a:rPr b="0" lang="iw" sz="2220">
                  <a:solidFill>
                    <a:srgbClr val="FFFFFF"/>
                  </a:solidFill>
                  <a:latin typeface="Assistant ExtraBold"/>
                  <a:ea typeface="Assistant ExtraBold"/>
                  <a:cs typeface="Assistant ExtraBold"/>
                  <a:sym typeface="Assistant ExtraBold"/>
                </a:rPr>
                <a:t>חשיבות מאפיינים (Feature Importance)</a:t>
              </a:r>
              <a:endParaRPr b="0" sz="2220">
                <a:solidFill>
                  <a:srgbClr val="FFFFFF"/>
                </a:solidFill>
                <a:latin typeface="Assistant ExtraBold"/>
                <a:ea typeface="Assistant ExtraBold"/>
                <a:cs typeface="Assistant ExtraBold"/>
                <a:sym typeface="Assistant ExtraBold"/>
              </a:endParaRPr>
            </a:p>
          </p:txBody>
        </p:sp>
        <p:sp>
          <p:nvSpPr>
            <p:cNvPr id="500" name="Google Shape;500;p32"/>
            <p:cNvSpPr txBox="1"/>
            <p:nvPr/>
          </p:nvSpPr>
          <p:spPr>
            <a:xfrm>
              <a:off x="1809750" y="619125"/>
              <a:ext cx="6953400" cy="333300"/>
            </a:xfrm>
            <a:prstGeom prst="rect">
              <a:avLst/>
            </a:prstGeom>
            <a:noFill/>
            <a:ln>
              <a:noFill/>
            </a:ln>
          </p:spPr>
          <p:txBody>
            <a:bodyPr anchorCtr="0" anchor="ctr" bIns="0" lIns="0" spcFirstLastPara="1" rIns="0" wrap="square" tIns="0">
              <a:noAutofit/>
            </a:bodyPr>
            <a:lstStyle/>
            <a:p>
              <a:pPr indent="0" lvl="0" marL="0" rtl="1" algn="r">
                <a:spcBef>
                  <a:spcPts val="0"/>
                </a:spcBef>
                <a:spcAft>
                  <a:spcPts val="0"/>
                </a:spcAft>
                <a:buNone/>
              </a:pPr>
              <a:r>
                <a:rPr b="0" lang="iw" sz="1000">
                  <a:solidFill>
                    <a:srgbClr val="7A8D9E"/>
                  </a:solidFill>
                  <a:latin typeface="Assistant"/>
                  <a:ea typeface="Assistant"/>
                  <a:cs typeface="Assistant"/>
                  <a:sym typeface="Assistant"/>
                </a:rPr>
                <a:t>ניתוח תרומת המשתנים השונים לקבלת ההחלטות במודל הלמידה הסטטיסטי.</a:t>
              </a:r>
              <a:endParaRPr b="0" sz="1000">
                <a:solidFill>
                  <a:srgbClr val="7A8D9E"/>
                </a:solidFill>
                <a:latin typeface="Assistant"/>
                <a:ea typeface="Assistant"/>
                <a:cs typeface="Assistant"/>
                <a:sym typeface="Assistant"/>
              </a:endParaRPr>
            </a:p>
          </p:txBody>
        </p:sp>
      </p:grpSp>
      <p:grpSp>
        <p:nvGrpSpPr>
          <p:cNvPr id="501" name="Google Shape;501;p32"/>
          <p:cNvGrpSpPr/>
          <p:nvPr/>
        </p:nvGrpSpPr>
        <p:grpSpPr>
          <a:xfrm>
            <a:off x="5486825" y="1025150"/>
            <a:ext cx="3238500" cy="3619500"/>
            <a:chOff x="5524500" y="1047750"/>
            <a:chExt cx="3238500" cy="3619500"/>
          </a:xfrm>
        </p:grpSpPr>
        <p:sp>
          <p:nvSpPr>
            <p:cNvPr id="502" name="Google Shape;502;p32"/>
            <p:cNvSpPr/>
            <p:nvPr/>
          </p:nvSpPr>
          <p:spPr>
            <a:xfrm>
              <a:off x="5524500" y="1047750"/>
              <a:ext cx="3238500" cy="3619500"/>
            </a:xfrm>
            <a:prstGeom prst="roundRect">
              <a:avLst>
                <a:gd fmla="val 1764" name="adj"/>
              </a:avLst>
            </a:prstGeom>
            <a:solidFill>
              <a:srgbClr val="0E1524"/>
            </a:solidFill>
            <a:ln cap="flat" cmpd="sng" w="9525">
              <a:solidFill>
                <a:srgbClr val="1F2E4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03" name="Google Shape;503;p32"/>
            <p:cNvSpPr/>
            <p:nvPr/>
          </p:nvSpPr>
          <p:spPr>
            <a:xfrm>
              <a:off x="5524500" y="1047750"/>
              <a:ext cx="3238500" cy="47700"/>
            </a:xfrm>
            <a:prstGeom prst="rect">
              <a:avLst/>
            </a:prstGeom>
            <a:solidFill>
              <a:srgbClr val="00E5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04" name="Google Shape;504;p32"/>
            <p:cNvSpPr txBox="1"/>
            <p:nvPr/>
          </p:nvSpPr>
          <p:spPr>
            <a:xfrm>
              <a:off x="5715000" y="1285875"/>
              <a:ext cx="2857500" cy="3143400"/>
            </a:xfrm>
            <a:prstGeom prst="rect">
              <a:avLst/>
            </a:prstGeom>
            <a:noFill/>
            <a:ln>
              <a:noFill/>
            </a:ln>
          </p:spPr>
          <p:txBody>
            <a:bodyPr anchorCtr="0" anchor="t" bIns="0" lIns="0" spcFirstLastPara="1" rIns="0" wrap="square" tIns="0">
              <a:noAutofit/>
            </a:bodyPr>
            <a:lstStyle/>
            <a:p>
              <a:pPr indent="0" lvl="0" marL="0" rtl="1" algn="r">
                <a:spcBef>
                  <a:spcPts val="0"/>
                </a:spcBef>
                <a:spcAft>
                  <a:spcPts val="0"/>
                </a:spcAft>
                <a:buNone/>
              </a:pPr>
              <a:r>
                <a:rPr b="1" lang="iw" sz="900">
                  <a:solidFill>
                    <a:srgbClr val="00E5FF"/>
                  </a:solidFill>
                  <a:latin typeface="Courier New"/>
                  <a:ea typeface="Courier New"/>
                  <a:cs typeface="Courier New"/>
                  <a:sym typeface="Courier New"/>
                </a:rPr>
                <a:t>FEATURE_IMPORTANCE // MODEL_INSIGHTS</a:t>
              </a:r>
              <a:endParaRPr b="1" sz="900">
                <a:solidFill>
                  <a:srgbClr val="00E5FF"/>
                </a:solidFill>
                <a:latin typeface="Courier New"/>
                <a:ea typeface="Courier New"/>
                <a:cs typeface="Courier New"/>
                <a:sym typeface="Courier New"/>
              </a:endParaRPr>
            </a:p>
            <a:p>
              <a:pPr indent="0" lvl="0" marL="0" rtl="1" algn="r">
                <a:spcBef>
                  <a:spcPts val="600"/>
                </a:spcBef>
                <a:spcAft>
                  <a:spcPts val="0"/>
                </a:spcAft>
                <a:buNone/>
              </a:pPr>
              <a:r>
                <a:rPr b="1" lang="iw" sz="1400">
                  <a:solidFill>
                    <a:srgbClr val="FFFFFF"/>
                  </a:solidFill>
                  <a:latin typeface="Assistant"/>
                  <a:ea typeface="Assistant"/>
                  <a:cs typeface="Assistant"/>
                  <a:sym typeface="Assistant"/>
                </a:rPr>
                <a:t>זיהוי גורמי סיכון מרכזיים</a:t>
              </a:r>
              <a:endParaRPr b="1" sz="1400">
                <a:solidFill>
                  <a:srgbClr val="FFFFFF"/>
                </a:solidFill>
                <a:latin typeface="Assistant"/>
                <a:ea typeface="Assistant"/>
                <a:cs typeface="Assistant"/>
                <a:sym typeface="Assistant"/>
              </a:endParaRPr>
            </a:p>
            <a:p>
              <a:pPr indent="0" lvl="0" marL="0" rtl="1" algn="r">
                <a:spcBef>
                  <a:spcPts val="1200"/>
                </a:spcBef>
                <a:spcAft>
                  <a:spcPts val="0"/>
                </a:spcAft>
                <a:buNone/>
              </a:pPr>
              <a:r>
                <a:rPr b="0" lang="iw" sz="1100">
                  <a:solidFill>
                    <a:srgbClr val="A0B2C6"/>
                  </a:solidFill>
                  <a:latin typeface="Assistant"/>
                  <a:ea typeface="Assistant"/>
                  <a:cs typeface="Assistant"/>
                  <a:sym typeface="Assistant"/>
                </a:rPr>
                <a:t>הגרף מציג את תרומתו היחסית של כל מאפיין רפואי לתהליך קבלת ההחלטות של מודל </a:t>
              </a:r>
              <a:r>
                <a:rPr b="1" lang="iw" sz="1100">
                  <a:solidFill>
                    <a:srgbClr val="FFFFFF"/>
                  </a:solidFill>
                  <a:latin typeface="Assistant"/>
                  <a:ea typeface="Assistant"/>
                  <a:cs typeface="Assistant"/>
                  <a:sym typeface="Assistant"/>
                </a:rPr>
                <a:t>Random Forest</a:t>
              </a:r>
              <a:r>
                <a:rPr b="0" lang="iw" sz="1100">
                  <a:solidFill>
                    <a:srgbClr val="A0B2C6"/>
                  </a:solidFill>
                  <a:latin typeface="Assistant"/>
                  <a:ea typeface="Assistant"/>
                  <a:cs typeface="Assistant"/>
                  <a:sym typeface="Assistant"/>
                </a:rPr>
                <a:t>.</a:t>
              </a:r>
              <a:endParaRPr b="0" sz="1100">
                <a:solidFill>
                  <a:srgbClr val="A0B2C6"/>
                </a:solidFill>
                <a:latin typeface="Assistant"/>
                <a:ea typeface="Assistant"/>
                <a:cs typeface="Assistant"/>
                <a:sym typeface="Assistant"/>
              </a:endParaRPr>
            </a:p>
            <a:p>
              <a:pPr indent="0" lvl="0" marL="0" rtl="1" algn="r">
                <a:spcBef>
                  <a:spcPts val="1200"/>
                </a:spcBef>
                <a:spcAft>
                  <a:spcPts val="0"/>
                </a:spcAft>
                <a:buNone/>
              </a:pPr>
              <a:r>
                <a:rPr b="0" lang="iw" sz="1100">
                  <a:solidFill>
                    <a:srgbClr val="A0B2C6"/>
                  </a:solidFill>
                  <a:latin typeface="Assistant"/>
                  <a:ea typeface="Assistant"/>
                  <a:cs typeface="Assistant"/>
                  <a:sym typeface="Assistant"/>
                </a:rPr>
                <a:t>ניתוח זה מאפשר לזהות אילו מאפיינים משפיעים ביותר על חיזוי מחלת הלב ומהווים גורמי סיכון משמעותיים בהערכה הרפואית.</a:t>
              </a:r>
              <a:br>
                <a:rPr b="0" lang="iw" sz="1100">
                  <a:solidFill>
                    <a:srgbClr val="A0B2C6"/>
                  </a:solidFill>
                  <a:latin typeface="Assistant"/>
                  <a:ea typeface="Assistant"/>
                  <a:cs typeface="Assistant"/>
                  <a:sym typeface="Assistant"/>
                </a:rPr>
              </a:br>
              <a:br>
                <a:rPr b="0" lang="iw" sz="1100">
                  <a:solidFill>
                    <a:srgbClr val="A0B2C6"/>
                  </a:solidFill>
                  <a:latin typeface="Assistant"/>
                  <a:ea typeface="Assistant"/>
                  <a:cs typeface="Assistant"/>
                  <a:sym typeface="Assistant"/>
                </a:rPr>
              </a:br>
              <a:br>
                <a:rPr b="0" lang="iw" sz="1100">
                  <a:solidFill>
                    <a:srgbClr val="A0B2C6"/>
                  </a:solidFill>
                  <a:latin typeface="Assistant"/>
                  <a:ea typeface="Assistant"/>
                  <a:cs typeface="Assistant"/>
                  <a:sym typeface="Assistant"/>
                </a:rPr>
              </a:br>
              <a:r>
                <a:rPr lang="iw" sz="1100">
                  <a:solidFill>
                    <a:srgbClr val="A0B2C6"/>
                  </a:solidFill>
                  <a:latin typeface="Assistant"/>
                  <a:ea typeface="Assistant"/>
                  <a:cs typeface="Assistant"/>
                  <a:sym typeface="Assistant"/>
                </a:rPr>
                <a:t>Chest Pain cp הוא אחד מגורמי האבחון החשובים ביותר.</a:t>
              </a:r>
              <a:endParaRPr sz="1100">
                <a:solidFill>
                  <a:srgbClr val="A0B2C6"/>
                </a:solidFill>
                <a:latin typeface="Assistant"/>
                <a:ea typeface="Assistant"/>
                <a:cs typeface="Assistant"/>
                <a:sym typeface="Assistant"/>
              </a:endParaRPr>
            </a:p>
            <a:p>
              <a:pPr indent="0" lvl="0" marL="0" rtl="1" algn="r">
                <a:spcBef>
                  <a:spcPts val="0"/>
                </a:spcBef>
                <a:spcAft>
                  <a:spcPts val="0"/>
                </a:spcAft>
                <a:buNone/>
              </a:pPr>
              <a:r>
                <a:rPr lang="iw" sz="1100">
                  <a:solidFill>
                    <a:srgbClr val="A0B2C6"/>
                  </a:solidFill>
                  <a:latin typeface="Assistant"/>
                  <a:ea typeface="Assistant"/>
                  <a:cs typeface="Assistant"/>
                  <a:sym typeface="Assistant"/>
                </a:rPr>
                <a:t>Maximum Heart Rate thalach ו־oldpeak הם מדדים קרדיולוגיים משמעותיים.</a:t>
              </a:r>
              <a:endParaRPr sz="1100">
                <a:solidFill>
                  <a:srgbClr val="A0B2C6"/>
                </a:solidFill>
                <a:latin typeface="Assistant"/>
                <a:ea typeface="Assistant"/>
                <a:cs typeface="Assistant"/>
                <a:sym typeface="Assistant"/>
              </a:endParaRPr>
            </a:p>
            <a:p>
              <a:pPr indent="0" lvl="0" marL="0" rtl="1" algn="r">
                <a:spcBef>
                  <a:spcPts val="0"/>
                </a:spcBef>
                <a:spcAft>
                  <a:spcPts val="0"/>
                </a:spcAft>
                <a:buNone/>
              </a:pPr>
              <a:r>
                <a:rPr lang="iw" sz="1100">
                  <a:solidFill>
                    <a:srgbClr val="A0B2C6"/>
                  </a:solidFill>
                  <a:latin typeface="Assistant"/>
                  <a:ea typeface="Assistant"/>
                  <a:cs typeface="Assistant"/>
                  <a:sym typeface="Assistant"/>
                </a:rPr>
                <a:t>ca ו־thal ידועים גם הם כמשתנים חשובים במאגרי Heart Disease.</a:t>
              </a:r>
              <a:endParaRPr sz="1100">
                <a:solidFill>
                  <a:schemeClr val="lt1"/>
                </a:solidFill>
              </a:endParaRPr>
            </a:p>
            <a:p>
              <a:pPr indent="0" lvl="0" marL="0" rtl="1" algn="r">
                <a:spcBef>
                  <a:spcPts val="0"/>
                </a:spcBef>
                <a:spcAft>
                  <a:spcPts val="0"/>
                </a:spcAft>
                <a:buNone/>
              </a:pPr>
              <a:r>
                <a:t/>
              </a:r>
              <a:endParaRPr sz="1100">
                <a:solidFill>
                  <a:srgbClr val="A0B2C6"/>
                </a:solidFill>
                <a:latin typeface="Assistant"/>
                <a:ea typeface="Assistant"/>
                <a:cs typeface="Assistant"/>
                <a:sym typeface="Assistant"/>
              </a:endParaRPr>
            </a:p>
          </p:txBody>
        </p:sp>
      </p:gr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212C"/>
        </a:solidFill>
      </p:bgPr>
    </p:bg>
    <p:spTree>
      <p:nvGrpSpPr>
        <p:cNvPr id="508" name="Shape 508"/>
        <p:cNvGrpSpPr/>
        <p:nvPr/>
      </p:nvGrpSpPr>
      <p:grpSpPr>
        <a:xfrm>
          <a:off x="0" y="0"/>
          <a:ext cx="0" cy="0"/>
          <a:chOff x="0" y="0"/>
          <a:chExt cx="0" cy="0"/>
        </a:xfrm>
      </p:grpSpPr>
      <p:grpSp>
        <p:nvGrpSpPr>
          <p:cNvPr id="509" name="Google Shape;509;p33"/>
          <p:cNvGrpSpPr/>
          <p:nvPr/>
        </p:nvGrpSpPr>
        <p:grpSpPr>
          <a:xfrm>
            <a:off x="1619250" y="238125"/>
            <a:ext cx="6953400" cy="695250"/>
            <a:chOff x="1619250" y="238125"/>
            <a:chExt cx="6953400" cy="695250"/>
          </a:xfrm>
        </p:grpSpPr>
        <p:sp>
          <p:nvSpPr>
            <p:cNvPr id="510" name="Google Shape;510;p33"/>
            <p:cNvSpPr txBox="1"/>
            <p:nvPr/>
          </p:nvSpPr>
          <p:spPr>
            <a:xfrm>
              <a:off x="4381500" y="238125"/>
              <a:ext cx="4191000" cy="428700"/>
            </a:xfrm>
            <a:prstGeom prst="rect">
              <a:avLst/>
            </a:prstGeom>
            <a:noFill/>
            <a:ln>
              <a:noFill/>
            </a:ln>
          </p:spPr>
          <p:txBody>
            <a:bodyPr anchorCtr="0" anchor="ctr" bIns="0" lIns="0" spcFirstLastPara="1" rIns="0" wrap="square" tIns="0">
              <a:noAutofit/>
            </a:bodyPr>
            <a:lstStyle/>
            <a:p>
              <a:pPr indent="0" lvl="0" marL="0" rtl="1" algn="r">
                <a:spcBef>
                  <a:spcPts val="0"/>
                </a:spcBef>
                <a:spcAft>
                  <a:spcPts val="0"/>
                </a:spcAft>
                <a:buNone/>
              </a:pPr>
              <a:r>
                <a:rPr b="0" lang="iw" sz="2400">
                  <a:solidFill>
                    <a:srgbClr val="FFFFFF"/>
                  </a:solidFill>
                  <a:latin typeface="Assistant ExtraBold"/>
                  <a:ea typeface="Assistant ExtraBold"/>
                  <a:cs typeface="Assistant ExtraBold"/>
                  <a:sym typeface="Assistant ExtraBold"/>
                </a:rPr>
                <a:t>Proposed Extension</a:t>
              </a:r>
              <a:endParaRPr b="0" sz="2400">
                <a:solidFill>
                  <a:srgbClr val="FFFFFF"/>
                </a:solidFill>
                <a:latin typeface="Assistant ExtraBold"/>
                <a:ea typeface="Assistant ExtraBold"/>
                <a:cs typeface="Assistant ExtraBold"/>
                <a:sym typeface="Assistant ExtraBold"/>
              </a:endParaRPr>
            </a:p>
          </p:txBody>
        </p:sp>
        <p:sp>
          <p:nvSpPr>
            <p:cNvPr id="511" name="Google Shape;511;p33"/>
            <p:cNvSpPr txBox="1"/>
            <p:nvPr/>
          </p:nvSpPr>
          <p:spPr>
            <a:xfrm>
              <a:off x="1619250" y="600075"/>
              <a:ext cx="6953400" cy="333300"/>
            </a:xfrm>
            <a:prstGeom prst="rect">
              <a:avLst/>
            </a:prstGeom>
            <a:noFill/>
            <a:ln>
              <a:noFill/>
            </a:ln>
          </p:spPr>
          <p:txBody>
            <a:bodyPr anchorCtr="0" anchor="ctr" bIns="0" lIns="0" spcFirstLastPara="1" rIns="0" wrap="square" tIns="0">
              <a:noAutofit/>
            </a:bodyPr>
            <a:lstStyle/>
            <a:p>
              <a:pPr indent="0" lvl="0" marL="0" rtl="1" algn="r">
                <a:spcBef>
                  <a:spcPts val="0"/>
                </a:spcBef>
                <a:spcAft>
                  <a:spcPts val="0"/>
                </a:spcAft>
                <a:buNone/>
              </a:pPr>
              <a:r>
                <a:rPr b="0" lang="iw" sz="1000">
                  <a:solidFill>
                    <a:srgbClr val="7A8D9E"/>
                  </a:solidFill>
                  <a:latin typeface="Assistant"/>
                  <a:ea typeface="Assistant"/>
                  <a:cs typeface="Assistant"/>
                  <a:sym typeface="Assistant"/>
                </a:rPr>
                <a:t>הרחבה שבוצעה פה המרצה יאהב: שיפור המודל והערכת ביצועים מתקדמת מעבר לשחזור המאמר הבסיסי.</a:t>
              </a:r>
              <a:endParaRPr b="0" sz="1000">
                <a:solidFill>
                  <a:srgbClr val="7A8D9E"/>
                </a:solidFill>
                <a:latin typeface="Assistant"/>
                <a:ea typeface="Assistant"/>
                <a:cs typeface="Assistant"/>
                <a:sym typeface="Assistant"/>
              </a:endParaRPr>
            </a:p>
          </p:txBody>
        </p:sp>
      </p:grpSp>
      <p:grpSp>
        <p:nvGrpSpPr>
          <p:cNvPr id="512" name="Google Shape;512;p33"/>
          <p:cNvGrpSpPr/>
          <p:nvPr/>
        </p:nvGrpSpPr>
        <p:grpSpPr>
          <a:xfrm>
            <a:off x="4805363" y="900113"/>
            <a:ext cx="3771900" cy="3248100"/>
            <a:chOff x="4805363" y="900113"/>
            <a:chExt cx="3771900" cy="3248100"/>
          </a:xfrm>
        </p:grpSpPr>
        <p:pic>
          <p:nvPicPr>
            <p:cNvPr id="513" name="Google Shape;513;p33"/>
            <p:cNvPicPr preferRelativeResize="0"/>
            <p:nvPr/>
          </p:nvPicPr>
          <p:blipFill rotWithShape="1">
            <a:blip r:embed="rId3">
              <a:alphaModFix/>
            </a:blip>
            <a:srcRect b="0" l="0" r="0" t="0"/>
            <a:stretch/>
          </p:blipFill>
          <p:spPr>
            <a:xfrm>
              <a:off x="4805363" y="900113"/>
              <a:ext cx="3771900" cy="3248100"/>
            </a:xfrm>
            <a:prstGeom prst="rect">
              <a:avLst/>
            </a:prstGeom>
            <a:noFill/>
            <a:ln>
              <a:noFill/>
            </a:ln>
          </p:spPr>
        </p:pic>
        <p:sp>
          <p:nvSpPr>
            <p:cNvPr id="514" name="Google Shape;514;p33"/>
            <p:cNvSpPr/>
            <p:nvPr/>
          </p:nvSpPr>
          <p:spPr>
            <a:xfrm>
              <a:off x="4810125" y="904875"/>
              <a:ext cx="3762300" cy="38100"/>
            </a:xfrm>
            <a:prstGeom prst="rect">
              <a:avLst/>
            </a:prstGeom>
            <a:solidFill>
              <a:srgbClr val="00E5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15" name="Google Shape;515;p33"/>
            <p:cNvSpPr txBox="1"/>
            <p:nvPr/>
          </p:nvSpPr>
          <p:spPr>
            <a:xfrm>
              <a:off x="5000625" y="1047750"/>
              <a:ext cx="3381300" cy="2952900"/>
            </a:xfrm>
            <a:prstGeom prst="rect">
              <a:avLst/>
            </a:prstGeom>
            <a:noFill/>
            <a:ln>
              <a:noFill/>
            </a:ln>
          </p:spPr>
          <p:txBody>
            <a:bodyPr anchorCtr="0" anchor="t" bIns="0" lIns="0" spcFirstLastPara="1" rIns="0" wrap="square" tIns="0">
              <a:noAutofit/>
            </a:bodyPr>
            <a:lstStyle/>
            <a:p>
              <a:pPr indent="0" lvl="0" marL="0" rtl="1" algn="r">
                <a:spcBef>
                  <a:spcPts val="0"/>
                </a:spcBef>
                <a:spcAft>
                  <a:spcPts val="0"/>
                </a:spcAft>
                <a:buNone/>
              </a:pPr>
              <a:r>
                <a:rPr b="1" lang="iw" sz="850">
                  <a:solidFill>
                    <a:srgbClr val="00E5FF"/>
                  </a:solidFill>
                  <a:latin typeface="Courier New"/>
                  <a:ea typeface="Courier New"/>
                  <a:cs typeface="Courier New"/>
                  <a:sym typeface="Courier New"/>
                </a:rPr>
                <a:t>METHODOLOGY // GRID_SEARCH_CV</a:t>
              </a:r>
              <a:endParaRPr b="1" sz="850">
                <a:solidFill>
                  <a:srgbClr val="00E5FF"/>
                </a:solidFill>
                <a:latin typeface="Courier New"/>
                <a:ea typeface="Courier New"/>
                <a:cs typeface="Courier New"/>
                <a:sym typeface="Courier New"/>
              </a:endParaRPr>
            </a:p>
            <a:p>
              <a:pPr indent="0" lvl="0" marL="0" rtl="1" algn="r">
                <a:spcBef>
                  <a:spcPts val="300"/>
                </a:spcBef>
                <a:spcAft>
                  <a:spcPts val="0"/>
                </a:spcAft>
                <a:buNone/>
              </a:pPr>
              <a:r>
                <a:rPr b="1" lang="iw" sz="1400">
                  <a:solidFill>
                    <a:srgbClr val="FFFFFF"/>
                  </a:solidFill>
                  <a:latin typeface="Assistant"/>
                  <a:ea typeface="Assistant"/>
                  <a:cs typeface="Assistant"/>
                  <a:sym typeface="Assistant"/>
                </a:rPr>
                <a:t>שיפור המודל באמצעות GridSearchCV</a:t>
              </a:r>
              <a:endParaRPr b="1" sz="1400">
                <a:solidFill>
                  <a:srgbClr val="FFFFFF"/>
                </a:solidFill>
                <a:latin typeface="Assistant"/>
                <a:ea typeface="Assistant"/>
                <a:cs typeface="Assistant"/>
                <a:sym typeface="Assistant"/>
              </a:endParaRPr>
            </a:p>
            <a:p>
              <a:pPr indent="0" lvl="0" marL="0" rtl="1" algn="r">
                <a:spcBef>
                  <a:spcPts val="900"/>
                </a:spcBef>
                <a:spcAft>
                  <a:spcPts val="0"/>
                </a:spcAft>
                <a:buNone/>
              </a:pPr>
              <a:r>
                <a:rPr b="0" lang="iw" sz="950">
                  <a:solidFill>
                    <a:srgbClr val="A0B2C6"/>
                  </a:solidFill>
                  <a:latin typeface="Assistant"/>
                  <a:ea typeface="Assistant"/>
                  <a:cs typeface="Assistant"/>
                  <a:sym typeface="Assistant"/>
                </a:rPr>
                <a:t>חיפוש שיטתי ומקיף של סט הפרמטרים האופטימלי לכל אחד מהמודלים שנבחנו, במטרה למקסם את מדדי הדיוק.</a:t>
              </a:r>
              <a:endParaRPr b="0" sz="950">
                <a:solidFill>
                  <a:srgbClr val="A0B2C6"/>
                </a:solidFill>
                <a:latin typeface="Assistant"/>
                <a:ea typeface="Assistant"/>
                <a:cs typeface="Assistant"/>
                <a:sym typeface="Assistant"/>
              </a:endParaRPr>
            </a:p>
            <a:p>
              <a:pPr indent="0" lvl="0" marL="0" rtl="1" algn="r">
                <a:spcBef>
                  <a:spcPts val="900"/>
                </a:spcBef>
                <a:spcAft>
                  <a:spcPts val="0"/>
                </a:spcAft>
                <a:buNone/>
              </a:pPr>
              <a:r>
                <a:rPr b="1" lang="iw" sz="1000">
                  <a:solidFill>
                    <a:schemeClr val="lt1"/>
                  </a:solidFill>
                  <a:latin typeface="Assistant"/>
                  <a:ea typeface="Assistant"/>
                  <a:cs typeface="Assistant"/>
                  <a:sym typeface="Assistant"/>
                </a:rPr>
                <a:t>רכיבי התהליך:</a:t>
              </a:r>
              <a:br>
                <a:rPr b="1" lang="iw" sz="1000">
                  <a:solidFill>
                    <a:schemeClr val="lt1"/>
                  </a:solidFill>
                  <a:latin typeface="Assistant"/>
                  <a:ea typeface="Assistant"/>
                  <a:cs typeface="Assistant"/>
                  <a:sym typeface="Assistant"/>
                </a:rPr>
              </a:br>
              <a:endParaRPr b="1" sz="1000">
                <a:solidFill>
                  <a:schemeClr val="lt1"/>
                </a:solidFill>
                <a:latin typeface="Assistant"/>
                <a:ea typeface="Assistant"/>
                <a:cs typeface="Assistant"/>
                <a:sym typeface="Assistant"/>
              </a:endParaRPr>
            </a:p>
            <a:p>
              <a:pPr indent="0" lvl="0" marL="0" rtl="1" algn="r">
                <a:spcBef>
                  <a:spcPts val="300"/>
                </a:spcBef>
                <a:spcAft>
                  <a:spcPts val="0"/>
                </a:spcAft>
                <a:buNone/>
              </a:pPr>
              <a:r>
                <a:rPr b="0" lang="iw" sz="950">
                  <a:solidFill>
                    <a:srgbClr val="A0B2C6"/>
                  </a:solidFill>
                  <a:latin typeface="Assistant"/>
                  <a:ea typeface="Assistant"/>
                  <a:cs typeface="Assistant"/>
                  <a:sym typeface="Assistant"/>
                </a:rPr>
                <a:t>• </a:t>
              </a:r>
              <a:r>
                <a:rPr b="1" lang="iw" sz="950">
                  <a:solidFill>
                    <a:srgbClr val="FFFFFF"/>
                  </a:solidFill>
                  <a:latin typeface="Assistant"/>
                  <a:ea typeface="Assistant"/>
                  <a:cs typeface="Assistant"/>
                  <a:sym typeface="Assistant"/>
                </a:rPr>
                <a:t>כוונון היפר-פרמטרים:</a:t>
              </a:r>
              <a:r>
                <a:rPr b="0" lang="iw" sz="950">
                  <a:solidFill>
                    <a:srgbClr val="A0B2C6"/>
                  </a:solidFill>
                  <a:latin typeface="Assistant"/>
                  <a:ea typeface="Assistant"/>
                  <a:cs typeface="Assistant"/>
                  <a:sym typeface="Assistant"/>
                </a:rPr>
                <a:t> הגדרת מרחב חיפוש רחב לכל מודל (כגון ערכי K ב-KNN ומשקולות ברגרסיה).</a:t>
              </a:r>
              <a:br>
                <a:rPr b="0" lang="iw" sz="950">
                  <a:solidFill>
                    <a:srgbClr val="A0B2C6"/>
                  </a:solidFill>
                  <a:latin typeface="Assistant"/>
                  <a:ea typeface="Assistant"/>
                  <a:cs typeface="Assistant"/>
                  <a:sym typeface="Assistant"/>
                </a:rPr>
              </a:br>
              <a:endParaRPr b="0" sz="950">
                <a:solidFill>
                  <a:srgbClr val="A0B2C6"/>
                </a:solidFill>
                <a:latin typeface="Assistant"/>
                <a:ea typeface="Assistant"/>
                <a:cs typeface="Assistant"/>
                <a:sym typeface="Assistant"/>
              </a:endParaRPr>
            </a:p>
            <a:p>
              <a:pPr indent="0" lvl="0" marL="0" rtl="1" algn="r">
                <a:spcBef>
                  <a:spcPts val="300"/>
                </a:spcBef>
                <a:spcAft>
                  <a:spcPts val="750"/>
                </a:spcAft>
                <a:buNone/>
              </a:pPr>
              <a:r>
                <a:rPr b="0" lang="iw" sz="950">
                  <a:solidFill>
                    <a:srgbClr val="A0B2C6"/>
                  </a:solidFill>
                  <a:latin typeface="Assistant"/>
                  <a:ea typeface="Assistant"/>
                  <a:cs typeface="Assistant"/>
                  <a:sym typeface="Assistant"/>
                </a:rPr>
                <a:t>• </a:t>
              </a:r>
              <a:r>
                <a:rPr b="1" lang="iw" sz="950">
                  <a:solidFill>
                    <a:srgbClr val="FFFFFF"/>
                  </a:solidFill>
                  <a:latin typeface="Assistant"/>
                  <a:ea typeface="Assistant"/>
                  <a:cs typeface="Assistant"/>
                  <a:sym typeface="Assistant"/>
                </a:rPr>
                <a:t>בחירה אוטומטית:</a:t>
              </a:r>
              <a:r>
                <a:rPr b="0" lang="iw" sz="950">
                  <a:solidFill>
                    <a:srgbClr val="A0B2C6"/>
                  </a:solidFill>
                  <a:latin typeface="Assistant"/>
                  <a:ea typeface="Assistant"/>
                  <a:cs typeface="Assistant"/>
                  <a:sym typeface="Assistant"/>
                </a:rPr>
                <a:t> מציאת הקומבינציה שמניבה את התוצאות הטובות ביותר עבור מדד ההערכה שנבחר.</a:t>
              </a:r>
              <a:endParaRPr b="0" sz="950">
                <a:solidFill>
                  <a:srgbClr val="A0B2C6"/>
                </a:solidFill>
                <a:latin typeface="Assistant"/>
                <a:ea typeface="Assistant"/>
                <a:cs typeface="Assistant"/>
                <a:sym typeface="Assistant"/>
              </a:endParaRPr>
            </a:p>
          </p:txBody>
        </p:sp>
      </p:grpSp>
      <p:grpSp>
        <p:nvGrpSpPr>
          <p:cNvPr id="516" name="Google Shape;516;p33"/>
          <p:cNvGrpSpPr/>
          <p:nvPr/>
        </p:nvGrpSpPr>
        <p:grpSpPr>
          <a:xfrm>
            <a:off x="566738" y="900113"/>
            <a:ext cx="3771900" cy="3248100"/>
            <a:chOff x="566738" y="900113"/>
            <a:chExt cx="3771900" cy="3248100"/>
          </a:xfrm>
        </p:grpSpPr>
        <p:pic>
          <p:nvPicPr>
            <p:cNvPr id="517" name="Google Shape;517;p33"/>
            <p:cNvPicPr preferRelativeResize="0"/>
            <p:nvPr/>
          </p:nvPicPr>
          <p:blipFill rotWithShape="1">
            <a:blip r:embed="rId3">
              <a:alphaModFix/>
            </a:blip>
            <a:srcRect b="0" l="0" r="0" t="0"/>
            <a:stretch/>
          </p:blipFill>
          <p:spPr>
            <a:xfrm>
              <a:off x="566738" y="900113"/>
              <a:ext cx="3771900" cy="3248100"/>
            </a:xfrm>
            <a:prstGeom prst="rect">
              <a:avLst/>
            </a:prstGeom>
            <a:noFill/>
            <a:ln>
              <a:noFill/>
            </a:ln>
          </p:spPr>
        </p:pic>
        <p:sp>
          <p:nvSpPr>
            <p:cNvPr id="518" name="Google Shape;518;p33"/>
            <p:cNvSpPr/>
            <p:nvPr/>
          </p:nvSpPr>
          <p:spPr>
            <a:xfrm>
              <a:off x="571500" y="904875"/>
              <a:ext cx="3762300" cy="38100"/>
            </a:xfrm>
            <a:prstGeom prst="rect">
              <a:avLst/>
            </a:prstGeom>
            <a:solidFill>
              <a:srgbClr val="10B98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19" name="Google Shape;519;p33"/>
            <p:cNvSpPr txBox="1"/>
            <p:nvPr/>
          </p:nvSpPr>
          <p:spPr>
            <a:xfrm>
              <a:off x="762000" y="1047750"/>
              <a:ext cx="3381300" cy="2952900"/>
            </a:xfrm>
            <a:prstGeom prst="rect">
              <a:avLst/>
            </a:prstGeom>
            <a:noFill/>
            <a:ln>
              <a:noFill/>
            </a:ln>
          </p:spPr>
          <p:txBody>
            <a:bodyPr anchorCtr="0" anchor="t" bIns="0" lIns="0" spcFirstLastPara="1" rIns="0" wrap="square" tIns="0">
              <a:noAutofit/>
            </a:bodyPr>
            <a:lstStyle/>
            <a:p>
              <a:pPr indent="0" lvl="0" marL="0" rtl="1" algn="r">
                <a:spcBef>
                  <a:spcPts val="0"/>
                </a:spcBef>
                <a:spcAft>
                  <a:spcPts val="0"/>
                </a:spcAft>
                <a:buNone/>
              </a:pPr>
              <a:r>
                <a:rPr b="1" lang="iw" sz="850">
                  <a:solidFill>
                    <a:srgbClr val="10B981"/>
                  </a:solidFill>
                  <a:latin typeface="Courier New"/>
                  <a:ea typeface="Courier New"/>
                  <a:cs typeface="Courier New"/>
                  <a:sym typeface="Courier New"/>
                </a:rPr>
                <a:t>EVALUATION // CROSS_VALIDATION</a:t>
              </a:r>
              <a:endParaRPr b="1" sz="850">
                <a:solidFill>
                  <a:srgbClr val="10B981"/>
                </a:solidFill>
                <a:latin typeface="Courier New"/>
                <a:ea typeface="Courier New"/>
                <a:cs typeface="Courier New"/>
                <a:sym typeface="Courier New"/>
              </a:endParaRPr>
            </a:p>
            <a:p>
              <a:pPr indent="0" lvl="0" marL="0" rtl="1" algn="r">
                <a:spcBef>
                  <a:spcPts val="300"/>
                </a:spcBef>
                <a:spcAft>
                  <a:spcPts val="0"/>
                </a:spcAft>
                <a:buNone/>
              </a:pPr>
              <a:r>
                <a:rPr b="1" lang="iw" sz="1400">
                  <a:solidFill>
                    <a:srgbClr val="FFFFFF"/>
                  </a:solidFill>
                  <a:latin typeface="Assistant"/>
                  <a:ea typeface="Assistant"/>
                  <a:cs typeface="Assistant"/>
                  <a:sym typeface="Assistant"/>
                </a:rPr>
                <a:t>הערכה יציבה בעזרת Cross Validation</a:t>
              </a:r>
              <a:endParaRPr b="1" sz="1400">
                <a:solidFill>
                  <a:srgbClr val="FFFFFF"/>
                </a:solidFill>
                <a:latin typeface="Assistant"/>
                <a:ea typeface="Assistant"/>
                <a:cs typeface="Assistant"/>
                <a:sym typeface="Assistant"/>
              </a:endParaRPr>
            </a:p>
            <a:p>
              <a:pPr indent="0" lvl="0" marL="0" rtl="1" algn="r">
                <a:spcBef>
                  <a:spcPts val="900"/>
                </a:spcBef>
                <a:spcAft>
                  <a:spcPts val="0"/>
                </a:spcAft>
                <a:buNone/>
              </a:pPr>
              <a:r>
                <a:rPr b="0" lang="iw" sz="950">
                  <a:solidFill>
                    <a:srgbClr val="A0B2C6"/>
                  </a:solidFill>
                  <a:latin typeface="Assistant"/>
                  <a:ea typeface="Assistant"/>
                  <a:cs typeface="Assistant"/>
                  <a:sym typeface="Assistant"/>
                </a:rPr>
                <a:t>שימוש בתיקוף צולב (K-Fold CV) להבטחת עקביות ומניעת Overfitting של המודלים על נתוני האימון.</a:t>
              </a:r>
              <a:endParaRPr b="0" sz="950">
                <a:solidFill>
                  <a:srgbClr val="A0B2C6"/>
                </a:solidFill>
                <a:latin typeface="Assistant"/>
                <a:ea typeface="Assistant"/>
                <a:cs typeface="Assistant"/>
                <a:sym typeface="Assistant"/>
              </a:endParaRPr>
            </a:p>
            <a:p>
              <a:pPr indent="0" lvl="0" marL="0" rtl="1" algn="r">
                <a:spcBef>
                  <a:spcPts val="900"/>
                </a:spcBef>
                <a:spcAft>
                  <a:spcPts val="0"/>
                </a:spcAft>
                <a:buNone/>
              </a:pPr>
              <a:r>
                <a:rPr b="0" lang="iw" sz="900">
                  <a:solidFill>
                    <a:srgbClr val="A0B2C6"/>
                  </a:solidFill>
                  <a:latin typeface="Assistant"/>
                  <a:ea typeface="Assistant"/>
                  <a:cs typeface="Assistant"/>
                  <a:sym typeface="Assistant"/>
                </a:rPr>
                <a:t>יתרונות מרכזיים:</a:t>
              </a:r>
              <a:br>
                <a:rPr b="0" lang="iw" sz="900">
                  <a:solidFill>
                    <a:srgbClr val="A0B2C6"/>
                  </a:solidFill>
                  <a:latin typeface="Assistant"/>
                  <a:ea typeface="Assistant"/>
                  <a:cs typeface="Assistant"/>
                  <a:sym typeface="Assistant"/>
                </a:rPr>
              </a:br>
              <a:endParaRPr b="0" sz="900">
                <a:solidFill>
                  <a:srgbClr val="A0B2C6"/>
                </a:solidFill>
                <a:latin typeface="Assistant"/>
                <a:ea typeface="Assistant"/>
                <a:cs typeface="Assistant"/>
                <a:sym typeface="Assistant"/>
              </a:endParaRPr>
            </a:p>
            <a:p>
              <a:pPr indent="0" lvl="0" marL="0" rtl="1" algn="r">
                <a:spcBef>
                  <a:spcPts val="300"/>
                </a:spcBef>
                <a:spcAft>
                  <a:spcPts val="0"/>
                </a:spcAft>
                <a:buNone/>
              </a:pPr>
              <a:r>
                <a:rPr b="0" lang="iw" sz="950">
                  <a:solidFill>
                    <a:srgbClr val="A0B2C6"/>
                  </a:solidFill>
                  <a:latin typeface="Assistant"/>
                  <a:ea typeface="Assistant"/>
                  <a:cs typeface="Assistant"/>
                  <a:sym typeface="Assistant"/>
                </a:rPr>
                <a:t>• </a:t>
              </a:r>
              <a:r>
                <a:rPr b="1" lang="iw" sz="950">
                  <a:solidFill>
                    <a:srgbClr val="FFFFFF"/>
                  </a:solidFill>
                  <a:latin typeface="Assistant"/>
                  <a:ea typeface="Assistant"/>
                  <a:cs typeface="Assistant"/>
                  <a:sym typeface="Assistant"/>
                </a:rPr>
                <a:t>מניעת הטיות:</a:t>
              </a:r>
              <a:r>
                <a:rPr b="0" lang="iw" sz="950">
                  <a:solidFill>
                    <a:srgbClr val="A0B2C6"/>
                  </a:solidFill>
                  <a:latin typeface="Assistant"/>
                  <a:ea typeface="Assistant"/>
                  <a:cs typeface="Assistant"/>
                  <a:sym typeface="Assistant"/>
                </a:rPr>
                <a:t> חלוקת הנתונים למספר תתי-קבוצות מבטיחה שהמודל נבחן על כל חלקי המידע.</a:t>
              </a:r>
              <a:endParaRPr b="0" sz="950">
                <a:solidFill>
                  <a:srgbClr val="A0B2C6"/>
                </a:solidFill>
                <a:latin typeface="Assistant"/>
                <a:ea typeface="Assistant"/>
                <a:cs typeface="Assistant"/>
                <a:sym typeface="Assistant"/>
              </a:endParaRPr>
            </a:p>
            <a:p>
              <a:pPr indent="0" lvl="0" marL="0" rtl="1" algn="r">
                <a:spcBef>
                  <a:spcPts val="300"/>
                </a:spcBef>
                <a:spcAft>
                  <a:spcPts val="750"/>
                </a:spcAft>
                <a:buNone/>
              </a:pPr>
              <a:r>
                <a:rPr b="0" lang="iw" sz="950">
                  <a:solidFill>
                    <a:srgbClr val="A0B2C6"/>
                  </a:solidFill>
                  <a:latin typeface="Assistant"/>
                  <a:ea typeface="Assistant"/>
                  <a:cs typeface="Assistant"/>
                  <a:sym typeface="Assistant"/>
                </a:rPr>
                <a:t>• </a:t>
              </a:r>
              <a:r>
                <a:rPr b="1" lang="iw" sz="950">
                  <a:solidFill>
                    <a:srgbClr val="FFFFFF"/>
                  </a:solidFill>
                  <a:latin typeface="Assistant"/>
                  <a:ea typeface="Assistant"/>
                  <a:cs typeface="Assistant"/>
                  <a:sym typeface="Assistant"/>
                </a:rPr>
                <a:t>מדד אמינות גבוה:</a:t>
              </a:r>
              <a:r>
                <a:rPr b="0" lang="iw" sz="950">
                  <a:solidFill>
                    <a:srgbClr val="A0B2C6"/>
                  </a:solidFill>
                  <a:latin typeface="Assistant"/>
                  <a:ea typeface="Assistant"/>
                  <a:cs typeface="Assistant"/>
                  <a:sym typeface="Assistant"/>
                </a:rPr>
                <a:t> הפקת ממוצע ביצועים סטטיסטי המייצג נאמנה את יכולת ההכללה על נתונים חדשים.</a:t>
              </a:r>
              <a:endParaRPr b="0" sz="950">
                <a:solidFill>
                  <a:srgbClr val="A0B2C6"/>
                </a:solidFill>
                <a:latin typeface="Assistant"/>
                <a:ea typeface="Assistant"/>
                <a:cs typeface="Assistant"/>
                <a:sym typeface="Assistant"/>
              </a:endParaRPr>
            </a:p>
          </p:txBody>
        </p:sp>
      </p:grpSp>
      <p:grpSp>
        <p:nvGrpSpPr>
          <p:cNvPr id="520" name="Google Shape;520;p33"/>
          <p:cNvGrpSpPr/>
          <p:nvPr/>
        </p:nvGrpSpPr>
        <p:grpSpPr>
          <a:xfrm>
            <a:off x="566738" y="4329113"/>
            <a:ext cx="8010600" cy="371400"/>
            <a:chOff x="566738" y="4329113"/>
            <a:chExt cx="8010600" cy="371400"/>
          </a:xfrm>
        </p:grpSpPr>
        <p:pic>
          <p:nvPicPr>
            <p:cNvPr id="521" name="Google Shape;521;p33"/>
            <p:cNvPicPr preferRelativeResize="0"/>
            <p:nvPr/>
          </p:nvPicPr>
          <p:blipFill rotWithShape="1">
            <a:blip r:embed="rId4">
              <a:alphaModFix/>
            </a:blip>
            <a:srcRect b="0" l="0" r="0" t="0"/>
            <a:stretch/>
          </p:blipFill>
          <p:spPr>
            <a:xfrm>
              <a:off x="566738" y="4329113"/>
              <a:ext cx="8010600" cy="371400"/>
            </a:xfrm>
            <a:prstGeom prst="rect">
              <a:avLst/>
            </a:prstGeom>
            <a:noFill/>
            <a:ln>
              <a:noFill/>
            </a:ln>
          </p:spPr>
        </p:pic>
        <p:sp>
          <p:nvSpPr>
            <p:cNvPr id="522" name="Google Shape;522;p33"/>
            <p:cNvSpPr/>
            <p:nvPr/>
          </p:nvSpPr>
          <p:spPr>
            <a:xfrm>
              <a:off x="7772400" y="4476750"/>
              <a:ext cx="76200" cy="76200"/>
            </a:xfrm>
            <a:prstGeom prst="ellipse">
              <a:avLst/>
            </a:prstGeom>
            <a:solidFill>
              <a:srgbClr val="10B98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23" name="Google Shape;523;p33"/>
            <p:cNvSpPr txBox="1"/>
            <p:nvPr/>
          </p:nvSpPr>
          <p:spPr>
            <a:xfrm>
              <a:off x="714375" y="4333875"/>
              <a:ext cx="6905700" cy="362100"/>
            </a:xfrm>
            <a:prstGeom prst="rect">
              <a:avLst/>
            </a:prstGeom>
            <a:noFill/>
            <a:ln>
              <a:noFill/>
            </a:ln>
          </p:spPr>
          <p:txBody>
            <a:bodyPr anchorCtr="0" anchor="ctr" bIns="0" lIns="0" spcFirstLastPara="1" rIns="0" wrap="square" tIns="0">
              <a:noAutofit/>
            </a:bodyPr>
            <a:lstStyle/>
            <a:p>
              <a:pPr indent="0" lvl="0" marL="0" rtl="1" algn="r">
                <a:spcBef>
                  <a:spcPts val="0"/>
                </a:spcBef>
                <a:spcAft>
                  <a:spcPts val="0"/>
                </a:spcAft>
                <a:buNone/>
              </a:pPr>
              <a:r>
                <a:rPr b="1" lang="iw" sz="900">
                  <a:solidFill>
                    <a:srgbClr val="10B981"/>
                  </a:solidFill>
                  <a:latin typeface="Courier New"/>
                  <a:ea typeface="Courier New"/>
                  <a:cs typeface="Courier New"/>
                  <a:sym typeface="Courier New"/>
                </a:rPr>
                <a:t>השוואת ביצועים: </a:t>
              </a:r>
              <a:r>
                <a:rPr b="0" lang="iw" sz="900">
                  <a:solidFill>
                    <a:srgbClr val="7A8D9E"/>
                  </a:solidFill>
                  <a:latin typeface="Assistant"/>
                  <a:ea typeface="Assistant"/>
                  <a:cs typeface="Assistant"/>
                  <a:sym typeface="Assistant"/>
                </a:rPr>
                <a:t>בנוסף לשחזור המאמר בוצעו תהליכי אופטימיזציה מלאים והשוואה מדויקת של ביצועי המודלים לפני ואחרי הכיוונון.</a:t>
              </a:r>
              <a:endParaRPr b="1" sz="900">
                <a:solidFill>
                  <a:srgbClr val="10B981"/>
                </a:solidFill>
                <a:latin typeface="Courier New"/>
                <a:ea typeface="Courier New"/>
                <a:cs typeface="Courier New"/>
                <a:sym typeface="Courier New"/>
              </a:endParaRPr>
            </a:p>
          </p:txBody>
        </p:sp>
      </p:gr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7" name="Shape 527"/>
        <p:cNvGrpSpPr/>
        <p:nvPr/>
      </p:nvGrpSpPr>
      <p:grpSpPr>
        <a:xfrm>
          <a:off x="0" y="0"/>
          <a:ext cx="0" cy="0"/>
          <a:chOff x="0" y="0"/>
          <a:chExt cx="0" cy="0"/>
        </a:xfrm>
      </p:grpSpPr>
      <p:sp>
        <p:nvSpPr>
          <p:cNvPr id="528" name="Google Shape;528;p34"/>
          <p:cNvSpPr txBox="1"/>
          <p:nvPr/>
        </p:nvSpPr>
        <p:spPr>
          <a:xfrm>
            <a:off x="1763500" y="713050"/>
            <a:ext cx="7173900" cy="3944400"/>
          </a:xfrm>
          <a:prstGeom prst="rect">
            <a:avLst/>
          </a:prstGeom>
          <a:noFill/>
          <a:ln>
            <a:noFill/>
          </a:ln>
        </p:spPr>
        <p:txBody>
          <a:bodyPr anchorCtr="0" anchor="t" bIns="91425" lIns="91425" spcFirstLastPara="1" rIns="91425" wrap="square" tIns="91425">
            <a:spAutoFit/>
          </a:bodyPr>
          <a:lstStyle/>
          <a:p>
            <a:pPr indent="0" lvl="0" marL="0" rtl="1" algn="r">
              <a:lnSpc>
                <a:spcPct val="115000"/>
              </a:lnSpc>
              <a:spcBef>
                <a:spcPts val="1200"/>
              </a:spcBef>
              <a:spcAft>
                <a:spcPts val="0"/>
              </a:spcAft>
              <a:buNone/>
            </a:pPr>
            <a:r>
              <a:rPr lang="iw" sz="900">
                <a:solidFill>
                  <a:schemeClr val="lt1"/>
                </a:solidFill>
                <a:latin typeface="Assistant"/>
                <a:ea typeface="Assistant"/>
                <a:cs typeface="Assistant"/>
                <a:sym typeface="Assistant"/>
              </a:rPr>
              <a:t>במאמר הוצגו ביצועי המודלים, אך תהליך כיוונון ההיפר־פרמטרים לא תואר באופן מלא. לכן הוספנו GridSearchCV כהרחבה לפרויקט, במטרה לבחור באופן שיטתי את הפרמטרים האופטימליים עבור מודל Random Forest. </a:t>
            </a:r>
            <a:br>
              <a:rPr lang="iw" sz="900">
                <a:solidFill>
                  <a:schemeClr val="lt1"/>
                </a:solidFill>
                <a:latin typeface="Assistant"/>
                <a:ea typeface="Assistant"/>
                <a:cs typeface="Assistant"/>
                <a:sym typeface="Assistant"/>
              </a:rPr>
            </a:br>
            <a:r>
              <a:rPr lang="iw" sz="900">
                <a:solidFill>
                  <a:schemeClr val="lt1"/>
                </a:solidFill>
                <a:latin typeface="Assistant"/>
                <a:ea typeface="Assistant"/>
                <a:cs typeface="Assistant"/>
                <a:sym typeface="Assistant"/>
              </a:rPr>
              <a:t>לכן הוספנו GridSearchCV כהרחבה משלימה, במטרה לבדוק האם ניתן לשפר את ביצועי Random Forest ולוודא שהפרמטרים שנבחרו אינם אקראיים.</a:t>
            </a:r>
            <a:endParaRPr sz="900">
              <a:solidFill>
                <a:schemeClr val="lt1"/>
              </a:solidFill>
              <a:latin typeface="Assistant"/>
              <a:ea typeface="Assistant"/>
              <a:cs typeface="Assistant"/>
              <a:sym typeface="Assistant"/>
            </a:endParaRPr>
          </a:p>
          <a:p>
            <a:pPr indent="0" lvl="0" marL="0" rtl="1" algn="r">
              <a:lnSpc>
                <a:spcPct val="115000"/>
              </a:lnSpc>
              <a:spcBef>
                <a:spcPts val="1200"/>
              </a:spcBef>
              <a:spcAft>
                <a:spcPts val="0"/>
              </a:spcAft>
              <a:buNone/>
            </a:pPr>
            <a:r>
              <a:rPr lang="iw" sz="900">
                <a:solidFill>
                  <a:schemeClr val="lt1"/>
                </a:solidFill>
                <a:latin typeface="Assistant"/>
                <a:ea typeface="Assistant"/>
                <a:cs typeface="Assistant"/>
                <a:sym typeface="Assistant"/>
              </a:rPr>
              <a:t>GridSearchCV בוחן מספר שילובים אפשריים של היפר־פרמטרים, כגון:</a:t>
            </a:r>
            <a:endParaRPr sz="900">
              <a:solidFill>
                <a:schemeClr val="lt1"/>
              </a:solidFill>
              <a:latin typeface="Assistant"/>
              <a:ea typeface="Assistant"/>
              <a:cs typeface="Assistant"/>
              <a:sym typeface="Assistant"/>
            </a:endParaRPr>
          </a:p>
          <a:p>
            <a:pPr indent="-285750" lvl="0" marL="457200" rtl="1" algn="r">
              <a:lnSpc>
                <a:spcPct val="115000"/>
              </a:lnSpc>
              <a:spcBef>
                <a:spcPts val="1200"/>
              </a:spcBef>
              <a:spcAft>
                <a:spcPts val="0"/>
              </a:spcAft>
              <a:buClr>
                <a:schemeClr val="lt1"/>
              </a:buClr>
              <a:buSzPts val="900"/>
              <a:buFont typeface="Assistant"/>
              <a:buChar char="●"/>
            </a:pPr>
            <a:r>
              <a:rPr lang="iw" sz="900">
                <a:solidFill>
                  <a:schemeClr val="lt1"/>
                </a:solidFill>
                <a:latin typeface="Assistant"/>
                <a:ea typeface="Assistant"/>
                <a:cs typeface="Assistant"/>
                <a:sym typeface="Assistant"/>
              </a:rPr>
              <a:t>מספר העצים ביער</a:t>
            </a:r>
            <a:endParaRPr sz="900">
              <a:solidFill>
                <a:schemeClr val="lt1"/>
              </a:solidFill>
              <a:latin typeface="Assistant"/>
              <a:ea typeface="Assistant"/>
              <a:cs typeface="Assistant"/>
              <a:sym typeface="Assistant"/>
            </a:endParaRPr>
          </a:p>
          <a:p>
            <a:pPr indent="-285750" lvl="0" marL="457200" rtl="1" algn="r">
              <a:lnSpc>
                <a:spcPct val="115000"/>
              </a:lnSpc>
              <a:spcBef>
                <a:spcPts val="0"/>
              </a:spcBef>
              <a:spcAft>
                <a:spcPts val="0"/>
              </a:spcAft>
              <a:buClr>
                <a:schemeClr val="lt1"/>
              </a:buClr>
              <a:buSzPts val="900"/>
              <a:buFont typeface="Assistant"/>
              <a:buChar char="●"/>
            </a:pPr>
            <a:r>
              <a:rPr lang="iw" sz="900">
                <a:solidFill>
                  <a:schemeClr val="lt1"/>
                </a:solidFill>
                <a:latin typeface="Assistant"/>
                <a:ea typeface="Assistant"/>
                <a:cs typeface="Assistant"/>
                <a:sym typeface="Assistant"/>
              </a:rPr>
              <a:t>עומק מרבי של כל עץ</a:t>
            </a:r>
            <a:endParaRPr sz="900">
              <a:solidFill>
                <a:schemeClr val="lt1"/>
              </a:solidFill>
              <a:latin typeface="Assistant"/>
              <a:ea typeface="Assistant"/>
              <a:cs typeface="Assistant"/>
              <a:sym typeface="Assistant"/>
            </a:endParaRPr>
          </a:p>
          <a:p>
            <a:pPr indent="-285750" lvl="0" marL="457200" rtl="1" algn="r">
              <a:lnSpc>
                <a:spcPct val="115000"/>
              </a:lnSpc>
              <a:spcBef>
                <a:spcPts val="0"/>
              </a:spcBef>
              <a:spcAft>
                <a:spcPts val="0"/>
              </a:spcAft>
              <a:buClr>
                <a:schemeClr val="lt1"/>
              </a:buClr>
              <a:buSzPts val="900"/>
              <a:buFont typeface="Assistant"/>
              <a:buChar char="●"/>
            </a:pPr>
            <a:r>
              <a:rPr lang="iw" sz="900">
                <a:solidFill>
                  <a:schemeClr val="lt1"/>
                </a:solidFill>
                <a:latin typeface="Assistant"/>
                <a:ea typeface="Assistant"/>
                <a:cs typeface="Assistant"/>
                <a:sym typeface="Assistant"/>
              </a:rPr>
              <a:t>מספר מינימלי של דגימות לפיצול</a:t>
            </a:r>
            <a:endParaRPr sz="900">
              <a:solidFill>
                <a:schemeClr val="lt1"/>
              </a:solidFill>
              <a:latin typeface="Assistant"/>
              <a:ea typeface="Assistant"/>
              <a:cs typeface="Assistant"/>
              <a:sym typeface="Assistant"/>
            </a:endParaRPr>
          </a:p>
          <a:p>
            <a:pPr indent="-285750" lvl="0" marL="457200" rtl="1" algn="r">
              <a:lnSpc>
                <a:spcPct val="115000"/>
              </a:lnSpc>
              <a:spcBef>
                <a:spcPts val="0"/>
              </a:spcBef>
              <a:spcAft>
                <a:spcPts val="0"/>
              </a:spcAft>
              <a:buClr>
                <a:schemeClr val="lt1"/>
              </a:buClr>
              <a:buSzPts val="900"/>
              <a:buFont typeface="Assistant"/>
              <a:buChar char="●"/>
            </a:pPr>
            <a:r>
              <a:rPr lang="iw" sz="900">
                <a:solidFill>
                  <a:schemeClr val="lt1"/>
                </a:solidFill>
                <a:latin typeface="Assistant"/>
                <a:ea typeface="Assistant"/>
                <a:cs typeface="Assistant"/>
                <a:sym typeface="Assistant"/>
              </a:rPr>
              <a:t>מספר מינימלי של דגימות בעלה</a:t>
            </a:r>
            <a:endParaRPr sz="900">
              <a:solidFill>
                <a:schemeClr val="lt1"/>
              </a:solidFill>
              <a:latin typeface="Assistant"/>
              <a:ea typeface="Assistant"/>
              <a:cs typeface="Assistant"/>
              <a:sym typeface="Assistant"/>
            </a:endParaRPr>
          </a:p>
          <a:p>
            <a:pPr indent="0" lvl="0" marL="0" rtl="1" algn="r">
              <a:lnSpc>
                <a:spcPct val="115000"/>
              </a:lnSpc>
              <a:spcBef>
                <a:spcPts val="1200"/>
              </a:spcBef>
              <a:spcAft>
                <a:spcPts val="0"/>
              </a:spcAft>
              <a:buNone/>
            </a:pPr>
            <a:r>
              <a:rPr lang="iw" sz="900">
                <a:solidFill>
                  <a:schemeClr val="lt1"/>
                </a:solidFill>
                <a:latin typeface="Assistant"/>
                <a:ea typeface="Assistant"/>
                <a:cs typeface="Assistant"/>
                <a:sym typeface="Assistant"/>
              </a:rPr>
              <a:t>כל שילוב של היפר־פרמטרים הוערך באמצעות 5-Fold Cross Validation, ונבחר השילוב שהשיג את הדיוק הממוצע הגבוה ביותר. </a:t>
            </a:r>
            <a:endParaRPr sz="900">
              <a:solidFill>
                <a:schemeClr val="lt1"/>
              </a:solidFill>
              <a:latin typeface="Assistant"/>
              <a:ea typeface="Assistant"/>
              <a:cs typeface="Assistant"/>
              <a:sym typeface="Assistant"/>
            </a:endParaRPr>
          </a:p>
          <a:p>
            <a:pPr indent="-285750" lvl="0" marL="457200" rtl="1" algn="r">
              <a:lnSpc>
                <a:spcPct val="115000"/>
              </a:lnSpc>
              <a:spcBef>
                <a:spcPts val="1200"/>
              </a:spcBef>
              <a:spcAft>
                <a:spcPts val="0"/>
              </a:spcAft>
              <a:buClr>
                <a:schemeClr val="lt1"/>
              </a:buClr>
              <a:buSzPts val="900"/>
              <a:buFont typeface="Assistant"/>
              <a:buChar char="●"/>
            </a:pPr>
            <a:r>
              <a:rPr lang="iw" sz="900">
                <a:solidFill>
                  <a:schemeClr val="lt1"/>
                </a:solidFill>
                <a:latin typeface="Assistant"/>
                <a:ea typeface="Assistant"/>
                <a:cs typeface="Assistant"/>
                <a:sym typeface="Assistant"/>
              </a:rPr>
              <a:t>להפחית Overfitting</a:t>
            </a:r>
            <a:endParaRPr sz="900">
              <a:solidFill>
                <a:schemeClr val="lt1"/>
              </a:solidFill>
              <a:latin typeface="Assistant"/>
              <a:ea typeface="Assistant"/>
              <a:cs typeface="Assistant"/>
              <a:sym typeface="Assistant"/>
            </a:endParaRPr>
          </a:p>
          <a:p>
            <a:pPr indent="-285750" lvl="0" marL="457200" rtl="1" algn="r">
              <a:lnSpc>
                <a:spcPct val="115000"/>
              </a:lnSpc>
              <a:spcBef>
                <a:spcPts val="0"/>
              </a:spcBef>
              <a:spcAft>
                <a:spcPts val="0"/>
              </a:spcAft>
              <a:buClr>
                <a:schemeClr val="lt1"/>
              </a:buClr>
              <a:buSzPts val="900"/>
              <a:buFont typeface="Assistant"/>
              <a:buChar char="●"/>
            </a:pPr>
            <a:r>
              <a:rPr lang="iw" sz="900">
                <a:solidFill>
                  <a:schemeClr val="lt1"/>
                </a:solidFill>
                <a:latin typeface="Assistant"/>
                <a:ea typeface="Assistant"/>
                <a:cs typeface="Assistant"/>
                <a:sym typeface="Assistant"/>
              </a:rPr>
              <a:t>לשפר את יכולת ההכללה על נתונים חדשים</a:t>
            </a:r>
            <a:endParaRPr sz="900">
              <a:solidFill>
                <a:schemeClr val="lt1"/>
              </a:solidFill>
              <a:latin typeface="Assistant"/>
              <a:ea typeface="Assistant"/>
              <a:cs typeface="Assistant"/>
              <a:sym typeface="Assistant"/>
            </a:endParaRPr>
          </a:p>
          <a:p>
            <a:pPr indent="-285750" lvl="0" marL="457200" rtl="1" algn="r">
              <a:lnSpc>
                <a:spcPct val="115000"/>
              </a:lnSpc>
              <a:spcBef>
                <a:spcPts val="0"/>
              </a:spcBef>
              <a:spcAft>
                <a:spcPts val="0"/>
              </a:spcAft>
              <a:buClr>
                <a:schemeClr val="lt1"/>
              </a:buClr>
              <a:buSzPts val="900"/>
              <a:buFont typeface="Assistant"/>
              <a:buChar char="●"/>
            </a:pPr>
            <a:r>
              <a:rPr lang="iw" sz="900">
                <a:solidFill>
                  <a:schemeClr val="lt1"/>
                </a:solidFill>
                <a:latin typeface="Assistant"/>
                <a:ea typeface="Assistant"/>
                <a:cs typeface="Assistant"/>
                <a:sym typeface="Assistant"/>
              </a:rPr>
              <a:t>לבחור מודל יציב יותר</a:t>
            </a:r>
            <a:endParaRPr sz="900">
              <a:solidFill>
                <a:schemeClr val="lt1"/>
              </a:solidFill>
              <a:latin typeface="Assistant"/>
              <a:ea typeface="Assistant"/>
              <a:cs typeface="Assistant"/>
              <a:sym typeface="Assistant"/>
            </a:endParaRPr>
          </a:p>
          <a:p>
            <a:pPr indent="-285750" lvl="0" marL="457200" rtl="1" algn="r">
              <a:lnSpc>
                <a:spcPct val="115000"/>
              </a:lnSpc>
              <a:spcBef>
                <a:spcPts val="0"/>
              </a:spcBef>
              <a:spcAft>
                <a:spcPts val="0"/>
              </a:spcAft>
              <a:buClr>
                <a:schemeClr val="lt1"/>
              </a:buClr>
              <a:buSzPts val="900"/>
              <a:buFont typeface="Assistant"/>
              <a:buChar char="●"/>
            </a:pPr>
            <a:r>
              <a:rPr lang="iw" sz="900">
                <a:solidFill>
                  <a:schemeClr val="lt1"/>
                </a:solidFill>
                <a:latin typeface="Assistant"/>
                <a:ea typeface="Assistant"/>
                <a:cs typeface="Assistant"/>
                <a:sym typeface="Assistant"/>
              </a:rPr>
              <a:t>לבסס את בחירת הפרמטרים באופן שיטתי ולא ידני</a:t>
            </a:r>
            <a:endParaRPr sz="900">
              <a:solidFill>
                <a:schemeClr val="lt1"/>
              </a:solidFill>
              <a:latin typeface="Assistant"/>
              <a:ea typeface="Assistant"/>
              <a:cs typeface="Assistant"/>
              <a:sym typeface="Assistant"/>
            </a:endParaRPr>
          </a:p>
          <a:p>
            <a:pPr indent="0" lvl="0" marL="0" rtl="1" algn="r">
              <a:lnSpc>
                <a:spcPct val="115000"/>
              </a:lnSpc>
              <a:spcBef>
                <a:spcPts val="1800"/>
              </a:spcBef>
              <a:spcAft>
                <a:spcPts val="0"/>
              </a:spcAft>
              <a:buNone/>
            </a:pPr>
            <a:r>
              <a:rPr lang="iw" sz="900">
                <a:solidFill>
                  <a:schemeClr val="lt1"/>
                </a:solidFill>
                <a:latin typeface="Assistant"/>
                <a:ea typeface="Assistant"/>
                <a:cs typeface="Assistant"/>
                <a:sym typeface="Assistant"/>
              </a:rPr>
              <a:t>מסקנה :התוצאה מחזקת את מסקנות המאמר ומראה כי Random Forest נשאר המודל המוביל גם לאחר תהליך כיוונון ההיפר־פרמטרים.</a:t>
            </a:r>
            <a:endParaRPr sz="900">
              <a:solidFill>
                <a:schemeClr val="lt1"/>
              </a:solidFill>
              <a:latin typeface="Assistant"/>
              <a:ea typeface="Assistant"/>
              <a:cs typeface="Assistant"/>
              <a:sym typeface="Assistant"/>
            </a:endParaRPr>
          </a:p>
          <a:p>
            <a:pPr indent="0" lvl="0" marL="0" rtl="1" algn="r">
              <a:lnSpc>
                <a:spcPct val="115000"/>
              </a:lnSpc>
              <a:spcBef>
                <a:spcPts val="1800"/>
              </a:spcBef>
              <a:spcAft>
                <a:spcPts val="0"/>
              </a:spcAft>
              <a:buNone/>
            </a:pPr>
            <a:r>
              <a:t/>
            </a:r>
            <a:endParaRPr sz="900">
              <a:solidFill>
                <a:schemeClr val="lt1"/>
              </a:solidFill>
              <a:latin typeface="Assistant"/>
              <a:ea typeface="Assistant"/>
              <a:cs typeface="Assistant"/>
              <a:sym typeface="Assistant"/>
            </a:endParaRPr>
          </a:p>
          <a:p>
            <a:pPr indent="0" lvl="0" marL="381000" marR="381000" rtl="1" algn="r">
              <a:lnSpc>
                <a:spcPct val="115000"/>
              </a:lnSpc>
              <a:spcBef>
                <a:spcPts val="1200"/>
              </a:spcBef>
              <a:spcAft>
                <a:spcPts val="1200"/>
              </a:spcAft>
              <a:buNone/>
            </a:pPr>
            <a:r>
              <a:t/>
            </a:r>
            <a:endParaRPr sz="900">
              <a:solidFill>
                <a:schemeClr val="lt1"/>
              </a:solidFill>
              <a:latin typeface="Assistant"/>
              <a:ea typeface="Assistant"/>
              <a:cs typeface="Assistant"/>
              <a:sym typeface="Assistant"/>
            </a:endParaRPr>
          </a:p>
        </p:txBody>
      </p:sp>
      <p:pic>
        <p:nvPicPr>
          <p:cNvPr id="529" name="Google Shape;529;p34"/>
          <p:cNvPicPr preferRelativeResize="0"/>
          <p:nvPr/>
        </p:nvPicPr>
        <p:blipFill>
          <a:blip r:embed="rId3">
            <a:alphaModFix/>
          </a:blip>
          <a:stretch>
            <a:fillRect/>
          </a:stretch>
        </p:blipFill>
        <p:spPr>
          <a:xfrm>
            <a:off x="2173575" y="4156650"/>
            <a:ext cx="4547675" cy="688525"/>
          </a:xfrm>
          <a:prstGeom prst="rect">
            <a:avLst/>
          </a:prstGeom>
          <a:noFill/>
          <a:ln>
            <a:noFill/>
          </a:ln>
        </p:spPr>
      </p:pic>
      <p:sp>
        <p:nvSpPr>
          <p:cNvPr id="530" name="Google Shape;530;p34"/>
          <p:cNvSpPr txBox="1"/>
          <p:nvPr/>
        </p:nvSpPr>
        <p:spPr>
          <a:xfrm>
            <a:off x="204325" y="177875"/>
            <a:ext cx="4762500" cy="4287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lnSpc>
                <a:spcPct val="115000"/>
              </a:lnSpc>
              <a:spcBef>
                <a:spcPts val="1200"/>
              </a:spcBef>
              <a:spcAft>
                <a:spcPts val="1200"/>
              </a:spcAft>
              <a:buNone/>
            </a:pPr>
            <a:r>
              <a:rPr b="1" lang="iw" sz="2100">
                <a:solidFill>
                  <a:schemeClr val="lt1"/>
                </a:solidFill>
                <a:latin typeface="Assistant"/>
                <a:ea typeface="Assistant"/>
                <a:cs typeface="Assistant"/>
                <a:sym typeface="Assistant"/>
              </a:rPr>
              <a:t>Hyperparameter Tuning (GridSearchCV)</a:t>
            </a:r>
            <a:endParaRPr sz="3400">
              <a:solidFill>
                <a:schemeClr val="lt1"/>
              </a:solidFill>
              <a:latin typeface="Assistant ExtraBold"/>
              <a:ea typeface="Assistant ExtraBold"/>
              <a:cs typeface="Assistant ExtraBold"/>
              <a:sym typeface="Assistant ExtraBold"/>
            </a:endParaRPr>
          </a:p>
        </p:txBody>
      </p:sp>
      <p:graphicFrame>
        <p:nvGraphicFramePr>
          <p:cNvPr id="531" name="Google Shape;531;p34"/>
          <p:cNvGraphicFramePr/>
          <p:nvPr/>
        </p:nvGraphicFramePr>
        <p:xfrm>
          <a:off x="590925" y="1332550"/>
          <a:ext cx="3000000" cy="3000000"/>
        </p:xfrm>
        <a:graphic>
          <a:graphicData uri="http://schemas.openxmlformats.org/drawingml/2006/table">
            <a:tbl>
              <a:tblPr>
                <a:noFill/>
                <a:tableStyleId>{9F3E54F5-BDC7-40B5-AFDF-021B44CC6DB0}</a:tableStyleId>
              </a:tblPr>
              <a:tblGrid>
                <a:gridCol w="1110500"/>
                <a:gridCol w="1110500"/>
              </a:tblGrid>
              <a:tr h="276850">
                <a:tc>
                  <a:txBody>
                    <a:bodyPr/>
                    <a:lstStyle/>
                    <a:p>
                      <a:pPr indent="0" lvl="0" marL="0" rtl="0" algn="l">
                        <a:spcBef>
                          <a:spcPts val="0"/>
                        </a:spcBef>
                        <a:spcAft>
                          <a:spcPts val="0"/>
                        </a:spcAft>
                        <a:buNone/>
                      </a:pPr>
                      <a:r>
                        <a:rPr lang="iw" sz="900">
                          <a:solidFill>
                            <a:schemeClr val="lt1"/>
                          </a:solidFill>
                        </a:rPr>
                        <a:t>Hyperparameter </a:t>
                      </a:r>
                      <a:endParaRPr sz="900">
                        <a:solidFill>
                          <a:schemeClr val="lt1"/>
                        </a:solidFill>
                      </a:endParaRPr>
                    </a:p>
                  </a:txBody>
                  <a:tcPr marT="91425" marB="91425" marR="91425" marL="91425"/>
                </a:tc>
                <a:tc>
                  <a:txBody>
                    <a:bodyPr/>
                    <a:lstStyle/>
                    <a:p>
                      <a:pPr indent="0" lvl="0" marL="0" rtl="0" algn="l">
                        <a:spcBef>
                          <a:spcPts val="0"/>
                        </a:spcBef>
                        <a:spcAft>
                          <a:spcPts val="0"/>
                        </a:spcAft>
                        <a:buNone/>
                      </a:pPr>
                      <a:r>
                        <a:rPr lang="iw" sz="900">
                          <a:solidFill>
                            <a:schemeClr val="lt1"/>
                          </a:solidFill>
                        </a:rPr>
                        <a:t>Optimal Value </a:t>
                      </a:r>
                      <a:endParaRPr sz="900">
                        <a:solidFill>
                          <a:schemeClr val="lt1"/>
                        </a:solidFill>
                      </a:endParaRPr>
                    </a:p>
                  </a:txBody>
                  <a:tcPr marT="91425" marB="91425" marR="91425" marL="91425"/>
                </a:tc>
              </a:tr>
              <a:tr h="276850">
                <a:tc>
                  <a:txBody>
                    <a:bodyPr/>
                    <a:lstStyle/>
                    <a:p>
                      <a:pPr indent="0" lvl="0" marL="0" rtl="0" algn="l">
                        <a:spcBef>
                          <a:spcPts val="0"/>
                        </a:spcBef>
                        <a:spcAft>
                          <a:spcPts val="0"/>
                        </a:spcAft>
                        <a:buNone/>
                      </a:pPr>
                      <a:r>
                        <a:rPr lang="iw" sz="900">
                          <a:solidFill>
                            <a:schemeClr val="lt1"/>
                          </a:solidFill>
                        </a:rPr>
                        <a:t>n_estimators </a:t>
                      </a:r>
                      <a:endParaRPr sz="900">
                        <a:solidFill>
                          <a:schemeClr val="lt1"/>
                        </a:solidFill>
                      </a:endParaRPr>
                    </a:p>
                  </a:txBody>
                  <a:tcPr marT="91425" marB="91425" marR="91425" marL="91425"/>
                </a:tc>
                <a:tc>
                  <a:txBody>
                    <a:bodyPr/>
                    <a:lstStyle/>
                    <a:p>
                      <a:pPr indent="0" lvl="0" marL="0" rtl="0" algn="l">
                        <a:spcBef>
                          <a:spcPts val="0"/>
                        </a:spcBef>
                        <a:spcAft>
                          <a:spcPts val="0"/>
                        </a:spcAft>
                        <a:buNone/>
                      </a:pPr>
                      <a:r>
                        <a:rPr lang="iw" sz="900">
                          <a:solidFill>
                            <a:schemeClr val="lt1"/>
                          </a:solidFill>
                        </a:rPr>
                        <a:t>200</a:t>
                      </a:r>
                      <a:endParaRPr sz="900">
                        <a:solidFill>
                          <a:schemeClr val="lt1"/>
                        </a:solidFill>
                      </a:endParaRPr>
                    </a:p>
                  </a:txBody>
                  <a:tcPr marT="91425" marB="91425" marR="91425" marL="91425"/>
                </a:tc>
              </a:tr>
              <a:tr h="276850">
                <a:tc>
                  <a:txBody>
                    <a:bodyPr/>
                    <a:lstStyle/>
                    <a:p>
                      <a:pPr indent="0" lvl="0" marL="0" rtl="0" algn="l">
                        <a:spcBef>
                          <a:spcPts val="0"/>
                        </a:spcBef>
                        <a:spcAft>
                          <a:spcPts val="0"/>
                        </a:spcAft>
                        <a:buNone/>
                      </a:pPr>
                      <a:r>
                        <a:rPr lang="iw" sz="900">
                          <a:solidFill>
                            <a:schemeClr val="lt1"/>
                          </a:solidFill>
                        </a:rPr>
                        <a:t>max_depth </a:t>
                      </a:r>
                      <a:endParaRPr sz="900">
                        <a:solidFill>
                          <a:schemeClr val="lt1"/>
                        </a:solidFill>
                      </a:endParaRPr>
                    </a:p>
                  </a:txBody>
                  <a:tcPr marT="91425" marB="91425" marR="91425" marL="91425"/>
                </a:tc>
                <a:tc>
                  <a:txBody>
                    <a:bodyPr/>
                    <a:lstStyle/>
                    <a:p>
                      <a:pPr indent="0" lvl="0" marL="0" rtl="0" algn="l">
                        <a:spcBef>
                          <a:spcPts val="0"/>
                        </a:spcBef>
                        <a:spcAft>
                          <a:spcPts val="0"/>
                        </a:spcAft>
                        <a:buNone/>
                      </a:pPr>
                      <a:r>
                        <a:rPr lang="iw" sz="900">
                          <a:solidFill>
                            <a:schemeClr val="lt1"/>
                          </a:solidFill>
                        </a:rPr>
                        <a:t>10</a:t>
                      </a:r>
                      <a:endParaRPr sz="900">
                        <a:solidFill>
                          <a:schemeClr val="lt1"/>
                        </a:solidFill>
                      </a:endParaRPr>
                    </a:p>
                  </a:txBody>
                  <a:tcPr marT="91425" marB="91425" marR="91425" marL="91425"/>
                </a:tc>
              </a:tr>
              <a:tr h="276850">
                <a:tc>
                  <a:txBody>
                    <a:bodyPr/>
                    <a:lstStyle/>
                    <a:p>
                      <a:pPr indent="0" lvl="0" marL="0" rtl="0" algn="l">
                        <a:spcBef>
                          <a:spcPts val="0"/>
                        </a:spcBef>
                        <a:spcAft>
                          <a:spcPts val="0"/>
                        </a:spcAft>
                        <a:buNone/>
                      </a:pPr>
                      <a:r>
                        <a:rPr lang="iw" sz="900">
                          <a:solidFill>
                            <a:schemeClr val="lt1"/>
                          </a:solidFill>
                        </a:rPr>
                        <a:t>min_samples_split </a:t>
                      </a:r>
                      <a:endParaRPr sz="900">
                        <a:solidFill>
                          <a:schemeClr val="lt1"/>
                        </a:solidFill>
                      </a:endParaRPr>
                    </a:p>
                  </a:txBody>
                  <a:tcPr marT="91425" marB="91425" marR="91425" marL="91425"/>
                </a:tc>
                <a:tc>
                  <a:txBody>
                    <a:bodyPr/>
                    <a:lstStyle/>
                    <a:p>
                      <a:pPr indent="0" lvl="0" marL="0" rtl="0" algn="l">
                        <a:spcBef>
                          <a:spcPts val="0"/>
                        </a:spcBef>
                        <a:spcAft>
                          <a:spcPts val="0"/>
                        </a:spcAft>
                        <a:buNone/>
                      </a:pPr>
                      <a:r>
                        <a:rPr lang="iw" sz="900">
                          <a:solidFill>
                            <a:schemeClr val="lt1"/>
                          </a:solidFill>
                        </a:rPr>
                        <a:t>2</a:t>
                      </a:r>
                      <a:endParaRPr sz="900">
                        <a:solidFill>
                          <a:schemeClr val="lt1"/>
                        </a:solidFill>
                      </a:endParaRPr>
                    </a:p>
                  </a:txBody>
                  <a:tcPr marT="91425" marB="91425" marR="91425" marL="91425"/>
                </a:tc>
              </a:tr>
              <a:tr h="276850">
                <a:tc>
                  <a:txBody>
                    <a:bodyPr/>
                    <a:lstStyle/>
                    <a:p>
                      <a:pPr indent="0" lvl="0" marL="0" rtl="0" algn="l">
                        <a:spcBef>
                          <a:spcPts val="0"/>
                        </a:spcBef>
                        <a:spcAft>
                          <a:spcPts val="0"/>
                        </a:spcAft>
                        <a:buNone/>
                      </a:pPr>
                      <a:r>
                        <a:rPr lang="iw" sz="900">
                          <a:solidFill>
                            <a:schemeClr val="lt1"/>
                          </a:solidFill>
                        </a:rPr>
                        <a:t>min_samples_leaf </a:t>
                      </a:r>
                      <a:endParaRPr sz="900">
                        <a:solidFill>
                          <a:schemeClr val="lt1"/>
                        </a:solidFill>
                      </a:endParaRPr>
                    </a:p>
                  </a:txBody>
                  <a:tcPr marT="91425" marB="91425" marR="91425" marL="91425"/>
                </a:tc>
                <a:tc>
                  <a:txBody>
                    <a:bodyPr/>
                    <a:lstStyle/>
                    <a:p>
                      <a:pPr indent="0" lvl="0" marL="0" rtl="0" algn="l">
                        <a:spcBef>
                          <a:spcPts val="0"/>
                        </a:spcBef>
                        <a:spcAft>
                          <a:spcPts val="0"/>
                        </a:spcAft>
                        <a:buNone/>
                      </a:pPr>
                      <a:r>
                        <a:rPr lang="iw" sz="900">
                          <a:solidFill>
                            <a:schemeClr val="lt1"/>
                          </a:solidFill>
                        </a:rPr>
                        <a:t>1</a:t>
                      </a:r>
                      <a:endParaRPr sz="900">
                        <a:solidFill>
                          <a:schemeClr val="lt1"/>
                        </a:solidFill>
                      </a:endParaRPr>
                    </a:p>
                  </a:txBody>
                  <a:tcPr marT="91425" marB="91425" marR="91425" marL="91425"/>
                </a:tc>
              </a:tr>
              <a:tr h="409300">
                <a:tc>
                  <a:txBody>
                    <a:bodyPr/>
                    <a:lstStyle/>
                    <a:p>
                      <a:pPr indent="0" lvl="0" marL="0" rtl="0" algn="l">
                        <a:lnSpc>
                          <a:spcPct val="115000"/>
                        </a:lnSpc>
                        <a:spcBef>
                          <a:spcPts val="0"/>
                        </a:spcBef>
                        <a:spcAft>
                          <a:spcPts val="0"/>
                        </a:spcAft>
                        <a:buNone/>
                      </a:pPr>
                      <a:r>
                        <a:rPr lang="iw" sz="900">
                          <a:solidFill>
                            <a:schemeClr val="lt1"/>
                          </a:solidFill>
                          <a:latin typeface="Assistant"/>
                          <a:ea typeface="Assistant"/>
                          <a:cs typeface="Assistant"/>
                          <a:sym typeface="Assistant"/>
                        </a:rPr>
                        <a:t>Best CV Accuracy</a:t>
                      </a:r>
                      <a:endParaRPr sz="900">
                        <a:solidFill>
                          <a:schemeClr val="lt1"/>
                        </a:solidFill>
                        <a:latin typeface="Assistant"/>
                        <a:ea typeface="Assistant"/>
                        <a:cs typeface="Assistant"/>
                        <a:sym typeface="Assistant"/>
                      </a:endParaRPr>
                    </a:p>
                  </a:txBody>
                  <a:tcPr marT="91425" marB="91425" marR="91425" marL="91425"/>
                </a:tc>
                <a:tc>
                  <a:txBody>
                    <a:bodyPr/>
                    <a:lstStyle/>
                    <a:p>
                      <a:pPr indent="0" lvl="0" marL="0" rtl="0" algn="l">
                        <a:spcBef>
                          <a:spcPts val="0"/>
                        </a:spcBef>
                        <a:spcAft>
                          <a:spcPts val="0"/>
                        </a:spcAft>
                        <a:buNone/>
                      </a:pPr>
                      <a:r>
                        <a:rPr lang="iw" sz="900">
                          <a:solidFill>
                            <a:schemeClr val="lt1"/>
                          </a:solidFill>
                        </a:rPr>
                        <a:t>98.54%</a:t>
                      </a:r>
                      <a:endParaRPr sz="900">
                        <a:solidFill>
                          <a:schemeClr val="lt1"/>
                        </a:solidFill>
                      </a:endParaRPr>
                    </a:p>
                  </a:txBody>
                  <a:tcPr marT="91425" marB="91425" marR="91425" marL="91425"/>
                </a:tc>
              </a:tr>
            </a:tbl>
          </a:graphicData>
        </a:graphic>
      </p:graphicFrame>
      <p:sp>
        <p:nvSpPr>
          <p:cNvPr id="532" name="Google Shape;532;p34"/>
          <p:cNvSpPr/>
          <p:nvPr/>
        </p:nvSpPr>
        <p:spPr>
          <a:xfrm>
            <a:off x="174000" y="606575"/>
            <a:ext cx="4652400" cy="38400"/>
          </a:xfrm>
          <a:prstGeom prst="rect">
            <a:avLst/>
          </a:prstGeom>
          <a:solidFill>
            <a:srgbClr val="00E5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6" name="Shape 536"/>
        <p:cNvGrpSpPr/>
        <p:nvPr/>
      </p:nvGrpSpPr>
      <p:grpSpPr>
        <a:xfrm>
          <a:off x="0" y="0"/>
          <a:ext cx="0" cy="0"/>
          <a:chOff x="0" y="0"/>
          <a:chExt cx="0" cy="0"/>
        </a:xfrm>
      </p:grpSpPr>
      <p:pic>
        <p:nvPicPr>
          <p:cNvPr id="537" name="Google Shape;537;p35"/>
          <p:cNvPicPr preferRelativeResize="0"/>
          <p:nvPr/>
        </p:nvPicPr>
        <p:blipFill rotWithShape="1">
          <a:blip r:embed="rId3">
            <a:alphaModFix/>
          </a:blip>
          <a:srcRect b="0" l="0" r="0" t="0"/>
          <a:stretch/>
        </p:blipFill>
        <p:spPr>
          <a:xfrm>
            <a:off x="1050525" y="1095375"/>
            <a:ext cx="1775100" cy="906300"/>
          </a:xfrm>
          <a:prstGeom prst="rect">
            <a:avLst/>
          </a:prstGeom>
          <a:noFill/>
          <a:ln>
            <a:noFill/>
          </a:ln>
        </p:spPr>
      </p:pic>
      <p:pic>
        <p:nvPicPr>
          <p:cNvPr id="538" name="Google Shape;538;p35"/>
          <p:cNvPicPr preferRelativeResize="0"/>
          <p:nvPr/>
        </p:nvPicPr>
        <p:blipFill rotWithShape="1">
          <a:blip r:embed="rId4">
            <a:alphaModFix/>
          </a:blip>
          <a:srcRect b="0" l="0" r="0" t="0"/>
          <a:stretch/>
        </p:blipFill>
        <p:spPr>
          <a:xfrm>
            <a:off x="265575" y="2097075"/>
            <a:ext cx="3605400" cy="2278200"/>
          </a:xfrm>
          <a:prstGeom prst="rect">
            <a:avLst/>
          </a:prstGeom>
          <a:noFill/>
          <a:ln>
            <a:noFill/>
          </a:ln>
        </p:spPr>
      </p:pic>
      <p:grpSp>
        <p:nvGrpSpPr>
          <p:cNvPr id="539" name="Google Shape;539;p35"/>
          <p:cNvGrpSpPr/>
          <p:nvPr/>
        </p:nvGrpSpPr>
        <p:grpSpPr>
          <a:xfrm>
            <a:off x="542925" y="209550"/>
            <a:ext cx="8029725" cy="723825"/>
            <a:chOff x="542925" y="209550"/>
            <a:chExt cx="8029725" cy="723825"/>
          </a:xfrm>
        </p:grpSpPr>
        <p:sp>
          <p:nvSpPr>
            <p:cNvPr id="540" name="Google Shape;540;p35"/>
            <p:cNvSpPr txBox="1"/>
            <p:nvPr/>
          </p:nvSpPr>
          <p:spPr>
            <a:xfrm>
              <a:off x="542925" y="209550"/>
              <a:ext cx="8029500" cy="428700"/>
            </a:xfrm>
            <a:prstGeom prst="rect">
              <a:avLst/>
            </a:prstGeom>
            <a:noFill/>
            <a:ln>
              <a:noFill/>
            </a:ln>
          </p:spPr>
          <p:txBody>
            <a:bodyPr anchorCtr="0" anchor="ctr" bIns="0" lIns="0" spcFirstLastPara="1" rIns="0" wrap="square" tIns="0">
              <a:noAutofit/>
            </a:bodyPr>
            <a:lstStyle/>
            <a:p>
              <a:pPr indent="0" lvl="0" marL="0" rtl="1" algn="r">
                <a:spcBef>
                  <a:spcPts val="0"/>
                </a:spcBef>
                <a:spcAft>
                  <a:spcPts val="0"/>
                </a:spcAft>
                <a:buNone/>
              </a:pPr>
              <a:r>
                <a:rPr lang="iw" sz="2400">
                  <a:solidFill>
                    <a:srgbClr val="FFFFFF"/>
                  </a:solidFill>
                  <a:latin typeface="Assistant ExtraBold"/>
                  <a:ea typeface="Assistant ExtraBold"/>
                  <a:cs typeface="Assistant ExtraBold"/>
                  <a:sym typeface="Assistant ExtraBold"/>
                </a:rPr>
                <a:t>הרחבת הפרויקט ואימות ביצוע המודלים - </a:t>
              </a:r>
              <a:r>
                <a:rPr lang="iw" sz="2400">
                  <a:solidFill>
                    <a:srgbClr val="FFFFFF"/>
                  </a:solidFill>
                  <a:latin typeface="Assistant ExtraBold"/>
                  <a:ea typeface="Assistant ExtraBold"/>
                  <a:cs typeface="Assistant ExtraBold"/>
                  <a:sym typeface="Assistant ExtraBold"/>
                </a:rPr>
                <a:t> </a:t>
              </a:r>
              <a:r>
                <a:rPr b="0" lang="iw" sz="2400">
                  <a:solidFill>
                    <a:srgbClr val="FFFFFF"/>
                  </a:solidFill>
                  <a:latin typeface="Assistant ExtraBold"/>
                  <a:ea typeface="Assistant ExtraBold"/>
                  <a:cs typeface="Assistant ExtraBold"/>
                  <a:sym typeface="Assistant ExtraBold"/>
                </a:rPr>
                <a:t>Cross Validation</a:t>
              </a:r>
              <a:endParaRPr b="0" sz="2400">
                <a:solidFill>
                  <a:srgbClr val="FFFFFF"/>
                </a:solidFill>
                <a:latin typeface="Assistant ExtraBold"/>
                <a:ea typeface="Assistant ExtraBold"/>
                <a:cs typeface="Assistant ExtraBold"/>
                <a:sym typeface="Assistant ExtraBold"/>
              </a:endParaRPr>
            </a:p>
          </p:txBody>
        </p:sp>
        <p:sp>
          <p:nvSpPr>
            <p:cNvPr id="541" name="Google Shape;541;p35"/>
            <p:cNvSpPr txBox="1"/>
            <p:nvPr/>
          </p:nvSpPr>
          <p:spPr>
            <a:xfrm>
              <a:off x="1619250" y="600075"/>
              <a:ext cx="6953400" cy="333300"/>
            </a:xfrm>
            <a:prstGeom prst="rect">
              <a:avLst/>
            </a:prstGeom>
            <a:noFill/>
            <a:ln>
              <a:noFill/>
            </a:ln>
          </p:spPr>
          <p:txBody>
            <a:bodyPr anchorCtr="0" anchor="ctr" bIns="0" lIns="0" spcFirstLastPara="1" rIns="0" wrap="square" tIns="0">
              <a:noAutofit/>
            </a:bodyPr>
            <a:lstStyle/>
            <a:p>
              <a:pPr indent="0" lvl="0" marL="0" rtl="1" algn="r">
                <a:spcBef>
                  <a:spcPts val="0"/>
                </a:spcBef>
                <a:spcAft>
                  <a:spcPts val="0"/>
                </a:spcAft>
                <a:buNone/>
              </a:pPr>
              <a:r>
                <a:rPr b="0" lang="iw" sz="1050">
                  <a:solidFill>
                    <a:srgbClr val="7A8D9E"/>
                  </a:solidFill>
                  <a:latin typeface="Assistant"/>
                  <a:ea typeface="Assistant"/>
                  <a:cs typeface="Assistant"/>
                  <a:sym typeface="Assistant"/>
                </a:rPr>
                <a:t>בוצע תהליך 5-Fold Cross Validation להערכת יציבות המודלים ואימות התוצאות ללא תלות בחלוקה אקראית יחידה.</a:t>
              </a:r>
              <a:endParaRPr b="0" sz="1050">
                <a:solidFill>
                  <a:srgbClr val="7A8D9E"/>
                </a:solidFill>
                <a:latin typeface="Assistant"/>
                <a:ea typeface="Assistant"/>
                <a:cs typeface="Assistant"/>
                <a:sym typeface="Assistant"/>
              </a:endParaRPr>
            </a:p>
          </p:txBody>
        </p:sp>
      </p:grpSp>
      <p:grpSp>
        <p:nvGrpSpPr>
          <p:cNvPr id="542" name="Google Shape;542;p35"/>
          <p:cNvGrpSpPr/>
          <p:nvPr/>
        </p:nvGrpSpPr>
        <p:grpSpPr>
          <a:xfrm>
            <a:off x="4286250" y="1095375"/>
            <a:ext cx="4286400" cy="1619100"/>
            <a:chOff x="4286250" y="1095375"/>
            <a:chExt cx="4286400" cy="1619100"/>
          </a:xfrm>
        </p:grpSpPr>
        <p:sp>
          <p:nvSpPr>
            <p:cNvPr id="543" name="Google Shape;543;p35"/>
            <p:cNvSpPr/>
            <p:nvPr/>
          </p:nvSpPr>
          <p:spPr>
            <a:xfrm>
              <a:off x="4286250" y="1095375"/>
              <a:ext cx="4286400" cy="1619100"/>
            </a:xfrm>
            <a:prstGeom prst="roundRect">
              <a:avLst>
                <a:gd fmla="val 3529" name="adj"/>
              </a:avLst>
            </a:prstGeom>
            <a:solidFill>
              <a:srgbClr val="0E1524"/>
            </a:solidFill>
            <a:ln cap="flat" cmpd="sng" w="9525">
              <a:solidFill>
                <a:srgbClr val="1F2E4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44" name="Google Shape;544;p35"/>
            <p:cNvSpPr/>
            <p:nvPr/>
          </p:nvSpPr>
          <p:spPr>
            <a:xfrm>
              <a:off x="4286250" y="1095375"/>
              <a:ext cx="4286400" cy="38100"/>
            </a:xfrm>
            <a:prstGeom prst="rect">
              <a:avLst/>
            </a:prstGeom>
            <a:solidFill>
              <a:srgbClr val="00E5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45" name="Google Shape;545;p35"/>
            <p:cNvSpPr txBox="1"/>
            <p:nvPr/>
          </p:nvSpPr>
          <p:spPr>
            <a:xfrm>
              <a:off x="4429125" y="1190625"/>
              <a:ext cx="4000500" cy="1428900"/>
            </a:xfrm>
            <a:prstGeom prst="rect">
              <a:avLst/>
            </a:prstGeom>
            <a:noFill/>
            <a:ln>
              <a:noFill/>
            </a:ln>
          </p:spPr>
          <p:txBody>
            <a:bodyPr anchorCtr="0" anchor="t" bIns="0" lIns="0" spcFirstLastPara="1" rIns="0" wrap="square" tIns="0">
              <a:noAutofit/>
            </a:bodyPr>
            <a:lstStyle/>
            <a:p>
              <a:pPr indent="0" lvl="0" marL="0" rtl="1" algn="r">
                <a:spcBef>
                  <a:spcPts val="0"/>
                </a:spcBef>
                <a:spcAft>
                  <a:spcPts val="0"/>
                </a:spcAft>
                <a:buNone/>
              </a:pPr>
              <a:r>
                <a:rPr b="1" lang="iw" sz="850">
                  <a:solidFill>
                    <a:srgbClr val="00E5FF"/>
                  </a:solidFill>
                  <a:latin typeface="Courier New"/>
                  <a:ea typeface="Courier New"/>
                  <a:cs typeface="Courier New"/>
                  <a:sym typeface="Courier New"/>
                </a:rPr>
                <a:t>EVALUATION // CROSS_VALIDATION</a:t>
              </a:r>
              <a:endParaRPr b="1" sz="850">
                <a:solidFill>
                  <a:srgbClr val="00E5FF"/>
                </a:solidFill>
                <a:latin typeface="Courier New"/>
                <a:ea typeface="Courier New"/>
                <a:cs typeface="Courier New"/>
                <a:sym typeface="Courier New"/>
              </a:endParaRPr>
            </a:p>
            <a:p>
              <a:pPr indent="0" lvl="0" marL="0" rtl="1" algn="r">
                <a:spcBef>
                  <a:spcPts val="300"/>
                </a:spcBef>
                <a:spcAft>
                  <a:spcPts val="0"/>
                </a:spcAft>
                <a:buNone/>
              </a:pPr>
              <a:r>
                <a:rPr b="1" lang="iw" sz="1350">
                  <a:solidFill>
                    <a:srgbClr val="FFFFFF"/>
                  </a:solidFill>
                  <a:latin typeface="Assistant"/>
                  <a:ea typeface="Assistant"/>
                  <a:cs typeface="Assistant"/>
                  <a:sym typeface="Assistant"/>
                </a:rPr>
                <a:t>מטרת ההרחבה והתהליך</a:t>
              </a:r>
              <a:endParaRPr b="1" sz="1350">
                <a:solidFill>
                  <a:srgbClr val="FFFFFF"/>
                </a:solidFill>
                <a:latin typeface="Assistant"/>
                <a:ea typeface="Assistant"/>
                <a:cs typeface="Assistant"/>
                <a:sym typeface="Assistant"/>
              </a:endParaRPr>
            </a:p>
            <a:p>
              <a:pPr indent="0" lvl="0" marL="0" rtl="1" algn="r">
                <a:spcBef>
                  <a:spcPts val="600"/>
                </a:spcBef>
                <a:spcAft>
                  <a:spcPts val="0"/>
                </a:spcAft>
                <a:buNone/>
              </a:pPr>
              <a:r>
                <a:rPr lang="iw" sz="1050">
                  <a:solidFill>
                    <a:srgbClr val="A0B2C6"/>
                  </a:solidFill>
                  <a:latin typeface="Assistant"/>
                  <a:ea typeface="Assistant"/>
                  <a:cs typeface="Assistant"/>
                  <a:sym typeface="Assistant"/>
                </a:rPr>
                <a:t>בוצעה הערכת ביצועים באמצעות 5-Fold Cross Validation, במטרה להעריך את יציבות המודלים ולוודא שהתוצאות אינן תלויות בחלוקה בודדת של הנתונים ל־Train ו־Test. </a:t>
              </a:r>
              <a:br>
                <a:rPr lang="iw" sz="1050">
                  <a:solidFill>
                    <a:srgbClr val="A0B2C6"/>
                  </a:solidFill>
                  <a:latin typeface="Assistant"/>
                  <a:ea typeface="Assistant"/>
                  <a:cs typeface="Assistant"/>
                  <a:sym typeface="Assistant"/>
                </a:rPr>
              </a:br>
              <a:r>
                <a:rPr b="0" lang="iw" sz="1050">
                  <a:solidFill>
                    <a:srgbClr val="A0B2C6"/>
                  </a:solidFill>
                  <a:latin typeface="Assistant"/>
                  <a:ea typeface="Assistant"/>
                  <a:cs typeface="Assistant"/>
                  <a:sym typeface="Assistant"/>
                </a:rPr>
                <a:t> הדאטהסט מחולק ל-5 קבוצות (Folds), כאשר בכל סבב 4 קבוצות משמשות לאימון המודל וקבוצה אחת משמשת לבדיקה (וחוזר 5 פעמים).</a:t>
              </a:r>
              <a:endParaRPr b="0" sz="1050">
                <a:solidFill>
                  <a:srgbClr val="A0B2C6"/>
                </a:solidFill>
                <a:latin typeface="Assistant"/>
                <a:ea typeface="Assistant"/>
                <a:cs typeface="Assistant"/>
                <a:sym typeface="Assistant"/>
              </a:endParaRPr>
            </a:p>
          </p:txBody>
        </p:sp>
      </p:grpSp>
      <p:grpSp>
        <p:nvGrpSpPr>
          <p:cNvPr id="546" name="Google Shape;546;p35"/>
          <p:cNvGrpSpPr/>
          <p:nvPr/>
        </p:nvGrpSpPr>
        <p:grpSpPr>
          <a:xfrm>
            <a:off x="4286250" y="2857478"/>
            <a:ext cx="4286400" cy="1692685"/>
            <a:chOff x="4286250" y="2857500"/>
            <a:chExt cx="4286400" cy="2000100"/>
          </a:xfrm>
        </p:grpSpPr>
        <p:sp>
          <p:nvSpPr>
            <p:cNvPr id="547" name="Google Shape;547;p35"/>
            <p:cNvSpPr/>
            <p:nvPr/>
          </p:nvSpPr>
          <p:spPr>
            <a:xfrm>
              <a:off x="4286250" y="2857500"/>
              <a:ext cx="4286400" cy="2000100"/>
            </a:xfrm>
            <a:prstGeom prst="roundRect">
              <a:avLst>
                <a:gd fmla="val 2857" name="adj"/>
              </a:avLst>
            </a:prstGeom>
            <a:solidFill>
              <a:srgbClr val="0E1524"/>
            </a:solidFill>
            <a:ln cap="flat" cmpd="sng" w="9525">
              <a:solidFill>
                <a:srgbClr val="1F2E4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48" name="Google Shape;548;p35"/>
            <p:cNvSpPr/>
            <p:nvPr/>
          </p:nvSpPr>
          <p:spPr>
            <a:xfrm>
              <a:off x="4286250" y="2857500"/>
              <a:ext cx="4286400" cy="38100"/>
            </a:xfrm>
            <a:prstGeom prst="rect">
              <a:avLst/>
            </a:prstGeom>
            <a:solidFill>
              <a:srgbClr val="10B98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49" name="Google Shape;549;p35"/>
            <p:cNvSpPr txBox="1"/>
            <p:nvPr/>
          </p:nvSpPr>
          <p:spPr>
            <a:xfrm>
              <a:off x="4429125" y="2952750"/>
              <a:ext cx="4000500" cy="1809600"/>
            </a:xfrm>
            <a:prstGeom prst="rect">
              <a:avLst/>
            </a:prstGeom>
            <a:noFill/>
            <a:ln>
              <a:noFill/>
            </a:ln>
          </p:spPr>
          <p:txBody>
            <a:bodyPr anchorCtr="0" anchor="t" bIns="0" lIns="0" spcFirstLastPara="1" rIns="0" wrap="square" tIns="0">
              <a:noAutofit/>
            </a:bodyPr>
            <a:lstStyle/>
            <a:p>
              <a:pPr indent="0" lvl="0" marL="0" rtl="1" algn="r">
                <a:spcBef>
                  <a:spcPts val="0"/>
                </a:spcBef>
                <a:spcAft>
                  <a:spcPts val="0"/>
                </a:spcAft>
                <a:buNone/>
              </a:pPr>
              <a:r>
                <a:rPr b="1" lang="iw" sz="850">
                  <a:solidFill>
                    <a:srgbClr val="10B981"/>
                  </a:solidFill>
                  <a:latin typeface="Courier New"/>
                  <a:ea typeface="Courier New"/>
                  <a:cs typeface="Courier New"/>
                  <a:sym typeface="Courier New"/>
                </a:rPr>
                <a:t>INSIGHTS // KEY_FINDINGS</a:t>
              </a:r>
              <a:endParaRPr b="1" sz="850">
                <a:solidFill>
                  <a:srgbClr val="10B981"/>
                </a:solidFill>
                <a:latin typeface="Courier New"/>
                <a:ea typeface="Courier New"/>
                <a:cs typeface="Courier New"/>
                <a:sym typeface="Courier New"/>
              </a:endParaRPr>
            </a:p>
            <a:p>
              <a:pPr indent="0" lvl="0" marL="0" rtl="1" algn="r">
                <a:spcBef>
                  <a:spcPts val="300"/>
                </a:spcBef>
                <a:spcAft>
                  <a:spcPts val="0"/>
                </a:spcAft>
                <a:buNone/>
              </a:pPr>
              <a:r>
                <a:rPr b="1" lang="iw" sz="1350">
                  <a:solidFill>
                    <a:srgbClr val="FFFFFF"/>
                  </a:solidFill>
                  <a:latin typeface="Assistant"/>
                  <a:ea typeface="Assistant"/>
                  <a:cs typeface="Assistant"/>
                  <a:sym typeface="Assistant"/>
                </a:rPr>
                <a:t>מסקנות מרכזיות מהתיקוף</a:t>
              </a:r>
              <a:endParaRPr b="1" sz="1350">
                <a:solidFill>
                  <a:srgbClr val="FFFFFF"/>
                </a:solidFill>
                <a:latin typeface="Assistant"/>
                <a:ea typeface="Assistant"/>
                <a:cs typeface="Assistant"/>
                <a:sym typeface="Assistant"/>
              </a:endParaRPr>
            </a:p>
            <a:p>
              <a:pPr indent="0" lvl="0" marL="0" rtl="1" algn="r">
                <a:spcBef>
                  <a:spcPts val="600"/>
                </a:spcBef>
                <a:spcAft>
                  <a:spcPts val="0"/>
                </a:spcAft>
                <a:buNone/>
              </a:pPr>
              <a:r>
                <a:rPr b="0" lang="iw" sz="1000">
                  <a:solidFill>
                    <a:srgbClr val="A0B2C6"/>
                  </a:solidFill>
                  <a:latin typeface="Assistant"/>
                  <a:ea typeface="Assistant"/>
                  <a:cs typeface="Assistant"/>
                  <a:sym typeface="Assistant"/>
                </a:rPr>
                <a:t>• </a:t>
              </a:r>
              <a:r>
                <a:rPr b="1" lang="iw" sz="1000">
                  <a:solidFill>
                    <a:srgbClr val="FFFFFF"/>
                  </a:solidFill>
                  <a:latin typeface="Assistant"/>
                  <a:ea typeface="Assistant"/>
                  <a:cs typeface="Assistant"/>
                  <a:sym typeface="Assistant"/>
                </a:rPr>
                <a:t>Random Forest:</a:t>
              </a:r>
              <a:r>
                <a:rPr b="0" lang="iw" sz="1000">
                  <a:solidFill>
                    <a:srgbClr val="A0B2C6"/>
                  </a:solidFill>
                  <a:latin typeface="Assistant"/>
                  <a:ea typeface="Assistant"/>
                  <a:cs typeface="Assistant"/>
                  <a:sym typeface="Assistant"/>
                </a:rPr>
                <a:t> השיג את הדיוק הממוצע הגבוה ביותר (</a:t>
              </a:r>
              <a:r>
                <a:rPr b="1" lang="iw" sz="1000">
                  <a:solidFill>
                    <a:srgbClr val="FFFFFF"/>
                  </a:solidFill>
                  <a:latin typeface="Assistant"/>
                  <a:ea typeface="Assistant"/>
                  <a:cs typeface="Assistant"/>
                  <a:sym typeface="Assistant"/>
                </a:rPr>
                <a:t>99.71%</a:t>
              </a:r>
              <a:r>
                <a:rPr b="0" lang="iw" sz="1000">
                  <a:solidFill>
                    <a:srgbClr val="A0B2C6"/>
                  </a:solidFill>
                  <a:latin typeface="Assistant"/>
                  <a:ea typeface="Assistant"/>
                  <a:cs typeface="Assistant"/>
                  <a:sym typeface="Assistant"/>
                </a:rPr>
                <a:t>) עם סטיית התקן הנמוכה ביותר (</a:t>
              </a:r>
              <a:r>
                <a:rPr b="1" lang="iw" sz="1000">
                  <a:solidFill>
                    <a:srgbClr val="FFFFFF"/>
                  </a:solidFill>
                  <a:latin typeface="Assistant"/>
                  <a:ea typeface="Assistant"/>
                  <a:cs typeface="Assistant"/>
                  <a:sym typeface="Assistant"/>
                </a:rPr>
                <a:t>0.0059</a:t>
              </a:r>
              <a:r>
                <a:rPr b="0" lang="iw" sz="1000">
                  <a:solidFill>
                    <a:srgbClr val="A0B2C6"/>
                  </a:solidFill>
                  <a:latin typeface="Assistant"/>
                  <a:ea typeface="Assistant"/>
                  <a:cs typeface="Assistant"/>
                  <a:sym typeface="Assistant"/>
                </a:rPr>
                <a:t>), דבר המעיד</a:t>
              </a:r>
              <a:r>
                <a:rPr lang="iw" sz="1000">
                  <a:solidFill>
                    <a:srgbClr val="A0B2C6"/>
                  </a:solidFill>
                  <a:latin typeface="Assistant"/>
                  <a:ea typeface="Assistant"/>
                  <a:cs typeface="Assistant"/>
                  <a:sym typeface="Assistant"/>
                </a:rPr>
                <a:t>המעיד על ביצועים יציבים ועקביים בין כל חמש החלוקות. </a:t>
              </a:r>
              <a:endParaRPr b="0" sz="1000">
                <a:solidFill>
                  <a:srgbClr val="A0B2C6"/>
                </a:solidFill>
                <a:latin typeface="Assistant"/>
                <a:ea typeface="Assistant"/>
                <a:cs typeface="Assistant"/>
                <a:sym typeface="Assistant"/>
              </a:endParaRPr>
            </a:p>
            <a:p>
              <a:pPr indent="0" lvl="0" marL="0" rtl="1" algn="r">
                <a:spcBef>
                  <a:spcPts val="400"/>
                </a:spcBef>
                <a:spcAft>
                  <a:spcPts val="0"/>
                </a:spcAft>
                <a:buNone/>
              </a:pPr>
              <a:r>
                <a:rPr b="0" lang="iw" sz="1000">
                  <a:solidFill>
                    <a:srgbClr val="A0B2C6"/>
                  </a:solidFill>
                  <a:latin typeface="Assistant"/>
                  <a:ea typeface="Assistant"/>
                  <a:cs typeface="Assistant"/>
                  <a:sym typeface="Assistant"/>
                </a:rPr>
                <a:t>• </a:t>
              </a:r>
              <a:r>
                <a:rPr b="1" lang="iw" sz="1000">
                  <a:solidFill>
                    <a:srgbClr val="FFFFFF"/>
                  </a:solidFill>
                  <a:latin typeface="Assistant"/>
                  <a:ea typeface="Assistant"/>
                  <a:cs typeface="Assistant"/>
                  <a:sym typeface="Assistant"/>
                </a:rPr>
                <a:t>SVM:</a:t>
              </a:r>
              <a:r>
                <a:rPr b="0" lang="iw" sz="1000">
                  <a:solidFill>
                    <a:srgbClr val="A0B2C6"/>
                  </a:solidFill>
                  <a:latin typeface="Assistant"/>
                  <a:ea typeface="Assistant"/>
                  <a:cs typeface="Assistant"/>
                  <a:sym typeface="Assistant"/>
                </a:rPr>
                <a:t> הציג ביצועים גבוהים ויציבים מאוד עם דיוק ממוצע של </a:t>
              </a:r>
              <a:r>
                <a:rPr b="1" lang="iw" sz="1000">
                  <a:solidFill>
                    <a:srgbClr val="FFFFFF"/>
                  </a:solidFill>
                  <a:latin typeface="Assistant"/>
                  <a:ea typeface="Assistant"/>
                  <a:cs typeface="Assistant"/>
                  <a:sym typeface="Assistant"/>
                </a:rPr>
                <a:t>92.10%</a:t>
              </a:r>
              <a:r>
                <a:rPr b="0" lang="iw" sz="1000">
                  <a:solidFill>
                    <a:srgbClr val="A0B2C6"/>
                  </a:solidFill>
                  <a:latin typeface="Assistant"/>
                  <a:ea typeface="Assistant"/>
                  <a:cs typeface="Assistant"/>
                  <a:sym typeface="Assistant"/>
                </a:rPr>
                <a:t>.</a:t>
              </a:r>
              <a:endParaRPr b="0" sz="1000">
                <a:solidFill>
                  <a:srgbClr val="A0B2C6"/>
                </a:solidFill>
                <a:latin typeface="Assistant"/>
                <a:ea typeface="Assistant"/>
                <a:cs typeface="Assistant"/>
                <a:sym typeface="Assistant"/>
              </a:endParaRPr>
            </a:p>
            <a:p>
              <a:pPr indent="0" lvl="0" marL="0" rtl="1" algn="r">
                <a:spcBef>
                  <a:spcPts val="400"/>
                </a:spcBef>
                <a:spcAft>
                  <a:spcPts val="0"/>
                </a:spcAft>
                <a:buNone/>
              </a:pPr>
              <a:r>
                <a:rPr b="0" lang="iw" sz="1000">
                  <a:solidFill>
                    <a:srgbClr val="A0B2C6"/>
                  </a:solidFill>
                  <a:latin typeface="Assistant"/>
                  <a:ea typeface="Assistant"/>
                  <a:cs typeface="Assistant"/>
                  <a:sym typeface="Assistant"/>
                </a:rPr>
                <a:t>• </a:t>
              </a:r>
              <a:r>
                <a:rPr b="1" lang="iw" sz="1000">
                  <a:solidFill>
                    <a:srgbClr val="FFFFFF"/>
                  </a:solidFill>
                  <a:latin typeface="Assistant"/>
                  <a:ea typeface="Assistant"/>
                  <a:cs typeface="Assistant"/>
                  <a:sym typeface="Assistant"/>
                </a:rPr>
                <a:t>Logistic Regression &amp; KNN:</a:t>
              </a:r>
              <a:r>
                <a:rPr b="0" lang="iw" sz="1000">
                  <a:solidFill>
                    <a:srgbClr val="A0B2C6"/>
                  </a:solidFill>
                  <a:latin typeface="Assistant"/>
                  <a:ea typeface="Assistant"/>
                  <a:cs typeface="Assistant"/>
                  <a:sym typeface="Assistant"/>
                </a:rPr>
                <a:t> הציגו ביצועים נמוכים יותר באופן עקבי לאורך כלל החלוקות.</a:t>
              </a:r>
              <a:endParaRPr b="0" sz="1000">
                <a:solidFill>
                  <a:srgbClr val="A0B2C6"/>
                </a:solidFill>
                <a:latin typeface="Assistant"/>
                <a:ea typeface="Assistant"/>
                <a:cs typeface="Assistant"/>
                <a:sym typeface="Assistant"/>
              </a:endParaRPr>
            </a:p>
          </p:txBody>
        </p:sp>
      </p:grpSp>
      <p:sp>
        <p:nvSpPr>
          <p:cNvPr id="550" name="Google Shape;550;p35"/>
          <p:cNvSpPr txBox="1"/>
          <p:nvPr/>
        </p:nvSpPr>
        <p:spPr>
          <a:xfrm>
            <a:off x="265575" y="4550175"/>
            <a:ext cx="8555100" cy="346200"/>
          </a:xfrm>
          <a:prstGeom prst="rect">
            <a:avLst/>
          </a:prstGeom>
          <a:noFill/>
          <a:ln>
            <a:noFill/>
          </a:ln>
        </p:spPr>
        <p:txBody>
          <a:bodyPr anchorCtr="0" anchor="t" bIns="91425" lIns="91425" spcFirstLastPara="1" rIns="91425" wrap="square" tIns="91425">
            <a:spAutoFit/>
          </a:bodyPr>
          <a:lstStyle/>
          <a:p>
            <a:pPr indent="0" lvl="0" marL="0" rtl="1" algn="r">
              <a:spcBef>
                <a:spcPts val="0"/>
              </a:spcBef>
              <a:spcAft>
                <a:spcPts val="0"/>
              </a:spcAft>
              <a:buNone/>
            </a:pPr>
            <a:r>
              <a:rPr lang="iw" sz="1050">
                <a:solidFill>
                  <a:srgbClr val="7A8D9E"/>
                </a:solidFill>
                <a:latin typeface="Assistant"/>
                <a:ea typeface="Assistant"/>
                <a:cs typeface="Assistant"/>
                <a:sym typeface="Assistant"/>
              </a:rPr>
              <a:t>מסקנה: תוצאות ה־Cross Validation מחזקות את מסקנות המאמר ומראות כי Random Forest הוא גם המודל המדויק ביותר וגם היציב ביותר עבור דאטהסט זה. </a:t>
            </a:r>
            <a:endParaRPr sz="1050">
              <a:solidFill>
                <a:srgbClr val="7A8D9E"/>
              </a:solidFill>
              <a:latin typeface="Assistant"/>
              <a:ea typeface="Assistant"/>
              <a:cs typeface="Assistant"/>
              <a:sym typeface="Assistant"/>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212C"/>
        </a:solidFill>
      </p:bgPr>
    </p:bg>
    <p:spTree>
      <p:nvGrpSpPr>
        <p:cNvPr id="554" name="Shape 554"/>
        <p:cNvGrpSpPr/>
        <p:nvPr/>
      </p:nvGrpSpPr>
      <p:grpSpPr>
        <a:xfrm>
          <a:off x="0" y="0"/>
          <a:ext cx="0" cy="0"/>
          <a:chOff x="0" y="0"/>
          <a:chExt cx="0" cy="0"/>
        </a:xfrm>
      </p:grpSpPr>
      <p:grpSp>
        <p:nvGrpSpPr>
          <p:cNvPr id="555" name="Google Shape;555;p36"/>
          <p:cNvGrpSpPr/>
          <p:nvPr/>
        </p:nvGrpSpPr>
        <p:grpSpPr>
          <a:xfrm>
            <a:off x="1619250" y="238125"/>
            <a:ext cx="6953400" cy="695250"/>
            <a:chOff x="1619250" y="238125"/>
            <a:chExt cx="6953400" cy="695250"/>
          </a:xfrm>
        </p:grpSpPr>
        <p:sp>
          <p:nvSpPr>
            <p:cNvPr id="556" name="Google Shape;556;p36"/>
            <p:cNvSpPr txBox="1"/>
            <p:nvPr/>
          </p:nvSpPr>
          <p:spPr>
            <a:xfrm>
              <a:off x="4381500" y="238125"/>
              <a:ext cx="4191000" cy="428700"/>
            </a:xfrm>
            <a:prstGeom prst="rect">
              <a:avLst/>
            </a:prstGeom>
            <a:noFill/>
            <a:ln>
              <a:noFill/>
            </a:ln>
          </p:spPr>
          <p:txBody>
            <a:bodyPr anchorCtr="0" anchor="ctr" bIns="0" lIns="0" spcFirstLastPara="1" rIns="0" wrap="square" tIns="0">
              <a:noAutofit/>
            </a:bodyPr>
            <a:lstStyle/>
            <a:p>
              <a:pPr indent="0" lvl="0" marL="0" rtl="1" algn="r">
                <a:spcBef>
                  <a:spcPts val="0"/>
                </a:spcBef>
                <a:spcAft>
                  <a:spcPts val="0"/>
                </a:spcAft>
                <a:buNone/>
              </a:pPr>
              <a:r>
                <a:rPr b="0" lang="iw" sz="2400">
                  <a:solidFill>
                    <a:srgbClr val="FFFFFF"/>
                  </a:solidFill>
                  <a:latin typeface="Assistant ExtraBold"/>
                  <a:ea typeface="Assistant ExtraBold"/>
                  <a:cs typeface="Assistant ExtraBold"/>
                  <a:sym typeface="Assistant ExtraBold"/>
                </a:rPr>
                <a:t>מסקנות ותובנות מהמחקר</a:t>
              </a:r>
              <a:endParaRPr b="0" sz="2400">
                <a:solidFill>
                  <a:srgbClr val="FFFFFF"/>
                </a:solidFill>
                <a:latin typeface="Assistant ExtraBold"/>
                <a:ea typeface="Assistant ExtraBold"/>
                <a:cs typeface="Assistant ExtraBold"/>
                <a:sym typeface="Assistant ExtraBold"/>
              </a:endParaRPr>
            </a:p>
          </p:txBody>
        </p:sp>
        <p:sp>
          <p:nvSpPr>
            <p:cNvPr id="557" name="Google Shape;557;p36"/>
            <p:cNvSpPr txBox="1"/>
            <p:nvPr/>
          </p:nvSpPr>
          <p:spPr>
            <a:xfrm>
              <a:off x="1619250" y="600075"/>
              <a:ext cx="6953400" cy="333300"/>
            </a:xfrm>
            <a:prstGeom prst="rect">
              <a:avLst/>
            </a:prstGeom>
            <a:noFill/>
            <a:ln>
              <a:noFill/>
            </a:ln>
          </p:spPr>
          <p:txBody>
            <a:bodyPr anchorCtr="0" anchor="t" bIns="0" lIns="0" spcFirstLastPara="1" rIns="0" wrap="square" tIns="0">
              <a:noAutofit/>
            </a:bodyPr>
            <a:lstStyle/>
            <a:p>
              <a:pPr indent="0" lvl="0" marL="0" rtl="1" algn="r">
                <a:spcBef>
                  <a:spcPts val="0"/>
                </a:spcBef>
                <a:spcAft>
                  <a:spcPts val="0"/>
                </a:spcAft>
                <a:buNone/>
              </a:pPr>
              <a:r>
                <a:rPr b="0" lang="iw" sz="1000">
                  <a:solidFill>
                    <a:srgbClr val="7A8D9E"/>
                  </a:solidFill>
                  <a:latin typeface="Assistant"/>
                  <a:ea typeface="Assistant"/>
                  <a:cs typeface="Assistant"/>
                  <a:sym typeface="Assistant"/>
                </a:rPr>
                <a:t>סיכום ממצאי השוואת המודלים, השפעת הרחבת הפרויקט והצגת כיוונים אפשריים למחקר והמשך פיתוח.</a:t>
              </a:r>
              <a:endParaRPr b="0" sz="1000">
                <a:solidFill>
                  <a:srgbClr val="7A8D9E"/>
                </a:solidFill>
                <a:latin typeface="Assistant"/>
                <a:ea typeface="Assistant"/>
                <a:cs typeface="Assistant"/>
                <a:sym typeface="Assistant"/>
              </a:endParaRPr>
            </a:p>
          </p:txBody>
        </p:sp>
      </p:grpSp>
      <p:grpSp>
        <p:nvGrpSpPr>
          <p:cNvPr id="558" name="Google Shape;558;p36"/>
          <p:cNvGrpSpPr/>
          <p:nvPr/>
        </p:nvGrpSpPr>
        <p:grpSpPr>
          <a:xfrm>
            <a:off x="4810125" y="904875"/>
            <a:ext cx="3762300" cy="3238500"/>
            <a:chOff x="4810125" y="904875"/>
            <a:chExt cx="3762300" cy="3238500"/>
          </a:xfrm>
        </p:grpSpPr>
        <p:sp>
          <p:nvSpPr>
            <p:cNvPr id="559" name="Google Shape;559;p36"/>
            <p:cNvSpPr/>
            <p:nvPr/>
          </p:nvSpPr>
          <p:spPr>
            <a:xfrm>
              <a:off x="4810125" y="904875"/>
              <a:ext cx="3762300" cy="3238500"/>
            </a:xfrm>
            <a:prstGeom prst="roundRect">
              <a:avLst>
                <a:gd fmla="val 1764" name="adj"/>
              </a:avLst>
            </a:prstGeom>
            <a:solidFill>
              <a:srgbClr val="0E1524"/>
            </a:solidFill>
            <a:ln cap="flat" cmpd="sng" w="9525">
              <a:solidFill>
                <a:srgbClr val="1F2E4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60" name="Google Shape;560;p36"/>
            <p:cNvSpPr/>
            <p:nvPr/>
          </p:nvSpPr>
          <p:spPr>
            <a:xfrm>
              <a:off x="4810125" y="904875"/>
              <a:ext cx="3762300" cy="38100"/>
            </a:xfrm>
            <a:prstGeom prst="rect">
              <a:avLst/>
            </a:prstGeom>
            <a:solidFill>
              <a:srgbClr val="00E5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61" name="Google Shape;561;p36"/>
            <p:cNvSpPr txBox="1"/>
            <p:nvPr/>
          </p:nvSpPr>
          <p:spPr>
            <a:xfrm>
              <a:off x="5000625" y="1047750"/>
              <a:ext cx="3381300" cy="2952900"/>
            </a:xfrm>
            <a:prstGeom prst="rect">
              <a:avLst/>
            </a:prstGeom>
            <a:noFill/>
            <a:ln>
              <a:noFill/>
            </a:ln>
          </p:spPr>
          <p:txBody>
            <a:bodyPr anchorCtr="0" anchor="t" bIns="0" lIns="0" spcFirstLastPara="1" rIns="0" wrap="square" tIns="0">
              <a:noAutofit/>
            </a:bodyPr>
            <a:lstStyle/>
            <a:p>
              <a:pPr indent="0" lvl="0" marL="0" rtl="1" algn="r">
                <a:spcBef>
                  <a:spcPts val="0"/>
                </a:spcBef>
                <a:spcAft>
                  <a:spcPts val="0"/>
                </a:spcAft>
                <a:buNone/>
              </a:pPr>
              <a:r>
                <a:rPr b="1" lang="iw" sz="850">
                  <a:solidFill>
                    <a:srgbClr val="00E5FF"/>
                  </a:solidFill>
                  <a:latin typeface="Courier New"/>
                  <a:ea typeface="Courier New"/>
                  <a:cs typeface="Courier New"/>
                  <a:sym typeface="Courier New"/>
                </a:rPr>
                <a:t>CONCLUSIONS // MODEL_EVALUATION</a:t>
              </a:r>
              <a:endParaRPr b="1" sz="850">
                <a:solidFill>
                  <a:srgbClr val="00E5FF"/>
                </a:solidFill>
                <a:latin typeface="Courier New"/>
                <a:ea typeface="Courier New"/>
                <a:cs typeface="Courier New"/>
                <a:sym typeface="Courier New"/>
              </a:endParaRPr>
            </a:p>
            <a:p>
              <a:pPr indent="0" lvl="0" marL="0" rtl="1" algn="r">
                <a:spcBef>
                  <a:spcPts val="900"/>
                </a:spcBef>
                <a:spcAft>
                  <a:spcPts val="0"/>
                </a:spcAft>
                <a:buNone/>
              </a:pPr>
              <a:r>
                <a:rPr b="1" lang="iw" sz="1400">
                  <a:solidFill>
                    <a:srgbClr val="FFFFFF"/>
                  </a:solidFill>
                  <a:latin typeface="Assistant"/>
                  <a:ea typeface="Assistant"/>
                  <a:cs typeface="Assistant"/>
                  <a:sym typeface="Assistant"/>
                </a:rPr>
                <a:t>מסקנות ותוצאות עיקריות</a:t>
              </a:r>
              <a:endParaRPr b="1" sz="1400">
                <a:solidFill>
                  <a:srgbClr val="FFFFFF"/>
                </a:solidFill>
                <a:latin typeface="Assistant"/>
                <a:ea typeface="Assistant"/>
                <a:cs typeface="Assistant"/>
                <a:sym typeface="Assistant"/>
              </a:endParaRPr>
            </a:p>
            <a:p>
              <a:pPr indent="0" lvl="0" marL="0" rtl="1" algn="r">
                <a:spcBef>
                  <a:spcPts val="900"/>
                </a:spcBef>
                <a:spcAft>
                  <a:spcPts val="0"/>
                </a:spcAft>
                <a:buNone/>
              </a:pPr>
              <a:r>
                <a:rPr b="1" lang="iw" sz="1100">
                  <a:solidFill>
                    <a:srgbClr val="FFFFFF"/>
                  </a:solidFill>
                  <a:latin typeface="Assistant"/>
                  <a:ea typeface="Assistant"/>
                  <a:cs typeface="Assistant"/>
                  <a:sym typeface="Assistant"/>
                </a:rPr>
                <a:t>• Random Forest מוביל בביצועים</a:t>
              </a:r>
              <a:endParaRPr b="1" sz="1100">
                <a:solidFill>
                  <a:srgbClr val="FFFFFF"/>
                </a:solidFill>
                <a:latin typeface="Assistant"/>
                <a:ea typeface="Assistant"/>
                <a:cs typeface="Assistant"/>
                <a:sym typeface="Assistant"/>
              </a:endParaRPr>
            </a:p>
            <a:p>
              <a:pPr indent="0" lvl="0" marL="0" rtl="1" algn="r">
                <a:spcBef>
                  <a:spcPts val="300"/>
                </a:spcBef>
                <a:spcAft>
                  <a:spcPts val="0"/>
                </a:spcAft>
                <a:buNone/>
              </a:pPr>
              <a:r>
                <a:rPr b="0" lang="iw" sz="950">
                  <a:solidFill>
                    <a:srgbClr val="A0B2C6"/>
                  </a:solidFill>
                  <a:latin typeface="Assistant"/>
                  <a:ea typeface="Assistant"/>
                  <a:cs typeface="Assistant"/>
                  <a:sym typeface="Assistant"/>
                </a:rPr>
                <a:t>אלגוריתם ה-Random Forest השיג את התוצאות הטובות ביותר מבין כלל המודלים שנבחנו, עם דיוק ויציבות מירביים.</a:t>
              </a:r>
              <a:endParaRPr b="0" sz="950">
                <a:solidFill>
                  <a:srgbClr val="A0B2C6"/>
                </a:solidFill>
                <a:latin typeface="Assistant"/>
                <a:ea typeface="Assistant"/>
                <a:cs typeface="Assistant"/>
                <a:sym typeface="Assistant"/>
              </a:endParaRPr>
            </a:p>
            <a:p>
              <a:pPr indent="0" lvl="0" marL="0" rtl="1" algn="r">
                <a:spcBef>
                  <a:spcPts val="750"/>
                </a:spcBef>
                <a:spcAft>
                  <a:spcPts val="0"/>
                </a:spcAft>
                <a:buNone/>
              </a:pPr>
              <a:r>
                <a:rPr b="1" lang="iw" sz="1100">
                  <a:solidFill>
                    <a:srgbClr val="FFFFFF"/>
                  </a:solidFill>
                  <a:latin typeface="Assistant"/>
                  <a:ea typeface="Assistant"/>
                  <a:cs typeface="Assistant"/>
                  <a:sym typeface="Assistant"/>
                </a:rPr>
                <a:t>• SVM הציג ביצועים גבוהים</a:t>
              </a:r>
              <a:endParaRPr b="1" sz="1100">
                <a:solidFill>
                  <a:srgbClr val="FFFFFF"/>
                </a:solidFill>
                <a:latin typeface="Assistant"/>
                <a:ea typeface="Assistant"/>
                <a:cs typeface="Assistant"/>
                <a:sym typeface="Assistant"/>
              </a:endParaRPr>
            </a:p>
            <a:p>
              <a:pPr indent="0" lvl="0" marL="0" rtl="1" algn="r">
                <a:spcBef>
                  <a:spcPts val="300"/>
                </a:spcBef>
                <a:spcAft>
                  <a:spcPts val="0"/>
                </a:spcAft>
                <a:buNone/>
              </a:pPr>
              <a:r>
                <a:rPr b="0" lang="iw" sz="950">
                  <a:solidFill>
                    <a:srgbClr val="A0B2C6"/>
                  </a:solidFill>
                  <a:latin typeface="Assistant"/>
                  <a:ea typeface="Assistant"/>
                  <a:cs typeface="Assistant"/>
                  <a:sym typeface="Assistant"/>
                </a:rPr>
                <a:t>מודל ה-SVM הפגין יכולת הכללה מרשימה והיווה מתחרה חזק מאוד בחיזוי מדויק של המחלה.</a:t>
              </a:r>
              <a:endParaRPr b="0" sz="950">
                <a:solidFill>
                  <a:srgbClr val="A0B2C6"/>
                </a:solidFill>
                <a:latin typeface="Assistant"/>
                <a:ea typeface="Assistant"/>
                <a:cs typeface="Assistant"/>
                <a:sym typeface="Assistant"/>
              </a:endParaRPr>
            </a:p>
            <a:p>
              <a:pPr indent="0" lvl="0" marL="0" rtl="1" algn="r">
                <a:spcBef>
                  <a:spcPts val="750"/>
                </a:spcBef>
                <a:spcAft>
                  <a:spcPts val="0"/>
                </a:spcAft>
                <a:buNone/>
              </a:pPr>
              <a:r>
                <a:rPr b="1" lang="iw" sz="1100">
                  <a:solidFill>
                    <a:srgbClr val="FFFFFF"/>
                  </a:solidFill>
                  <a:latin typeface="Assistant"/>
                  <a:ea typeface="Assistant"/>
                  <a:cs typeface="Assistant"/>
                  <a:sym typeface="Assistant"/>
                </a:rPr>
                <a:t>• תרומת הרחבת הפרויקט</a:t>
              </a:r>
              <a:endParaRPr b="1" sz="1100">
                <a:solidFill>
                  <a:srgbClr val="FFFFFF"/>
                </a:solidFill>
                <a:latin typeface="Assistant"/>
                <a:ea typeface="Assistant"/>
                <a:cs typeface="Assistant"/>
                <a:sym typeface="Assistant"/>
              </a:endParaRPr>
            </a:p>
            <a:p>
              <a:pPr indent="0" lvl="0" marL="0" rtl="1" algn="r">
                <a:spcBef>
                  <a:spcPts val="300"/>
                </a:spcBef>
                <a:spcAft>
                  <a:spcPts val="0"/>
                </a:spcAft>
                <a:buNone/>
              </a:pPr>
              <a:r>
                <a:rPr b="0" lang="iw" sz="950">
                  <a:solidFill>
                    <a:srgbClr val="A0B2C6"/>
                  </a:solidFill>
                  <a:latin typeface="Assistant"/>
                  <a:ea typeface="Assistant"/>
                  <a:cs typeface="Assistant"/>
                  <a:sym typeface="Assistant"/>
                </a:rPr>
                <a:t>תהליכי ה-GridSearchCV וה-Cross Validation שיפרו משמעותית את יציבות המודלים ומנעו תופעות של הטיות או התאמת יתר.</a:t>
              </a:r>
              <a:endParaRPr b="0" sz="950">
                <a:solidFill>
                  <a:srgbClr val="A0B2C6"/>
                </a:solidFill>
                <a:latin typeface="Assistant"/>
                <a:ea typeface="Assistant"/>
                <a:cs typeface="Assistant"/>
                <a:sym typeface="Assistant"/>
              </a:endParaRPr>
            </a:p>
            <a:p>
              <a:pPr indent="0" lvl="0" marL="0" rtl="1" algn="r">
                <a:spcBef>
                  <a:spcPts val="750"/>
                </a:spcBef>
                <a:spcAft>
                  <a:spcPts val="0"/>
                </a:spcAft>
                <a:buNone/>
              </a:pPr>
              <a:r>
                <a:rPr b="1" lang="iw" sz="1100">
                  <a:solidFill>
                    <a:srgbClr val="FFFFFF"/>
                  </a:solidFill>
                  <a:latin typeface="Assistant"/>
                  <a:ea typeface="Assistant"/>
                  <a:cs typeface="Assistant"/>
                  <a:sym typeface="Assistant"/>
                </a:rPr>
                <a:t>• זיהוי מוקדם מציל חיים</a:t>
              </a:r>
              <a:endParaRPr b="1" sz="1100">
                <a:solidFill>
                  <a:srgbClr val="FFFFFF"/>
                </a:solidFill>
                <a:latin typeface="Assistant"/>
                <a:ea typeface="Assistant"/>
                <a:cs typeface="Assistant"/>
                <a:sym typeface="Assistant"/>
              </a:endParaRPr>
            </a:p>
            <a:p>
              <a:pPr indent="0" lvl="0" marL="0" rtl="1" algn="r">
                <a:spcBef>
                  <a:spcPts val="300"/>
                </a:spcBef>
                <a:spcAft>
                  <a:spcPts val="0"/>
                </a:spcAft>
                <a:buNone/>
              </a:pPr>
              <a:r>
                <a:rPr b="0" lang="iw" sz="950">
                  <a:solidFill>
                    <a:srgbClr val="A0B2C6"/>
                  </a:solidFill>
                  <a:latin typeface="Assistant"/>
                  <a:ea typeface="Assistant"/>
                  <a:cs typeface="Assistant"/>
                  <a:sym typeface="Assistant"/>
                </a:rPr>
                <a:t>הוכח כי שימוש במודלי למידת מכונה יכול להוות כלי עזר קליני יקיר ערך לרופאים לצורך זיהוי מוקדם של מחלות לב.</a:t>
              </a:r>
              <a:endParaRPr b="0" sz="950">
                <a:solidFill>
                  <a:srgbClr val="A0B2C6"/>
                </a:solidFill>
                <a:latin typeface="Assistant"/>
                <a:ea typeface="Assistant"/>
                <a:cs typeface="Assistant"/>
                <a:sym typeface="Assistant"/>
              </a:endParaRPr>
            </a:p>
          </p:txBody>
        </p:sp>
      </p:grpSp>
      <p:grpSp>
        <p:nvGrpSpPr>
          <p:cNvPr id="562" name="Google Shape;562;p36"/>
          <p:cNvGrpSpPr/>
          <p:nvPr/>
        </p:nvGrpSpPr>
        <p:grpSpPr>
          <a:xfrm>
            <a:off x="571500" y="904875"/>
            <a:ext cx="3762300" cy="3238500"/>
            <a:chOff x="571500" y="904875"/>
            <a:chExt cx="3762300" cy="3238500"/>
          </a:xfrm>
        </p:grpSpPr>
        <p:sp>
          <p:nvSpPr>
            <p:cNvPr id="563" name="Google Shape;563;p36"/>
            <p:cNvSpPr/>
            <p:nvPr/>
          </p:nvSpPr>
          <p:spPr>
            <a:xfrm>
              <a:off x="571500" y="904875"/>
              <a:ext cx="3762300" cy="3238500"/>
            </a:xfrm>
            <a:prstGeom prst="roundRect">
              <a:avLst>
                <a:gd fmla="val 1764" name="adj"/>
              </a:avLst>
            </a:prstGeom>
            <a:solidFill>
              <a:srgbClr val="0E1524"/>
            </a:solidFill>
            <a:ln cap="flat" cmpd="sng" w="9525">
              <a:solidFill>
                <a:srgbClr val="1F2E4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64" name="Google Shape;564;p36"/>
            <p:cNvSpPr/>
            <p:nvPr/>
          </p:nvSpPr>
          <p:spPr>
            <a:xfrm>
              <a:off x="571500" y="904875"/>
              <a:ext cx="3762300" cy="38100"/>
            </a:xfrm>
            <a:prstGeom prst="rect">
              <a:avLst/>
            </a:prstGeom>
            <a:solidFill>
              <a:srgbClr val="10B98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65" name="Google Shape;565;p36"/>
            <p:cNvSpPr txBox="1"/>
            <p:nvPr/>
          </p:nvSpPr>
          <p:spPr>
            <a:xfrm>
              <a:off x="762000" y="1047750"/>
              <a:ext cx="3381300" cy="2952900"/>
            </a:xfrm>
            <a:prstGeom prst="rect">
              <a:avLst/>
            </a:prstGeom>
            <a:noFill/>
            <a:ln>
              <a:noFill/>
            </a:ln>
          </p:spPr>
          <p:txBody>
            <a:bodyPr anchorCtr="0" anchor="t" bIns="0" lIns="0" spcFirstLastPara="1" rIns="0" wrap="square" tIns="0">
              <a:noAutofit/>
            </a:bodyPr>
            <a:lstStyle/>
            <a:p>
              <a:pPr indent="0" lvl="0" marL="0" rtl="1" algn="r">
                <a:spcBef>
                  <a:spcPts val="0"/>
                </a:spcBef>
                <a:spcAft>
                  <a:spcPts val="0"/>
                </a:spcAft>
                <a:buNone/>
              </a:pPr>
              <a:r>
                <a:rPr b="1" lang="iw" sz="850">
                  <a:solidFill>
                    <a:srgbClr val="10B981"/>
                  </a:solidFill>
                  <a:latin typeface="Courier New"/>
                  <a:ea typeface="Courier New"/>
                  <a:cs typeface="Courier New"/>
                  <a:sym typeface="Courier New"/>
                </a:rPr>
                <a:t>FUTURE_WORK // NEXT_STEPS</a:t>
              </a:r>
              <a:endParaRPr b="1" sz="850">
                <a:solidFill>
                  <a:srgbClr val="10B981"/>
                </a:solidFill>
                <a:latin typeface="Courier New"/>
                <a:ea typeface="Courier New"/>
                <a:cs typeface="Courier New"/>
                <a:sym typeface="Courier New"/>
              </a:endParaRPr>
            </a:p>
            <a:p>
              <a:pPr indent="0" lvl="0" marL="0" rtl="1" algn="r">
                <a:spcBef>
                  <a:spcPts val="900"/>
                </a:spcBef>
                <a:spcAft>
                  <a:spcPts val="0"/>
                </a:spcAft>
                <a:buNone/>
              </a:pPr>
              <a:r>
                <a:rPr b="1" lang="iw" sz="1400">
                  <a:solidFill>
                    <a:srgbClr val="FFFFFF"/>
                  </a:solidFill>
                  <a:latin typeface="Assistant"/>
                  <a:ea typeface="Assistant"/>
                  <a:cs typeface="Assistant"/>
                  <a:sym typeface="Assistant"/>
                </a:rPr>
                <a:t>כיווני מחקר ועבודות עתידיות</a:t>
              </a:r>
              <a:endParaRPr b="1" sz="1400">
                <a:solidFill>
                  <a:srgbClr val="FFFFFF"/>
                </a:solidFill>
                <a:latin typeface="Assistant"/>
                <a:ea typeface="Assistant"/>
                <a:cs typeface="Assistant"/>
                <a:sym typeface="Assistant"/>
              </a:endParaRPr>
            </a:p>
            <a:p>
              <a:pPr indent="0" lvl="0" marL="0" rtl="1" algn="r">
                <a:spcBef>
                  <a:spcPts val="900"/>
                </a:spcBef>
                <a:spcAft>
                  <a:spcPts val="0"/>
                </a:spcAft>
                <a:buNone/>
              </a:pPr>
              <a:r>
                <a:rPr b="1" lang="iw" sz="1100">
                  <a:solidFill>
                    <a:srgbClr val="FFFFFF"/>
                  </a:solidFill>
                  <a:latin typeface="Assistant"/>
                  <a:ea typeface="Assistant"/>
                  <a:cs typeface="Assistant"/>
                  <a:sym typeface="Assistant"/>
                </a:rPr>
                <a:t>• שילוב למידה עמוקה (Deep Learning)</a:t>
              </a:r>
              <a:endParaRPr b="1" sz="1100">
                <a:solidFill>
                  <a:srgbClr val="FFFFFF"/>
                </a:solidFill>
                <a:latin typeface="Assistant"/>
                <a:ea typeface="Assistant"/>
                <a:cs typeface="Assistant"/>
                <a:sym typeface="Assistant"/>
              </a:endParaRPr>
            </a:p>
            <a:p>
              <a:pPr indent="0" lvl="0" marL="0" rtl="1" algn="r">
                <a:spcBef>
                  <a:spcPts val="300"/>
                </a:spcBef>
                <a:spcAft>
                  <a:spcPts val="0"/>
                </a:spcAft>
                <a:buNone/>
              </a:pPr>
              <a:r>
                <a:rPr b="0" lang="iw" sz="950">
                  <a:solidFill>
                    <a:srgbClr val="A0B2C6"/>
                  </a:solidFill>
                  <a:latin typeface="Assistant"/>
                  <a:ea typeface="Assistant"/>
                  <a:cs typeface="Assistant"/>
                  <a:sym typeface="Assistant"/>
                </a:rPr>
                <a:t>מעבר מרשתות שטוחות לשימוש בארכיטקטורות מורכבות של Deep Learning (כמו MLP או RNN) לשיפור איכות המידול של קשרים לא ליניאריים בנתונים הרפואיים.</a:t>
              </a:r>
              <a:endParaRPr b="0" sz="950">
                <a:solidFill>
                  <a:srgbClr val="A0B2C6"/>
                </a:solidFill>
                <a:latin typeface="Assistant"/>
                <a:ea typeface="Assistant"/>
                <a:cs typeface="Assistant"/>
                <a:sym typeface="Assistant"/>
              </a:endParaRPr>
            </a:p>
            <a:p>
              <a:pPr indent="0" lvl="0" marL="0" rtl="1" algn="r">
                <a:spcBef>
                  <a:spcPts val="900"/>
                </a:spcBef>
                <a:spcAft>
                  <a:spcPts val="0"/>
                </a:spcAft>
                <a:buNone/>
              </a:pPr>
              <a:r>
                <a:rPr b="1" lang="iw" sz="1100">
                  <a:solidFill>
                    <a:srgbClr val="FFFFFF"/>
                  </a:solidFill>
                  <a:latin typeface="Assistant"/>
                  <a:ea typeface="Assistant"/>
                  <a:cs typeface="Assistant"/>
                  <a:sym typeface="Assistant"/>
                </a:rPr>
                <a:t>• עיבוד נתונים בזמן אמת (Real-Time Data)</a:t>
              </a:r>
              <a:endParaRPr b="1" sz="1100">
                <a:solidFill>
                  <a:srgbClr val="FFFFFF"/>
                </a:solidFill>
                <a:latin typeface="Assistant"/>
                <a:ea typeface="Assistant"/>
                <a:cs typeface="Assistant"/>
                <a:sym typeface="Assistant"/>
              </a:endParaRPr>
            </a:p>
            <a:p>
              <a:pPr indent="0" lvl="0" marL="0" rtl="1" algn="r">
                <a:spcBef>
                  <a:spcPts val="300"/>
                </a:spcBef>
                <a:spcAft>
                  <a:spcPts val="0"/>
                </a:spcAft>
                <a:buNone/>
              </a:pPr>
              <a:r>
                <a:rPr b="0" lang="iw" sz="950">
                  <a:solidFill>
                    <a:srgbClr val="A0B2C6"/>
                  </a:solidFill>
                  <a:latin typeface="Assistant"/>
                  <a:ea typeface="Assistant"/>
                  <a:cs typeface="Assistant"/>
                  <a:sym typeface="Assistant"/>
                </a:rPr>
                <a:t>פיתוח תשתית קליטה וניתוח המאפשרת להזרים נתוני מטופלים בזמן אמת ולקבל חיזויים מיידיים לתמיכה בהחלטות רפואיות דחופות.</a:t>
              </a:r>
              <a:endParaRPr b="0" sz="950">
                <a:solidFill>
                  <a:srgbClr val="A0B2C6"/>
                </a:solidFill>
                <a:latin typeface="Assistant"/>
                <a:ea typeface="Assistant"/>
                <a:cs typeface="Assistant"/>
                <a:sym typeface="Assistant"/>
              </a:endParaRPr>
            </a:p>
            <a:p>
              <a:pPr indent="0" lvl="0" marL="0" rtl="1" algn="r">
                <a:spcBef>
                  <a:spcPts val="900"/>
                </a:spcBef>
                <a:spcAft>
                  <a:spcPts val="0"/>
                </a:spcAft>
                <a:buNone/>
              </a:pPr>
              <a:r>
                <a:rPr b="1" lang="iw" sz="1100">
                  <a:solidFill>
                    <a:srgbClr val="FFFFFF"/>
                  </a:solidFill>
                  <a:latin typeface="Assistant"/>
                  <a:ea typeface="Assistant"/>
                  <a:cs typeface="Assistant"/>
                  <a:sym typeface="Assistant"/>
                </a:rPr>
                <a:t>• אינטגרציה עם מכשירים לבישים (Wearable Devices)</a:t>
              </a:r>
              <a:endParaRPr b="1" sz="1100">
                <a:solidFill>
                  <a:srgbClr val="FFFFFF"/>
                </a:solidFill>
                <a:latin typeface="Assistant"/>
                <a:ea typeface="Assistant"/>
                <a:cs typeface="Assistant"/>
                <a:sym typeface="Assistant"/>
              </a:endParaRPr>
            </a:p>
            <a:p>
              <a:pPr indent="0" lvl="0" marL="0" rtl="1" algn="r">
                <a:spcBef>
                  <a:spcPts val="300"/>
                </a:spcBef>
                <a:spcAft>
                  <a:spcPts val="0"/>
                </a:spcAft>
                <a:buNone/>
              </a:pPr>
              <a:r>
                <a:rPr b="0" lang="iw" sz="950">
                  <a:solidFill>
                    <a:srgbClr val="A0B2C6"/>
                  </a:solidFill>
                  <a:latin typeface="Assistant"/>
                  <a:ea typeface="Assistant"/>
                  <a:cs typeface="Assistant"/>
                  <a:sym typeface="Assistant"/>
                </a:rPr>
                <a:t>חיבור המודלים למדדים המופקים משעונים חכמים וסנסורים לבישים (כגון דופק רציף ורמות חמצן) לצורך ניטור קבוע וחיזוי מוקדם של אירועי לב בסביבה היומיומית.</a:t>
              </a:r>
              <a:endParaRPr b="0" sz="950">
                <a:solidFill>
                  <a:srgbClr val="A0B2C6"/>
                </a:solidFill>
                <a:latin typeface="Assistant"/>
                <a:ea typeface="Assistant"/>
                <a:cs typeface="Assistant"/>
                <a:sym typeface="Assistant"/>
              </a:endParaRPr>
            </a:p>
          </p:txBody>
        </p:sp>
      </p:grpSp>
      <p:grpSp>
        <p:nvGrpSpPr>
          <p:cNvPr id="566" name="Google Shape;566;p36"/>
          <p:cNvGrpSpPr/>
          <p:nvPr/>
        </p:nvGrpSpPr>
        <p:grpSpPr>
          <a:xfrm>
            <a:off x="571500" y="4333875"/>
            <a:ext cx="8001000" cy="362100"/>
            <a:chOff x="571500" y="4333875"/>
            <a:chExt cx="8001000" cy="362100"/>
          </a:xfrm>
        </p:grpSpPr>
        <p:sp>
          <p:nvSpPr>
            <p:cNvPr id="567" name="Google Shape;567;p36"/>
            <p:cNvSpPr/>
            <p:nvPr/>
          </p:nvSpPr>
          <p:spPr>
            <a:xfrm>
              <a:off x="571500" y="4333875"/>
              <a:ext cx="8001000" cy="362100"/>
            </a:xfrm>
            <a:prstGeom prst="roundRect">
              <a:avLst>
                <a:gd fmla="val 10526" name="adj"/>
              </a:avLst>
            </a:prstGeom>
            <a:solidFill>
              <a:srgbClr val="0A0E1A"/>
            </a:solidFill>
            <a:ln cap="flat" cmpd="sng" w="9525">
              <a:solidFill>
                <a:srgbClr val="1F2E4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68" name="Google Shape;568;p36"/>
            <p:cNvSpPr/>
            <p:nvPr/>
          </p:nvSpPr>
          <p:spPr>
            <a:xfrm>
              <a:off x="7772400" y="4476750"/>
              <a:ext cx="76200" cy="76200"/>
            </a:xfrm>
            <a:prstGeom prst="ellipse">
              <a:avLst/>
            </a:prstGeom>
            <a:solidFill>
              <a:srgbClr val="10B98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69" name="Google Shape;569;p36"/>
            <p:cNvSpPr txBox="1"/>
            <p:nvPr/>
          </p:nvSpPr>
          <p:spPr>
            <a:xfrm>
              <a:off x="714375" y="4333875"/>
              <a:ext cx="6905700" cy="362100"/>
            </a:xfrm>
            <a:prstGeom prst="rect">
              <a:avLst/>
            </a:prstGeom>
            <a:noFill/>
            <a:ln>
              <a:noFill/>
            </a:ln>
          </p:spPr>
          <p:txBody>
            <a:bodyPr anchorCtr="0" anchor="ctr" bIns="0" lIns="0" spcFirstLastPara="1" rIns="0" wrap="square" tIns="0">
              <a:noAutofit/>
            </a:bodyPr>
            <a:lstStyle/>
            <a:p>
              <a:pPr indent="0" lvl="0" marL="0" rtl="1" algn="r">
                <a:spcBef>
                  <a:spcPts val="0"/>
                </a:spcBef>
                <a:spcAft>
                  <a:spcPts val="0"/>
                </a:spcAft>
                <a:buNone/>
              </a:pPr>
              <a:r>
                <a:rPr b="1" lang="iw" sz="900">
                  <a:solidFill>
                    <a:srgbClr val="10B981"/>
                  </a:solidFill>
                  <a:latin typeface="Courier New"/>
                  <a:ea typeface="Courier New"/>
                  <a:cs typeface="Courier New"/>
                  <a:sym typeface="Courier New"/>
                </a:rPr>
                <a:t>שורה תחתונה: </a:t>
              </a:r>
              <a:r>
                <a:rPr b="0" lang="iw" sz="900">
                  <a:solidFill>
                    <a:srgbClr val="7A8D9E"/>
                  </a:solidFill>
                  <a:latin typeface="Assistant"/>
                  <a:ea typeface="Assistant"/>
                  <a:cs typeface="Assistant"/>
                  <a:sym typeface="Assistant"/>
                </a:rPr>
                <a:t>למידת מכונה מוכיחה את עצמה כארגז כלים קריטי לאבחון רפואי מונע, כאשר הרחבות מתקדמות ושילוב נתוני זמן אמת הם המפתח לשלב הפיתוח הבא.</a:t>
              </a:r>
              <a:endParaRPr b="1" sz="900">
                <a:solidFill>
                  <a:srgbClr val="10B981"/>
                </a:solidFill>
                <a:latin typeface="Courier New"/>
                <a:ea typeface="Courier New"/>
                <a:cs typeface="Courier New"/>
                <a:sym typeface="Courier New"/>
              </a:endParaRPr>
            </a:p>
          </p:txBody>
        </p:sp>
      </p:gr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Focus">
  <a:themeElements>
    <a:clrScheme name="Focus">
      <a:dk1>
        <a:srgbClr val="1B212C"/>
      </a:dk1>
      <a:lt1>
        <a:srgbClr val="FFFFFF"/>
      </a:lt1>
      <a:dk2>
        <a:srgbClr val="D9D9D9"/>
      </a:dk2>
      <a:lt2>
        <a:srgbClr val="82C7A5"/>
      </a:lt2>
      <a:accent1>
        <a:srgbClr val="0145AC"/>
      </a:accent1>
      <a:accent2>
        <a:srgbClr val="EECE1A"/>
      </a:accent2>
      <a:accent3>
        <a:srgbClr val="4E5567"/>
      </a:accent3>
      <a:accent4>
        <a:srgbClr val="F4D6AD"/>
      </a:accent4>
      <a:accent5>
        <a:srgbClr val="7890CD"/>
      </a:accent5>
      <a:accent6>
        <a:srgbClr val="F15E22"/>
      </a:accent6>
      <a:hlink>
        <a:srgbClr val="7890CD"/>
      </a:hlink>
      <a:folHlink>
        <a:srgbClr val="7890C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