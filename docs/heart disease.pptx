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Black"/>
      <p:bold r:id="rId30"/>
      <p:boldItalic r:id="rId31"/>
    </p:embeddedFont>
    <p:embeddedFont>
      <p:font typeface="Montserrat"/>
      <p:regular r:id="rId32"/>
      <p:bold r:id="rId33"/>
      <p:italic r:id="rId34"/>
      <p:boldItalic r:id="rId35"/>
    </p:embeddedFont>
    <p:embeddedFont>
      <p:font typeface="Lato"/>
      <p:regular r:id="rId36"/>
      <p:bold r:id="rId37"/>
      <p:italic r:id="rId38"/>
      <p:boldItalic r:id="rId39"/>
    </p:embeddedFont>
    <p:embeddedFont>
      <p:font typeface="Assistant"/>
      <p:regular r:id="rId40"/>
      <p:bold r:id="rId41"/>
    </p:embeddedFont>
    <p:embeddedFont>
      <p:font typeface="Assistant ExtraBold"/>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DBEA51-1367-44D0-BEA1-586531EC675E}">
  <a:tblStyle styleId="{02DBEA51-1367-44D0-BEA1-586531EC675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ssistant-regular.fntdata"/><Relationship Id="rId20" Type="http://schemas.openxmlformats.org/officeDocument/2006/relationships/slide" Target="slides/slide14.xml"/><Relationship Id="rId42" Type="http://schemas.openxmlformats.org/officeDocument/2006/relationships/font" Target="fonts/AssistantExtraBold-bold.fntdata"/><Relationship Id="rId41" Type="http://schemas.openxmlformats.org/officeDocument/2006/relationships/font" Target="fonts/Assistant-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lack-boldItalic.fntdata"/><Relationship Id="rId30" Type="http://schemas.openxmlformats.org/officeDocument/2006/relationships/font" Target="fonts/RobotoBlack-bold.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5390e222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5390e222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5390e222b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5390e222b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390e222b_5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5390e222b_5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5390e222b_0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5390e222b_0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5390e222b_55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5390e222b_55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5390e222b_55_4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5390e222b_55_4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5390e222b_55_4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5390e222b_55_4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5390e222b_55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5390e222b_55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5390e222b_55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5390e222b_55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5390e222b_55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5390e222b_55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5390e222b_55_1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f5390e222b_55_1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5390e222b_55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f5390e222b_55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5390e222b_55_2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f5390e222b_55_2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390e222b_55_2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5390e222b_55_2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5390e222b_55_4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f5390e222b_55_4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5390e222b_55_4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f5390e222b_55_4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5390e222b_55_4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5390e222b_55_4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5390e222b_55_5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5390e222b_55_5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5390e222b_55_3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f5390e222b_55_3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5390e222b_55_5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5390e222b_55_5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5390e222b_55_5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f5390e222b_55_5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5390e222b_55_3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f5390e222b_55_3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5390e222b_7_0)">
  <p:cSld name="Generated (g3f5390e222b_7_0)">
    <p:spTree>
      <p:nvGrpSpPr>
        <p:cNvPr id="130" name="Shape 1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29.png"/><Relationship Id="rId13" Type="http://schemas.openxmlformats.org/officeDocument/2006/relationships/image" Target="../media/image34.png"/><Relationship Id="rId12" Type="http://schemas.openxmlformats.org/officeDocument/2006/relationships/image" Target="../media/image17.pn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32.png"/><Relationship Id="rId9" Type="http://schemas.openxmlformats.org/officeDocument/2006/relationships/image" Target="../media/image22.png"/><Relationship Id="rId14" Type="http://schemas.openxmlformats.org/officeDocument/2006/relationships/image" Target="../media/image15.png"/><Relationship Id="rId5" Type="http://schemas.openxmlformats.org/officeDocument/2006/relationships/image" Target="../media/image37.png"/><Relationship Id="rId6" Type="http://schemas.openxmlformats.org/officeDocument/2006/relationships/image" Target="../media/image20.png"/><Relationship Id="rId7" Type="http://schemas.openxmlformats.org/officeDocument/2006/relationships/image" Target="../media/image39.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ctrTitle"/>
          </p:nvPr>
        </p:nvSpPr>
        <p:spPr>
          <a:xfrm>
            <a:off x="2407300" y="1494100"/>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iw"/>
              <a:t>heart disease </a:t>
            </a:r>
            <a:endParaRPr b="1"/>
          </a:p>
        </p:txBody>
      </p:sp>
      <p:sp>
        <p:nvSpPr>
          <p:cNvPr id="136" name="Google Shape;136;p14"/>
          <p:cNvSpPr txBox="1"/>
          <p:nvPr>
            <p:ph idx="1" type="subTitle"/>
          </p:nvPr>
        </p:nvSpPr>
        <p:spPr>
          <a:xfrm>
            <a:off x="3092400" y="4074075"/>
            <a:ext cx="3470700" cy="506100"/>
          </a:xfrm>
          <a:prstGeom prst="rect">
            <a:avLst/>
          </a:prstGeom>
        </p:spPr>
        <p:txBody>
          <a:bodyPr anchorCtr="0" anchor="t" bIns="91425" lIns="91425" spcFirstLastPara="1" rIns="91425" wrap="square" tIns="91425">
            <a:normAutofit lnSpcReduction="20000"/>
          </a:bodyPr>
          <a:lstStyle/>
          <a:p>
            <a:pPr indent="0" lvl="0" marL="0" rtl="1" algn="ctr">
              <a:spcBef>
                <a:spcPts val="0"/>
              </a:spcBef>
              <a:spcAft>
                <a:spcPts val="0"/>
              </a:spcAft>
              <a:buNone/>
            </a:pPr>
            <a:r>
              <a:rPr lang="iw"/>
              <a:t>מגישות: דניאל חיים 315573998</a:t>
            </a:r>
            <a:br>
              <a:rPr lang="iw"/>
            </a:br>
            <a:r>
              <a:rPr lang="iw"/>
              <a:t>עופרי עזר 208581561</a:t>
            </a:r>
            <a:endParaRPr/>
          </a:p>
        </p:txBody>
      </p:sp>
      <p:sp>
        <p:nvSpPr>
          <p:cNvPr id="137" name="Google Shape;137;p14"/>
          <p:cNvSpPr txBox="1"/>
          <p:nvPr/>
        </p:nvSpPr>
        <p:spPr>
          <a:xfrm>
            <a:off x="1368950" y="673575"/>
            <a:ext cx="6858000" cy="71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iw" sz="2960">
                <a:solidFill>
                  <a:srgbClr val="FFFFFF"/>
                </a:solidFill>
                <a:latin typeface="Roboto Black"/>
                <a:ea typeface="Roboto Black"/>
                <a:cs typeface="Roboto Black"/>
                <a:sym typeface="Roboto Black"/>
              </a:rPr>
              <a:t>קורס למידת מכונה</a:t>
            </a:r>
            <a:endParaRPr b="0" sz="2960">
              <a:solidFill>
                <a:srgbClr val="FFFFFF"/>
              </a:solidFill>
              <a:latin typeface="Roboto Black"/>
              <a:ea typeface="Roboto Black"/>
              <a:cs typeface="Roboto Black"/>
              <a:sym typeface="Roboto Black"/>
            </a:endParaRPr>
          </a:p>
          <a:p>
            <a:pPr indent="0" lvl="0" marL="0" rtl="0" algn="ctr">
              <a:spcBef>
                <a:spcPts val="375"/>
              </a:spcBef>
              <a:spcAft>
                <a:spcPts val="0"/>
              </a:spcAft>
              <a:buNone/>
            </a:pPr>
            <a:r>
              <a:rPr b="1" lang="iw" sz="1295">
                <a:solidFill>
                  <a:srgbClr val="00E5FF"/>
                </a:solidFill>
                <a:latin typeface="Courier New"/>
                <a:ea typeface="Courier New"/>
                <a:cs typeface="Courier New"/>
                <a:sym typeface="Courier New"/>
              </a:rPr>
              <a:t>MACHINE LEARNING ARCHITECTURES</a:t>
            </a:r>
            <a:endParaRPr b="1" sz="1295">
              <a:solidFill>
                <a:srgbClr val="00E5FF"/>
              </a:solidFill>
              <a:latin typeface="Courier New"/>
              <a:ea typeface="Courier New"/>
              <a:cs typeface="Courier New"/>
              <a:sym typeface="Courier New"/>
            </a:endParaRPr>
          </a:p>
        </p:txBody>
      </p:sp>
      <p:pic>
        <p:nvPicPr>
          <p:cNvPr id="138" name="Google Shape;138;p14"/>
          <p:cNvPicPr preferRelativeResize="0"/>
          <p:nvPr/>
        </p:nvPicPr>
        <p:blipFill>
          <a:blip r:embed="rId3">
            <a:alphaModFix/>
          </a:blip>
          <a:stretch>
            <a:fillRect/>
          </a:stretch>
        </p:blipFill>
        <p:spPr>
          <a:xfrm>
            <a:off x="4027475" y="2350375"/>
            <a:ext cx="1600551" cy="16005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44" name="Google Shape;144;p15"/>
          <p:cNvPicPr preferRelativeResize="0"/>
          <p:nvPr/>
        </p:nvPicPr>
        <p:blipFill rotWithShape="1">
          <a:blip r:embed="rId4">
            <a:alphaModFix/>
          </a:blip>
          <a:srcRect b="0" l="0" r="0" t="0"/>
          <a:stretch/>
        </p:blipFill>
        <p:spPr>
          <a:xfrm>
            <a:off x="5843588" y="-1404937"/>
            <a:ext cx="3300300" cy="4524300"/>
          </a:xfrm>
          <a:prstGeom prst="rect">
            <a:avLst/>
          </a:prstGeom>
          <a:noFill/>
          <a:ln>
            <a:noFill/>
          </a:ln>
        </p:spPr>
      </p:pic>
      <p:pic>
        <p:nvPicPr>
          <p:cNvPr id="145" name="Google Shape;145;p15"/>
          <p:cNvPicPr preferRelativeResize="0"/>
          <p:nvPr/>
        </p:nvPicPr>
        <p:blipFill rotWithShape="1">
          <a:blip r:embed="rId5">
            <a:alphaModFix/>
          </a:blip>
          <a:srcRect b="0" l="0" r="0" t="0"/>
          <a:stretch/>
        </p:blipFill>
        <p:spPr>
          <a:xfrm>
            <a:off x="-2009775" y="1309688"/>
            <a:ext cx="5924700" cy="3833700"/>
          </a:xfrm>
          <a:prstGeom prst="rect">
            <a:avLst/>
          </a:prstGeom>
          <a:noFill/>
          <a:ln>
            <a:noFill/>
          </a:ln>
        </p:spPr>
      </p:pic>
      <p:grpSp>
        <p:nvGrpSpPr>
          <p:cNvPr id="146" name="Google Shape;146;p15"/>
          <p:cNvGrpSpPr/>
          <p:nvPr/>
        </p:nvGrpSpPr>
        <p:grpSpPr>
          <a:xfrm>
            <a:off x="0" y="0"/>
            <a:ext cx="9067800" cy="5067300"/>
            <a:chOff x="0" y="0"/>
            <a:chExt cx="9067800" cy="5067300"/>
          </a:xfrm>
        </p:grpSpPr>
        <p:pic>
          <p:nvPicPr>
            <p:cNvPr id="147" name="Google Shape;147;p15"/>
            <p:cNvPicPr preferRelativeResize="0"/>
            <p:nvPr/>
          </p:nvPicPr>
          <p:blipFill rotWithShape="1">
            <a:blip r:embed="rId6">
              <a:alphaModFix/>
            </a:blip>
            <a:srcRect b="0" l="0" r="0" t="0"/>
            <a:stretch/>
          </p:blipFill>
          <p:spPr>
            <a:xfrm>
              <a:off x="0" y="947738"/>
              <a:ext cx="9067800" cy="3438600"/>
            </a:xfrm>
            <a:prstGeom prst="rect">
              <a:avLst/>
            </a:prstGeom>
            <a:noFill/>
            <a:ln>
              <a:noFill/>
            </a:ln>
          </p:spPr>
        </p:pic>
        <p:pic>
          <p:nvPicPr>
            <p:cNvPr id="148" name="Google Shape;148;p15"/>
            <p:cNvPicPr preferRelativeResize="0"/>
            <p:nvPr/>
          </p:nvPicPr>
          <p:blipFill rotWithShape="1">
            <a:blip r:embed="rId7">
              <a:alphaModFix/>
            </a:blip>
            <a:srcRect b="0" l="0" r="0" t="0"/>
            <a:stretch/>
          </p:blipFill>
          <p:spPr>
            <a:xfrm>
              <a:off x="1138238" y="0"/>
              <a:ext cx="6105600" cy="5067300"/>
            </a:xfrm>
            <a:prstGeom prst="rect">
              <a:avLst/>
            </a:prstGeom>
            <a:noFill/>
            <a:ln>
              <a:noFill/>
            </a:ln>
          </p:spPr>
        </p:pic>
      </p:grpSp>
      <p:pic>
        <p:nvPicPr>
          <p:cNvPr id="149" name="Google Shape;149;p15"/>
          <p:cNvPicPr preferRelativeResize="0"/>
          <p:nvPr/>
        </p:nvPicPr>
        <p:blipFill rotWithShape="1">
          <a:blip r:embed="rId8">
            <a:alphaModFix/>
          </a:blip>
          <a:srcRect b="0" l="0" r="0" t="0"/>
          <a:stretch/>
        </p:blipFill>
        <p:spPr>
          <a:xfrm>
            <a:off x="285750" y="285750"/>
            <a:ext cx="285900" cy="285900"/>
          </a:xfrm>
          <a:prstGeom prst="rect">
            <a:avLst/>
          </a:prstGeom>
          <a:noFill/>
          <a:ln>
            <a:noFill/>
          </a:ln>
        </p:spPr>
      </p:pic>
      <p:pic>
        <p:nvPicPr>
          <p:cNvPr id="150" name="Google Shape;150;p15"/>
          <p:cNvPicPr preferRelativeResize="0"/>
          <p:nvPr/>
        </p:nvPicPr>
        <p:blipFill rotWithShape="1">
          <a:blip r:embed="rId9">
            <a:alphaModFix/>
          </a:blip>
          <a:srcRect b="0" l="0" r="0" t="0"/>
          <a:stretch/>
        </p:blipFill>
        <p:spPr>
          <a:xfrm>
            <a:off x="8572500" y="4572000"/>
            <a:ext cx="285900" cy="285900"/>
          </a:xfrm>
          <a:prstGeom prst="rect">
            <a:avLst/>
          </a:prstGeom>
          <a:noFill/>
          <a:ln>
            <a:noFill/>
          </a:ln>
        </p:spPr>
      </p:pic>
      <p:grpSp>
        <p:nvGrpSpPr>
          <p:cNvPr id="151" name="Google Shape;151;p15"/>
          <p:cNvGrpSpPr/>
          <p:nvPr/>
        </p:nvGrpSpPr>
        <p:grpSpPr>
          <a:xfrm>
            <a:off x="0" y="-19050"/>
            <a:ext cx="1905000" cy="419100"/>
            <a:chOff x="0" y="-19050"/>
            <a:chExt cx="1905000" cy="419100"/>
          </a:xfrm>
        </p:grpSpPr>
        <p:pic>
          <p:nvPicPr>
            <p:cNvPr id="152" name="Google Shape;152;p15"/>
            <p:cNvPicPr preferRelativeResize="0"/>
            <p:nvPr/>
          </p:nvPicPr>
          <p:blipFill rotWithShape="1">
            <a:blip r:embed="rId10">
              <a:alphaModFix/>
            </a:blip>
            <a:srcRect b="0" l="0" r="0" t="0"/>
            <a:stretch/>
          </p:blipFill>
          <p:spPr>
            <a:xfrm>
              <a:off x="0" y="-19050"/>
              <a:ext cx="1905000" cy="419100"/>
            </a:xfrm>
            <a:prstGeom prst="rect">
              <a:avLst/>
            </a:prstGeom>
            <a:noFill/>
            <a:ln>
              <a:noFill/>
            </a:ln>
          </p:spPr>
        </p:pic>
        <p:pic>
          <p:nvPicPr>
            <p:cNvPr id="153" name="Google Shape;153;p15"/>
            <p:cNvPicPr preferRelativeResize="0"/>
            <p:nvPr/>
          </p:nvPicPr>
          <p:blipFill rotWithShape="1">
            <a:blip r:embed="rId11">
              <a:alphaModFix/>
            </a:blip>
            <a:srcRect b="0" l="0" r="0" t="0"/>
            <a:stretch/>
          </p:blipFill>
          <p:spPr>
            <a:xfrm>
              <a:off x="114300" y="-9525"/>
              <a:ext cx="657300" cy="324000"/>
            </a:xfrm>
            <a:prstGeom prst="rect">
              <a:avLst/>
            </a:prstGeom>
            <a:noFill/>
            <a:ln>
              <a:noFill/>
            </a:ln>
          </p:spPr>
        </p:pic>
      </p:grpSp>
      <p:sp>
        <p:nvSpPr>
          <p:cNvPr id="154" name="Google Shape;154;p15"/>
          <p:cNvSpPr txBox="1"/>
          <p:nvPr/>
        </p:nvSpPr>
        <p:spPr>
          <a:xfrm>
            <a:off x="2000400" y="113825"/>
            <a:ext cx="6858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lang="iw" sz="2960">
                <a:solidFill>
                  <a:srgbClr val="FFFFFF"/>
                </a:solidFill>
                <a:latin typeface="Assistant ExtraBold"/>
                <a:ea typeface="Assistant ExtraBold"/>
                <a:cs typeface="Assistant ExtraBold"/>
                <a:sym typeface="Assistant ExtraBold"/>
              </a:rPr>
              <a:t>מבוא</a:t>
            </a:r>
            <a:endParaRPr sz="1295">
              <a:solidFill>
                <a:srgbClr val="FFFFFF"/>
              </a:solidFill>
              <a:latin typeface="Assistant ExtraBold"/>
              <a:ea typeface="Assistant ExtraBold"/>
              <a:cs typeface="Assistant ExtraBold"/>
              <a:sym typeface="Assistant ExtraBold"/>
            </a:endParaRPr>
          </a:p>
        </p:txBody>
      </p:sp>
      <p:pic>
        <p:nvPicPr>
          <p:cNvPr id="155" name="Google Shape;155;p15"/>
          <p:cNvPicPr preferRelativeResize="0"/>
          <p:nvPr/>
        </p:nvPicPr>
        <p:blipFill rotWithShape="1">
          <a:blip r:embed="rId12">
            <a:alphaModFix/>
          </a:blip>
          <a:srcRect b="0" l="0" r="0" t="0"/>
          <a:stretch/>
        </p:blipFill>
        <p:spPr>
          <a:xfrm>
            <a:off x="1143000" y="2000250"/>
            <a:ext cx="6858000" cy="19200"/>
          </a:xfrm>
          <a:prstGeom prst="rect">
            <a:avLst/>
          </a:prstGeom>
          <a:noFill/>
          <a:ln>
            <a:noFill/>
          </a:ln>
        </p:spPr>
      </p:pic>
      <p:grpSp>
        <p:nvGrpSpPr>
          <p:cNvPr id="156" name="Google Shape;156;p15"/>
          <p:cNvGrpSpPr/>
          <p:nvPr/>
        </p:nvGrpSpPr>
        <p:grpSpPr>
          <a:xfrm>
            <a:off x="1143000" y="2238375"/>
            <a:ext cx="6858000" cy="1714500"/>
            <a:chOff x="1143000" y="2238375"/>
            <a:chExt cx="6858000" cy="1714500"/>
          </a:xfrm>
        </p:grpSpPr>
        <p:grpSp>
          <p:nvGrpSpPr>
            <p:cNvPr id="157" name="Google Shape;157;p15"/>
            <p:cNvGrpSpPr/>
            <p:nvPr/>
          </p:nvGrpSpPr>
          <p:grpSpPr>
            <a:xfrm>
              <a:off x="1143000" y="2238375"/>
              <a:ext cx="2095500" cy="1714500"/>
              <a:chOff x="1143000" y="2238375"/>
              <a:chExt cx="2095500" cy="1714500"/>
            </a:xfrm>
          </p:grpSpPr>
          <p:sp>
            <p:nvSpPr>
              <p:cNvPr id="158" name="Google Shape;158;p15"/>
              <p:cNvSpPr/>
              <p:nvPr/>
            </p:nvSpPr>
            <p:spPr>
              <a:xfrm>
                <a:off x="114300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9" name="Google Shape;159;p15"/>
              <p:cNvPicPr preferRelativeResize="0"/>
              <p:nvPr/>
            </p:nvPicPr>
            <p:blipFill rotWithShape="1">
              <a:blip r:embed="rId13">
                <a:alphaModFix/>
              </a:blip>
              <a:srcRect b="0" l="0" r="0" t="0"/>
              <a:stretch/>
            </p:blipFill>
            <p:spPr>
              <a:xfrm>
                <a:off x="1143000" y="2238375"/>
                <a:ext cx="2095500" cy="38100"/>
              </a:xfrm>
              <a:prstGeom prst="rect">
                <a:avLst/>
              </a:prstGeom>
              <a:noFill/>
              <a:ln>
                <a:noFill/>
              </a:ln>
            </p:spPr>
          </p:pic>
          <p:sp>
            <p:nvSpPr>
              <p:cNvPr id="160" name="Google Shape;160;p15"/>
              <p:cNvSpPr txBox="1"/>
              <p:nvPr/>
            </p:nvSpPr>
            <p:spPr>
              <a:xfrm>
                <a:off x="133350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00E5FF"/>
                    </a:solidFill>
                    <a:latin typeface="Assistant"/>
                    <a:ea typeface="Assistant"/>
                    <a:cs typeface="Assistant"/>
                    <a:sym typeface="Assistant"/>
                  </a:rPr>
                  <a:t>01 / CHALLENGE</a:t>
                </a:r>
                <a:endParaRPr b="1" sz="1000">
                  <a:solidFill>
                    <a:srgbClr val="00E5FF"/>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האתגר הרפואי</a:t>
                </a:r>
                <a:endParaRPr b="1" sz="1000">
                  <a:solidFill>
                    <a:srgbClr val="00E5FF"/>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מחלות לב הן גורם תמותה מוביל. אבחון מוקדם מציל חיים, אך שיטות מסורתיות (ECG, אקו) דורשות משאבים ומומחיות רבה.</a:t>
                </a:r>
                <a:endParaRPr b="1" sz="1000">
                  <a:solidFill>
                    <a:srgbClr val="00E5FF"/>
                  </a:solidFill>
                  <a:latin typeface="Assistant"/>
                  <a:ea typeface="Assistant"/>
                  <a:cs typeface="Assistant"/>
                  <a:sym typeface="Assistant"/>
                </a:endParaRPr>
              </a:p>
            </p:txBody>
          </p:sp>
        </p:grpSp>
        <p:grpSp>
          <p:nvGrpSpPr>
            <p:cNvPr id="161" name="Google Shape;161;p15"/>
            <p:cNvGrpSpPr/>
            <p:nvPr/>
          </p:nvGrpSpPr>
          <p:grpSpPr>
            <a:xfrm>
              <a:off x="3524250" y="2238375"/>
              <a:ext cx="2095500" cy="1714500"/>
              <a:chOff x="3524250" y="2238375"/>
              <a:chExt cx="2095500" cy="1714500"/>
            </a:xfrm>
          </p:grpSpPr>
          <p:sp>
            <p:nvSpPr>
              <p:cNvPr id="162" name="Google Shape;162;p15"/>
              <p:cNvSpPr/>
              <p:nvPr/>
            </p:nvSpPr>
            <p:spPr>
              <a:xfrm>
                <a:off x="352425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3" name="Google Shape;163;p15"/>
              <p:cNvPicPr preferRelativeResize="0"/>
              <p:nvPr/>
            </p:nvPicPr>
            <p:blipFill rotWithShape="1">
              <a:blip r:embed="rId14">
                <a:alphaModFix/>
              </a:blip>
              <a:srcRect b="0" l="0" r="0" t="0"/>
              <a:stretch/>
            </p:blipFill>
            <p:spPr>
              <a:xfrm>
                <a:off x="3524250" y="2238375"/>
                <a:ext cx="2095500" cy="38100"/>
              </a:xfrm>
              <a:prstGeom prst="rect">
                <a:avLst/>
              </a:prstGeom>
              <a:noFill/>
              <a:ln>
                <a:noFill/>
              </a:ln>
            </p:spPr>
          </p:pic>
          <p:sp>
            <p:nvSpPr>
              <p:cNvPr id="164" name="Google Shape;164;p15"/>
              <p:cNvSpPr txBox="1"/>
              <p:nvPr/>
            </p:nvSpPr>
            <p:spPr>
              <a:xfrm>
                <a:off x="371475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10B981"/>
                    </a:solidFill>
                    <a:latin typeface="Assistant"/>
                    <a:ea typeface="Assistant"/>
                    <a:cs typeface="Assistant"/>
                    <a:sym typeface="Assistant"/>
                  </a:rPr>
                  <a:t>02 / TECHNOLOGY</a:t>
                </a:r>
                <a:endParaRPr b="1" sz="1000">
                  <a:solidFill>
                    <a:srgbClr val="10B981"/>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למידת מכונה</a:t>
                </a:r>
                <a:endParaRPr b="1" sz="1000">
                  <a:solidFill>
                    <a:srgbClr val="10B981"/>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טכנולוגיית ML מאפשרת ניתוח מאגרי מידע רפואיים ענקיים, זיהוי דפוסים מורכבים וחיזוי מהיר ומדויק של מחלות לב.</a:t>
                </a:r>
                <a:endParaRPr b="1" sz="1000">
                  <a:solidFill>
                    <a:srgbClr val="10B981"/>
                  </a:solidFill>
                  <a:latin typeface="Assistant"/>
                  <a:ea typeface="Assistant"/>
                  <a:cs typeface="Assistant"/>
                  <a:sym typeface="Assistant"/>
                </a:endParaRPr>
              </a:p>
            </p:txBody>
          </p:sp>
        </p:grpSp>
        <p:grpSp>
          <p:nvGrpSpPr>
            <p:cNvPr id="165" name="Google Shape;165;p15"/>
            <p:cNvGrpSpPr/>
            <p:nvPr/>
          </p:nvGrpSpPr>
          <p:grpSpPr>
            <a:xfrm>
              <a:off x="5905500" y="2238375"/>
              <a:ext cx="2095500" cy="1714500"/>
              <a:chOff x="5905500" y="2238375"/>
              <a:chExt cx="2095500" cy="1714500"/>
            </a:xfrm>
          </p:grpSpPr>
          <p:sp>
            <p:nvSpPr>
              <p:cNvPr id="166" name="Google Shape;166;p15"/>
              <p:cNvSpPr/>
              <p:nvPr/>
            </p:nvSpPr>
            <p:spPr>
              <a:xfrm>
                <a:off x="5905500" y="2238375"/>
                <a:ext cx="2095500" cy="1714500"/>
              </a:xfrm>
              <a:prstGeom prst="roundRect">
                <a:avLst>
                  <a:gd fmla="val 333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7" name="Google Shape;167;p15"/>
              <p:cNvPicPr preferRelativeResize="0"/>
              <p:nvPr/>
            </p:nvPicPr>
            <p:blipFill rotWithShape="1">
              <a:blip r:embed="rId13">
                <a:alphaModFix/>
              </a:blip>
              <a:srcRect b="0" l="0" r="0" t="0"/>
              <a:stretch/>
            </p:blipFill>
            <p:spPr>
              <a:xfrm>
                <a:off x="5905500" y="2238375"/>
                <a:ext cx="2095500" cy="38100"/>
              </a:xfrm>
              <a:prstGeom prst="rect">
                <a:avLst/>
              </a:prstGeom>
              <a:noFill/>
              <a:ln>
                <a:noFill/>
              </a:ln>
            </p:spPr>
          </p:pic>
          <p:sp>
            <p:nvSpPr>
              <p:cNvPr id="168" name="Google Shape;168;p15"/>
              <p:cNvSpPr txBox="1"/>
              <p:nvPr/>
            </p:nvSpPr>
            <p:spPr>
              <a:xfrm>
                <a:off x="6096000" y="2428875"/>
                <a:ext cx="17145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r">
                  <a:spcBef>
                    <a:spcPts val="0"/>
                  </a:spcBef>
                  <a:spcAft>
                    <a:spcPts val="0"/>
                  </a:spcAft>
                  <a:buNone/>
                </a:pPr>
                <a:r>
                  <a:rPr b="1" lang="iw" sz="1000">
                    <a:solidFill>
                      <a:srgbClr val="00E5FF"/>
                    </a:solidFill>
                    <a:latin typeface="Assistant"/>
                    <a:ea typeface="Assistant"/>
                    <a:cs typeface="Assistant"/>
                    <a:sym typeface="Assistant"/>
                  </a:rPr>
                  <a:t>03 / RESEARCH</a:t>
                </a:r>
                <a:endParaRPr b="1" sz="1000">
                  <a:solidFill>
                    <a:srgbClr val="00E5FF"/>
                  </a:solidFill>
                  <a:latin typeface="Assistant"/>
                  <a:ea typeface="Assistant"/>
                  <a:cs typeface="Assistant"/>
                  <a:sym typeface="Assistant"/>
                </a:endParaRPr>
              </a:p>
              <a:p>
                <a:pPr indent="0" lvl="0" marL="0" rtl="0" algn="r">
                  <a:spcBef>
                    <a:spcPts val="750"/>
                  </a:spcBef>
                  <a:spcAft>
                    <a:spcPts val="0"/>
                  </a:spcAft>
                  <a:buNone/>
                </a:pPr>
                <a:r>
                  <a:rPr b="1" lang="iw" sz="1600">
                    <a:solidFill>
                      <a:srgbClr val="FFFFFF"/>
                    </a:solidFill>
                    <a:latin typeface="Assistant"/>
                    <a:ea typeface="Assistant"/>
                    <a:cs typeface="Assistant"/>
                    <a:sym typeface="Assistant"/>
                  </a:rPr>
                  <a:t>מטרת המחקר</a:t>
                </a:r>
                <a:endParaRPr b="1" sz="1000">
                  <a:solidFill>
                    <a:srgbClr val="00E5FF"/>
                  </a:solidFill>
                  <a:latin typeface="Assistant"/>
                  <a:ea typeface="Assistant"/>
                  <a:cs typeface="Assistant"/>
                  <a:sym typeface="Assistant"/>
                </a:endParaRPr>
              </a:p>
              <a:p>
                <a:pPr indent="0" lvl="0" marL="0" rtl="0" algn="r">
                  <a:spcBef>
                    <a:spcPts val="600"/>
                  </a:spcBef>
                  <a:spcAft>
                    <a:spcPts val="0"/>
                  </a:spcAft>
                  <a:buNone/>
                </a:pPr>
                <a:r>
                  <a:rPr lang="iw" sz="1000">
                    <a:solidFill>
                      <a:srgbClr val="7A8D9E"/>
                    </a:solidFill>
                    <a:latin typeface="Assistant"/>
                    <a:ea typeface="Assistant"/>
                    <a:cs typeface="Assistant"/>
                    <a:sym typeface="Assistant"/>
                  </a:rPr>
                  <a:t>בחינת מודלי סיווג לחיזוי מחלות לב על בסיס נתונים קליניים, לשיפור קבלת ההחלטות הרפואיות והאבחון המוקדם.</a:t>
                </a:r>
                <a:endParaRPr b="1" sz="1000">
                  <a:solidFill>
                    <a:srgbClr val="00E5FF"/>
                  </a:solidFill>
                  <a:latin typeface="Assistant"/>
                  <a:ea typeface="Assistant"/>
                  <a:cs typeface="Assistant"/>
                  <a:sym typeface="Assistant"/>
                </a:endParaRPr>
              </a:p>
            </p:txBody>
          </p:sp>
        </p:grpSp>
      </p:grpSp>
      <p:grpSp>
        <p:nvGrpSpPr>
          <p:cNvPr id="169" name="Google Shape;169;p15"/>
          <p:cNvGrpSpPr/>
          <p:nvPr/>
        </p:nvGrpSpPr>
        <p:grpSpPr>
          <a:xfrm>
            <a:off x="1143000" y="4238625"/>
            <a:ext cx="6858000" cy="333300"/>
            <a:chOff x="1143000" y="4238625"/>
            <a:chExt cx="6858000" cy="333300"/>
          </a:xfrm>
        </p:grpSpPr>
        <p:sp>
          <p:nvSpPr>
            <p:cNvPr id="170" name="Google Shape;170;p15"/>
            <p:cNvSpPr/>
            <p:nvPr/>
          </p:nvSpPr>
          <p:spPr>
            <a:xfrm>
              <a:off x="1143000" y="4238625"/>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5"/>
            <p:cNvSpPr/>
            <p:nvPr/>
          </p:nvSpPr>
          <p:spPr>
            <a:xfrm>
              <a:off x="1295400" y="43624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5"/>
            <p:cNvSpPr txBox="1"/>
            <p:nvPr/>
          </p:nvSpPr>
          <p:spPr>
            <a:xfrm>
              <a:off x="1476375" y="4238625"/>
              <a:ext cx="6334200" cy="333300"/>
            </a:xfrm>
            <a:prstGeom prst="rect">
              <a:avLst/>
            </a:prstGeom>
            <a:solidFill>
              <a:srgbClr val="000000">
                <a:alpha val="0"/>
              </a:srgbClr>
            </a:solidFill>
            <a:ln>
              <a:noFill/>
            </a:ln>
          </p:spPr>
          <p:txBody>
            <a:bodyPr anchorCtr="0" anchor="ctr" bIns="0" lIns="47625" spcFirstLastPara="1" rIns="47625" wrap="square" tIns="0">
              <a:noAutofit/>
            </a:bodyPr>
            <a:lstStyle/>
            <a:p>
              <a:pPr indent="0" lvl="0" marL="0" rtl="0" algn="r">
                <a:spcBef>
                  <a:spcPts val="0"/>
                </a:spcBef>
                <a:spcAft>
                  <a:spcPts val="0"/>
                </a:spcAft>
                <a:buNone/>
              </a:pPr>
              <a:r>
                <a:rPr b="1" lang="iw" sz="850">
                  <a:solidFill>
                    <a:srgbClr val="00E5FF"/>
                  </a:solidFill>
                  <a:latin typeface="Assistant"/>
                  <a:ea typeface="Assistant"/>
                  <a:cs typeface="Assistant"/>
                  <a:sym typeface="Assistant"/>
                </a:rPr>
                <a:t>SYSTEM_STATUS: ACTIVE // TARGET: CLINICAL_DATA </a:t>
              </a:r>
              <a:r>
                <a:rPr lang="iw" sz="950">
                  <a:solidFill>
                    <a:srgbClr val="7A8D9E"/>
                  </a:solidFill>
                  <a:latin typeface="Assistant"/>
                  <a:ea typeface="Assistant"/>
                  <a:cs typeface="Assistant"/>
                  <a:sym typeface="Assistant"/>
                </a:rPr>
                <a:t>שימוש במודלי למידת מכונה לשיפור האבחון המוקדם והתמיכה בצוותים הרפואיים</a:t>
              </a:r>
              <a:endParaRPr b="1" sz="850">
                <a:solidFill>
                  <a:srgbClr val="00E5FF"/>
                </a:solidFill>
                <a:latin typeface="Assistant"/>
                <a:ea typeface="Assistant"/>
                <a:cs typeface="Assistant"/>
                <a:sym typeface="Assistant"/>
              </a:endParaRPr>
            </a:p>
          </p:txBody>
        </p:sp>
      </p:grpSp>
      <p:sp>
        <p:nvSpPr>
          <p:cNvPr id="173" name="Google Shape;173;p15"/>
          <p:cNvSpPr txBox="1"/>
          <p:nvPr/>
        </p:nvSpPr>
        <p:spPr>
          <a:xfrm>
            <a:off x="692950" y="708025"/>
            <a:ext cx="8165400" cy="1092000"/>
          </a:xfrm>
          <a:prstGeom prst="rect">
            <a:avLst/>
          </a:prstGeom>
          <a:noFill/>
          <a:ln>
            <a:noFill/>
          </a:ln>
        </p:spPr>
        <p:txBody>
          <a:bodyPr anchorCtr="0" anchor="t" bIns="91425" lIns="91425" spcFirstLastPara="1" rIns="91425" wrap="square" tIns="91425">
            <a:spAutoFit/>
          </a:bodyPr>
          <a:lstStyle/>
          <a:p>
            <a:pPr indent="0" lvl="0" marL="0" rtl="1" algn="ctr">
              <a:lnSpc>
                <a:spcPct val="115000"/>
              </a:lnSpc>
              <a:spcBef>
                <a:spcPts val="1200"/>
              </a:spcBef>
              <a:spcAft>
                <a:spcPts val="0"/>
              </a:spcAft>
              <a:buNone/>
            </a:pPr>
            <a:r>
              <a:rPr lang="iw" sz="1100">
                <a:solidFill>
                  <a:schemeClr val="lt1"/>
                </a:solidFill>
                <a:latin typeface="Assistant"/>
                <a:ea typeface="Assistant"/>
                <a:cs typeface="Assistant"/>
                <a:sym typeface="Assistant"/>
              </a:rPr>
              <a:t>מחלות לב וכלי דם מהוות את אחד מגורמי התמותה המרכזיים בעולם. אבחון מוקדם של המחלה מאפשר התחלת טיפול בשלב מוקדם, מפחית את שיעור התמותה ומשפר את איכות חיי המטופלים. עם זאת, שיטות האבחון המסורתיות, כגון ECG, בדיקות מאמץ ואקו־לב, דורשות ציוד יקר, זמן רב ומומחיות רפואית.</a:t>
            </a:r>
            <a:endParaRPr sz="1100">
              <a:solidFill>
                <a:schemeClr val="lt1"/>
              </a:solidFill>
              <a:latin typeface="Assistant"/>
              <a:ea typeface="Assistant"/>
              <a:cs typeface="Assistant"/>
              <a:sym typeface="Assistant"/>
            </a:endParaRPr>
          </a:p>
          <a:p>
            <a:pPr indent="0" lvl="0" marL="0" rtl="1" algn="ctr">
              <a:lnSpc>
                <a:spcPct val="115000"/>
              </a:lnSpc>
              <a:spcBef>
                <a:spcPts val="1200"/>
              </a:spcBef>
              <a:spcAft>
                <a:spcPts val="1200"/>
              </a:spcAft>
              <a:buNone/>
            </a:pPr>
            <a:r>
              <a:rPr lang="iw" sz="1100">
                <a:solidFill>
                  <a:schemeClr val="lt1"/>
                </a:solidFill>
                <a:latin typeface="Assistant"/>
                <a:ea typeface="Assistant"/>
                <a:cs typeface="Assistant"/>
                <a:sym typeface="Assistant"/>
              </a:rPr>
              <a:t>בשנים האחרונות תחום </a:t>
            </a:r>
            <a:r>
              <a:rPr b="1" lang="iw" sz="1100">
                <a:solidFill>
                  <a:schemeClr val="lt1"/>
                </a:solidFill>
                <a:latin typeface="Assistant"/>
                <a:ea typeface="Assistant"/>
                <a:cs typeface="Assistant"/>
                <a:sym typeface="Assistant"/>
              </a:rPr>
              <a:t>למידת המכונה (Machine Learning)</a:t>
            </a:r>
            <a:r>
              <a:rPr lang="iw" sz="1100">
                <a:solidFill>
                  <a:schemeClr val="lt1"/>
                </a:solidFill>
                <a:latin typeface="Assistant"/>
                <a:ea typeface="Assistant"/>
                <a:cs typeface="Assistant"/>
                <a:sym typeface="Assistant"/>
              </a:rPr>
              <a:t> הפך לכלי משמעותי בתחום הרפואה, בזכות היכולת לנתח מאגרי מידע רפואיים גדולים, לזהות דפוסים מורכבים ולבצע חיזוי מדויק של מחלות. </a:t>
            </a:r>
            <a:endParaRPr sz="1100">
              <a:solidFill>
                <a:schemeClr val="lt1"/>
              </a:solidFill>
              <a:latin typeface="Assistant"/>
              <a:ea typeface="Assistant"/>
              <a:cs typeface="Assistant"/>
              <a:sym typeface="Assistan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177" name="Shape 177"/>
        <p:cNvGrpSpPr/>
        <p:nvPr/>
      </p:nvGrpSpPr>
      <p:grpSpPr>
        <a:xfrm>
          <a:off x="0" y="0"/>
          <a:ext cx="0" cy="0"/>
          <a:chOff x="0" y="0"/>
          <a:chExt cx="0" cy="0"/>
        </a:xfrm>
      </p:grpSpPr>
      <p:pic>
        <p:nvPicPr>
          <p:cNvPr id="178" name="Google Shape;178;p16"/>
          <p:cNvPicPr preferRelativeResize="0"/>
          <p:nvPr/>
        </p:nvPicPr>
        <p:blipFill rotWithShape="1">
          <a:blip r:embed="rId3">
            <a:alphaModFix/>
          </a:blip>
          <a:srcRect b="0" l="0" r="0" t="0"/>
          <a:stretch/>
        </p:blipFill>
        <p:spPr>
          <a:xfrm>
            <a:off x="285750" y="285750"/>
            <a:ext cx="285900" cy="285900"/>
          </a:xfrm>
          <a:prstGeom prst="rect">
            <a:avLst/>
          </a:prstGeom>
          <a:noFill/>
          <a:ln>
            <a:noFill/>
          </a:ln>
        </p:spPr>
      </p:pic>
      <p:pic>
        <p:nvPicPr>
          <p:cNvPr id="179" name="Google Shape;179;p16"/>
          <p:cNvPicPr preferRelativeResize="0"/>
          <p:nvPr/>
        </p:nvPicPr>
        <p:blipFill rotWithShape="1">
          <a:blip r:embed="rId4">
            <a:alphaModFix/>
          </a:blip>
          <a:srcRect b="0" l="0" r="0" t="0"/>
          <a:stretch/>
        </p:blipFill>
        <p:spPr>
          <a:xfrm>
            <a:off x="8572500" y="4572000"/>
            <a:ext cx="285900" cy="285900"/>
          </a:xfrm>
          <a:prstGeom prst="rect">
            <a:avLst/>
          </a:prstGeom>
          <a:noFill/>
          <a:ln>
            <a:noFill/>
          </a:ln>
        </p:spPr>
      </p:pic>
      <p:sp>
        <p:nvSpPr>
          <p:cNvPr id="180" name="Google Shape;180;p16"/>
          <p:cNvSpPr txBox="1"/>
          <p:nvPr/>
        </p:nvSpPr>
        <p:spPr>
          <a:xfrm>
            <a:off x="2000250" y="238125"/>
            <a:ext cx="6858000" cy="571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מטרת העבודה</a:t>
            </a:r>
            <a:endParaRPr b="0" sz="2600">
              <a:solidFill>
                <a:srgbClr val="FFFFFF"/>
              </a:solidFill>
              <a:latin typeface="Assistant ExtraBold"/>
              <a:ea typeface="Assistant ExtraBold"/>
              <a:cs typeface="Assistant ExtraBold"/>
              <a:sym typeface="Assistant ExtraBold"/>
            </a:endParaRPr>
          </a:p>
        </p:txBody>
      </p:sp>
      <p:grpSp>
        <p:nvGrpSpPr>
          <p:cNvPr id="181" name="Google Shape;181;p16"/>
          <p:cNvGrpSpPr/>
          <p:nvPr/>
        </p:nvGrpSpPr>
        <p:grpSpPr>
          <a:xfrm>
            <a:off x="4714875" y="1095375"/>
            <a:ext cx="3286200" cy="3143400"/>
            <a:chOff x="4714875" y="1095375"/>
            <a:chExt cx="3286200" cy="3143400"/>
          </a:xfrm>
        </p:grpSpPr>
        <p:sp>
          <p:nvSpPr>
            <p:cNvPr id="182" name="Google Shape;182;p16"/>
            <p:cNvSpPr/>
            <p:nvPr/>
          </p:nvSpPr>
          <p:spPr>
            <a:xfrm>
              <a:off x="4714875" y="1095375"/>
              <a:ext cx="3286200" cy="3143400"/>
            </a:xfrm>
            <a:prstGeom prst="roundRect">
              <a:avLst>
                <a:gd fmla="val 1818"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6"/>
            <p:cNvSpPr/>
            <p:nvPr/>
          </p:nvSpPr>
          <p:spPr>
            <a:xfrm>
              <a:off x="4714875" y="1095375"/>
              <a:ext cx="32862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6"/>
            <p:cNvSpPr txBox="1"/>
            <p:nvPr/>
          </p:nvSpPr>
          <p:spPr>
            <a:xfrm>
              <a:off x="4905375" y="1285875"/>
              <a:ext cx="2905200" cy="2762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01 / REPLICATION</a:t>
              </a:r>
              <a:endParaRPr b="1" sz="1000">
                <a:solidFill>
                  <a:srgbClr val="00E5FF"/>
                </a:solidFill>
                <a:latin typeface="Assistant"/>
                <a:ea typeface="Assistant"/>
                <a:cs typeface="Assistant"/>
                <a:sym typeface="Assistant"/>
              </a:endParaRPr>
            </a:p>
            <a:p>
              <a:pPr indent="0" lvl="0" marL="0" rtl="1" algn="r">
                <a:spcBef>
                  <a:spcPts val="450"/>
                </a:spcBef>
                <a:spcAft>
                  <a:spcPts val="0"/>
                </a:spcAft>
                <a:buNone/>
              </a:pPr>
              <a:r>
                <a:rPr b="1" lang="iw" sz="1500">
                  <a:solidFill>
                    <a:srgbClr val="FFFFFF"/>
                  </a:solidFill>
                  <a:latin typeface="Assistant"/>
                  <a:ea typeface="Assistant"/>
                  <a:cs typeface="Assistant"/>
                  <a:sym typeface="Assistant"/>
                </a:rPr>
                <a:t>שחזור המאמר המדעי</a:t>
              </a:r>
              <a:endParaRPr b="1" sz="15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00">
                  <a:solidFill>
                    <a:srgbClr val="7A8D9E"/>
                  </a:solidFill>
                  <a:latin typeface="Assistant"/>
                  <a:ea typeface="Assistant"/>
                  <a:cs typeface="Assistant"/>
                  <a:sym typeface="Assistant"/>
                </a:rPr>
                <a:t>שחזור מלא ומדויק (Replication) של המאמר המחקרי:</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0" lang="iw" sz="900">
                  <a:solidFill>
                    <a:srgbClr val="00E5FF"/>
                  </a:solidFill>
                  <a:latin typeface="Courier New"/>
                  <a:ea typeface="Courier New"/>
                  <a:cs typeface="Courier New"/>
                  <a:sym typeface="Courier New"/>
                </a:rPr>
                <a:t>"Comparative Analysis of Classification Models for Heart Disease Prediction Using Machine Learning"</a:t>
              </a:r>
              <a:endParaRPr b="0" sz="90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000">
                  <a:solidFill>
                    <a:srgbClr val="FFFFFF"/>
                  </a:solidFill>
                  <a:latin typeface="Assistant"/>
                  <a:ea typeface="Assistant"/>
                  <a:cs typeface="Assistant"/>
                  <a:sym typeface="Assistant"/>
                </a:rPr>
                <a:t>במסגרת השחזור נבצע:</a:t>
              </a:r>
              <a:endParaRPr b="1" sz="1000">
                <a:solidFill>
                  <a:srgbClr val="FFFFFF"/>
                </a:solidFill>
                <a:latin typeface="Assistant"/>
                <a:ea typeface="Assistant"/>
                <a:cs typeface="Assistant"/>
                <a:sym typeface="Assistant"/>
              </a:endParaRPr>
            </a:p>
            <a:p>
              <a:pPr indent="-292100" lvl="0" marL="457200" rtl="1" algn="r">
                <a:spcBef>
                  <a:spcPts val="450"/>
                </a:spcBef>
                <a:spcAft>
                  <a:spcPts val="0"/>
                </a:spcAft>
                <a:buClr>
                  <a:srgbClr val="7A8D9E"/>
                </a:buClr>
                <a:buSzPts val="1000"/>
                <a:buFont typeface="Assistant"/>
                <a:buChar char="●"/>
              </a:pPr>
              <a:r>
                <a:rPr b="0" lang="iw" sz="1000">
                  <a:solidFill>
                    <a:srgbClr val="7A8D9E"/>
                  </a:solidFill>
                  <a:latin typeface="Assistant"/>
                  <a:ea typeface="Assistant"/>
                  <a:cs typeface="Assistant"/>
                  <a:sym typeface="Assistant"/>
                </a:rPr>
                <a:t>יישום שלבי העבודה ב-Python וב-scikit-learn.</a:t>
              </a:r>
              <a:endParaRPr b="0" sz="1000">
                <a:solidFill>
                  <a:srgbClr val="7A8D9E"/>
                </a:solidFill>
                <a:latin typeface="Assistant"/>
                <a:ea typeface="Assistant"/>
                <a:cs typeface="Assistant"/>
                <a:sym typeface="Assistant"/>
              </a:endParaRPr>
            </a:p>
            <a:p>
              <a:pPr indent="-292100" lvl="0" marL="457200" rtl="1" algn="r">
                <a:spcBef>
                  <a:spcPts val="450"/>
                </a:spcBef>
                <a:spcAft>
                  <a:spcPts val="0"/>
                </a:spcAft>
                <a:buClr>
                  <a:srgbClr val="7A8D9E"/>
                </a:buClr>
                <a:buSzPts val="1000"/>
                <a:buFont typeface="Assistant"/>
                <a:buChar char="●"/>
              </a:pPr>
              <a:r>
                <a:rPr b="0" lang="iw" sz="1000">
                  <a:solidFill>
                    <a:srgbClr val="7A8D9E"/>
                  </a:solidFill>
                  <a:latin typeface="Assistant"/>
                  <a:ea typeface="Assistant"/>
                  <a:cs typeface="Assistant"/>
                  <a:sym typeface="Assistant"/>
                </a:rPr>
                <a:t>אימון והשוואה בין מודלי הסיווג המרכזיים:</a:t>
              </a:r>
              <a:endParaRPr b="0" sz="10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950">
                  <a:solidFill>
                    <a:srgbClr val="FFFFFF"/>
                  </a:solidFill>
                  <a:latin typeface="Assistant"/>
                  <a:ea typeface="Assistant"/>
                  <a:cs typeface="Assistant"/>
                  <a:sym typeface="Assistant"/>
                </a:rPr>
                <a:t>Logistic Regression</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KNN</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SVM</a:t>
              </a:r>
              <a:endParaRPr b="0" sz="95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950">
                  <a:solidFill>
                    <a:srgbClr val="FFFFFF"/>
                  </a:solidFill>
                  <a:latin typeface="Assistant"/>
                  <a:ea typeface="Assistant"/>
                  <a:cs typeface="Assistant"/>
                  <a:sym typeface="Assistant"/>
                </a:rPr>
                <a:t>Random Forest</a:t>
              </a:r>
              <a:endParaRPr b="0" sz="1000">
                <a:solidFill>
                  <a:srgbClr val="7A8D9E"/>
                </a:solidFill>
                <a:latin typeface="Assistant"/>
                <a:ea typeface="Assistant"/>
                <a:cs typeface="Assistant"/>
                <a:sym typeface="Assistant"/>
              </a:endParaRPr>
            </a:p>
            <a:p>
              <a:pPr indent="-292100" lvl="0" marL="457200" rtl="1" algn="r">
                <a:spcBef>
                  <a:spcPts val="600"/>
                </a:spcBef>
                <a:spcAft>
                  <a:spcPts val="450"/>
                </a:spcAft>
                <a:buClr>
                  <a:srgbClr val="7A8D9E"/>
                </a:buClr>
                <a:buSzPts val="1000"/>
                <a:buFont typeface="Assistant"/>
                <a:buChar char="●"/>
              </a:pPr>
              <a:r>
                <a:rPr b="0" lang="iw" sz="1000">
                  <a:solidFill>
                    <a:srgbClr val="7A8D9E"/>
                  </a:solidFill>
                  <a:latin typeface="Assistant"/>
                  <a:ea typeface="Assistant"/>
                  <a:cs typeface="Assistant"/>
                  <a:sym typeface="Assistant"/>
                </a:rPr>
                <a:t>הערכת ביצועים במדדים: Accuracy, Precision, Recall, F1-Score וגרף ROC.</a:t>
              </a:r>
              <a:endParaRPr b="0" sz="1000">
                <a:solidFill>
                  <a:srgbClr val="7A8D9E"/>
                </a:solidFill>
                <a:latin typeface="Assistant"/>
                <a:ea typeface="Assistant"/>
                <a:cs typeface="Assistant"/>
                <a:sym typeface="Assistant"/>
              </a:endParaRPr>
            </a:p>
          </p:txBody>
        </p:sp>
      </p:grpSp>
      <p:grpSp>
        <p:nvGrpSpPr>
          <p:cNvPr id="185" name="Google Shape;185;p16"/>
          <p:cNvGrpSpPr/>
          <p:nvPr/>
        </p:nvGrpSpPr>
        <p:grpSpPr>
          <a:xfrm>
            <a:off x="1143000" y="1095375"/>
            <a:ext cx="3286200" cy="3143400"/>
            <a:chOff x="1143000" y="1095375"/>
            <a:chExt cx="3286200" cy="3143400"/>
          </a:xfrm>
        </p:grpSpPr>
        <p:sp>
          <p:nvSpPr>
            <p:cNvPr id="186" name="Google Shape;186;p16"/>
            <p:cNvSpPr/>
            <p:nvPr/>
          </p:nvSpPr>
          <p:spPr>
            <a:xfrm>
              <a:off x="1143000" y="1095375"/>
              <a:ext cx="3286200" cy="3143400"/>
            </a:xfrm>
            <a:prstGeom prst="roundRect">
              <a:avLst>
                <a:gd fmla="val 1818"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6"/>
            <p:cNvSpPr/>
            <p:nvPr/>
          </p:nvSpPr>
          <p:spPr>
            <a:xfrm>
              <a:off x="1143000" y="1095375"/>
              <a:ext cx="32862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6"/>
            <p:cNvSpPr txBox="1"/>
            <p:nvPr/>
          </p:nvSpPr>
          <p:spPr>
            <a:xfrm>
              <a:off x="1333500" y="1285875"/>
              <a:ext cx="2905200" cy="2762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02 / EXTENSION</a:t>
              </a:r>
              <a:endParaRPr b="1" sz="1000">
                <a:solidFill>
                  <a:srgbClr val="10B981"/>
                </a:solidFill>
                <a:latin typeface="Assistant"/>
                <a:ea typeface="Assistant"/>
                <a:cs typeface="Assistant"/>
                <a:sym typeface="Assistant"/>
              </a:endParaRPr>
            </a:p>
            <a:p>
              <a:pPr indent="0" lvl="0" marL="0" rtl="1" algn="r">
                <a:spcBef>
                  <a:spcPts val="450"/>
                </a:spcBef>
                <a:spcAft>
                  <a:spcPts val="0"/>
                </a:spcAft>
                <a:buNone/>
              </a:pPr>
              <a:r>
                <a:rPr b="1" lang="iw" sz="1500">
                  <a:solidFill>
                    <a:srgbClr val="FFFFFF"/>
                  </a:solidFill>
                  <a:latin typeface="Assistant"/>
                  <a:ea typeface="Assistant"/>
                  <a:cs typeface="Assistant"/>
                  <a:sym typeface="Assistant"/>
                </a:rPr>
                <a:t>הרחבה מעבר למאמר</a:t>
              </a:r>
              <a:endParaRPr b="1" sz="15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00">
                  <a:solidFill>
                    <a:srgbClr val="7A8D9E"/>
                  </a:solidFill>
                  <a:latin typeface="Assistant"/>
                  <a:ea typeface="Assistant"/>
                  <a:cs typeface="Assistant"/>
                  <a:sym typeface="Assistant"/>
                </a:rPr>
                <a:t>בהתאם להמלצת המרצה, נבצע הרחבה משמעותית של המחקר המקורי במטרה לבחון האם ניתן לשפר את דיוק החיזוי מעבר לתוצאות שהוצגו בו.</a:t>
              </a:r>
              <a:endParaRPr b="0" sz="1000">
                <a:solidFill>
                  <a:srgbClr val="7A8D9E"/>
                </a:solidFill>
                <a:latin typeface="Assistant"/>
                <a:ea typeface="Assistant"/>
                <a:cs typeface="Assistant"/>
                <a:sym typeface="Assistant"/>
              </a:endParaRPr>
            </a:p>
            <a:p>
              <a:pPr indent="0" lvl="0" marL="0" rtl="1" algn="r">
                <a:spcBef>
                  <a:spcPts val="900"/>
                </a:spcBef>
                <a:spcAft>
                  <a:spcPts val="0"/>
                </a:spcAft>
                <a:buNone/>
              </a:pPr>
              <a:r>
                <a:rPr b="1" lang="iw" sz="1000">
                  <a:solidFill>
                    <a:srgbClr val="FFFFFF"/>
                  </a:solidFill>
                  <a:latin typeface="Assistant"/>
                  <a:ea typeface="Assistant"/>
                  <a:cs typeface="Assistant"/>
                  <a:sym typeface="Assistant"/>
                </a:rPr>
                <a:t>ההרחבה תכלול שני שלבים מרכזיים:</a:t>
              </a:r>
              <a:endParaRPr b="1" sz="1000">
                <a:solidFill>
                  <a:srgbClr val="FFFFFF"/>
                </a:solidFill>
                <a:latin typeface="Assistant"/>
                <a:ea typeface="Assistant"/>
                <a:cs typeface="Assistant"/>
                <a:sym typeface="Assistant"/>
              </a:endParaRPr>
            </a:p>
            <a:p>
              <a:pPr indent="0" lvl="0" marL="0" rtl="1" algn="r">
                <a:spcBef>
                  <a:spcPts val="750"/>
                </a:spcBef>
                <a:spcAft>
                  <a:spcPts val="0"/>
                </a:spcAft>
                <a:buNone/>
              </a:pPr>
              <a:r>
                <a:rPr b="1" lang="iw" sz="1000">
                  <a:solidFill>
                    <a:srgbClr val="10B981"/>
                  </a:solidFill>
                  <a:latin typeface="Assistant"/>
                  <a:ea typeface="Assistant"/>
                  <a:cs typeface="Assistant"/>
                  <a:sym typeface="Assistant"/>
                </a:rPr>
                <a:t>Hyperparameter Tuning</a:t>
              </a:r>
              <a:endParaRPr b="1" sz="1000">
                <a:solidFill>
                  <a:srgbClr val="10B981"/>
                </a:solidFill>
                <a:latin typeface="Assistant"/>
                <a:ea typeface="Assistant"/>
                <a:cs typeface="Assistant"/>
                <a:sym typeface="Assistant"/>
              </a:endParaRPr>
            </a:p>
            <a:p>
              <a:pPr indent="0" lvl="0" marL="0" rtl="1" algn="r">
                <a:spcBef>
                  <a:spcPts val="0"/>
                </a:spcBef>
                <a:spcAft>
                  <a:spcPts val="0"/>
                </a:spcAft>
                <a:buNone/>
              </a:pPr>
              <a:r>
                <a:rPr b="0" lang="iw" sz="950">
                  <a:solidFill>
                    <a:srgbClr val="7A8D9E"/>
                  </a:solidFill>
                  <a:latin typeface="Assistant"/>
                  <a:ea typeface="Assistant"/>
                  <a:cs typeface="Assistant"/>
                  <a:sym typeface="Assistant"/>
                </a:rPr>
                <a:t>אופטימיזציה של פרמטרי המודלים באמצעות כלי ה-GridSearchCV.</a:t>
              </a:r>
              <a:endParaRPr b="0" sz="95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000">
                  <a:solidFill>
                    <a:srgbClr val="10B981"/>
                  </a:solidFill>
                  <a:latin typeface="Assistant"/>
                  <a:ea typeface="Assistant"/>
                  <a:cs typeface="Assistant"/>
                  <a:sym typeface="Assistant"/>
                </a:rPr>
                <a:t>5-Fold Cross Validation</a:t>
              </a:r>
              <a:endParaRPr b="1" sz="1000">
                <a:solidFill>
                  <a:srgbClr val="10B981"/>
                </a:solidFill>
                <a:latin typeface="Assistant"/>
                <a:ea typeface="Assistant"/>
                <a:cs typeface="Assistant"/>
                <a:sym typeface="Assistant"/>
              </a:endParaRPr>
            </a:p>
            <a:p>
              <a:pPr indent="0" lvl="0" marL="0" rtl="1" algn="r">
                <a:spcBef>
                  <a:spcPts val="0"/>
                </a:spcBef>
                <a:spcAft>
                  <a:spcPts val="0"/>
                </a:spcAft>
                <a:buNone/>
              </a:pPr>
              <a:r>
                <a:rPr b="0" lang="iw" sz="950">
                  <a:solidFill>
                    <a:srgbClr val="7A8D9E"/>
                  </a:solidFill>
                  <a:latin typeface="Assistant"/>
                  <a:ea typeface="Assistant"/>
                  <a:cs typeface="Assistant"/>
                  <a:sym typeface="Assistant"/>
                </a:rPr>
                <a:t>הערכה יציבה ומהימנה יותר של ביצועי המודלים למניעת Overfitting.</a:t>
              </a:r>
              <a:endParaRPr b="0" sz="950">
                <a:solidFill>
                  <a:srgbClr val="7A8D9E"/>
                </a:solidFill>
                <a:latin typeface="Assistant"/>
                <a:ea typeface="Assistant"/>
                <a:cs typeface="Assistant"/>
                <a:sym typeface="Assistant"/>
              </a:endParaRPr>
            </a:p>
          </p:txBody>
        </p:sp>
      </p:grpSp>
      <p:grpSp>
        <p:nvGrpSpPr>
          <p:cNvPr id="189" name="Google Shape;189;p16"/>
          <p:cNvGrpSpPr/>
          <p:nvPr/>
        </p:nvGrpSpPr>
        <p:grpSpPr>
          <a:xfrm>
            <a:off x="1143000" y="4381500"/>
            <a:ext cx="6858000" cy="333300"/>
            <a:chOff x="1143000" y="4381500"/>
            <a:chExt cx="6858000" cy="333300"/>
          </a:xfrm>
        </p:grpSpPr>
        <p:sp>
          <p:nvSpPr>
            <p:cNvPr id="190" name="Google Shape;190;p16"/>
            <p:cNvSpPr/>
            <p:nvPr/>
          </p:nvSpPr>
          <p:spPr>
            <a:xfrm>
              <a:off x="1143000" y="4381500"/>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6"/>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6"/>
            <p:cNvSpPr txBox="1"/>
            <p:nvPr/>
          </p:nvSpPr>
          <p:spPr>
            <a:xfrm>
              <a:off x="1285875" y="4381500"/>
              <a:ext cx="63819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RESEARCH_GOAL: MODEL_REPLICATION // EXTENDED_TUNING </a:t>
              </a:r>
              <a:r>
                <a:rPr b="0" lang="iw" sz="1000">
                  <a:solidFill>
                    <a:srgbClr val="7A8D9E"/>
                  </a:solidFill>
                  <a:latin typeface="Assistant"/>
                  <a:ea typeface="Assistant"/>
                  <a:cs typeface="Assistant"/>
                  <a:sym typeface="Assistant"/>
                </a:rPr>
                <a:t>שיפור יכולות הניבוי של מחלות לב באמצעות כלי למידת מכונה מתקדמים</a:t>
              </a:r>
              <a:endParaRPr b="1" sz="1000">
                <a:solidFill>
                  <a:srgbClr val="00E5FF"/>
                </a:solidFill>
                <a:latin typeface="Courier New"/>
                <a:ea typeface="Courier New"/>
                <a:cs typeface="Courier New"/>
                <a:sym typeface="Courier New"/>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תערוך את השקף הזה שיהיה יותר מעניין ומעוצב יפה " id="197" name="Google Shape;197;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01" name="Shape 201"/>
        <p:cNvGrpSpPr/>
        <p:nvPr/>
      </p:nvGrpSpPr>
      <p:grpSpPr>
        <a:xfrm>
          <a:off x="0" y="0"/>
          <a:ext cx="0" cy="0"/>
          <a:chOff x="0" y="0"/>
          <a:chExt cx="0" cy="0"/>
        </a:xfrm>
      </p:grpSpPr>
      <p:sp>
        <p:nvSpPr>
          <p:cNvPr id="202" name="Google Shape;202;p18"/>
          <p:cNvSpPr txBox="1"/>
          <p:nvPr/>
        </p:nvSpPr>
        <p:spPr>
          <a:xfrm>
            <a:off x="2000250" y="238125"/>
            <a:ext cx="6858000" cy="571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סקירת ספרות</a:t>
            </a:r>
            <a:endParaRPr b="0" sz="2600">
              <a:solidFill>
                <a:srgbClr val="FFFFFF"/>
              </a:solidFill>
              <a:latin typeface="Assistant ExtraBold"/>
              <a:ea typeface="Assistant ExtraBold"/>
              <a:cs typeface="Assistant ExtraBold"/>
              <a:sym typeface="Assistant ExtraBold"/>
            </a:endParaRPr>
          </a:p>
        </p:txBody>
      </p:sp>
      <p:grpSp>
        <p:nvGrpSpPr>
          <p:cNvPr id="203" name="Google Shape;203;p18"/>
          <p:cNvGrpSpPr/>
          <p:nvPr/>
        </p:nvGrpSpPr>
        <p:grpSpPr>
          <a:xfrm>
            <a:off x="1143000" y="904875"/>
            <a:ext cx="6858000" cy="952500"/>
            <a:chOff x="1143000" y="904875"/>
            <a:chExt cx="6858000" cy="952500"/>
          </a:xfrm>
        </p:grpSpPr>
        <p:sp>
          <p:nvSpPr>
            <p:cNvPr id="204" name="Google Shape;204;p18"/>
            <p:cNvSpPr/>
            <p:nvPr/>
          </p:nvSpPr>
          <p:spPr>
            <a:xfrm>
              <a:off x="1143000" y="904875"/>
              <a:ext cx="6858000" cy="952500"/>
            </a:xfrm>
            <a:prstGeom prst="roundRect">
              <a:avLst>
                <a:gd fmla="val 6000"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p:nvPr/>
          </p:nvSpPr>
          <p:spPr>
            <a:xfrm>
              <a:off x="7962900" y="904875"/>
              <a:ext cx="38100" cy="9525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txBox="1"/>
            <p:nvPr/>
          </p:nvSpPr>
          <p:spPr>
            <a:xfrm>
              <a:off x="1333500" y="1000125"/>
              <a:ext cx="6477000" cy="7620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100">
                  <a:solidFill>
                    <a:srgbClr val="FFFFFF"/>
                  </a:solidFill>
                  <a:latin typeface="Assistant"/>
                  <a:ea typeface="Assistant"/>
                  <a:cs typeface="Assistant"/>
                  <a:sym typeface="Assistant"/>
                </a:rPr>
                <a:t>בשנים האחרונות פורסמו מחקרים רבים העוסקים בחיזוי מחלות לב באמצעות למידת מכונה. מרבית המחקרים משתמשים במאגרי מידע רפואיים הכוללים נתונים פיזיולוגיים, קליניים ואורח חיים של המטופלים.</a:t>
              </a:r>
              <a:endParaRPr b="0" sz="1100">
                <a:solidFill>
                  <a:srgbClr val="FFFFFF"/>
                </a:solidFill>
                <a:latin typeface="Assistant"/>
                <a:ea typeface="Assistant"/>
                <a:cs typeface="Assistant"/>
                <a:sym typeface="Assistant"/>
              </a:endParaRPr>
            </a:p>
          </p:txBody>
        </p:sp>
      </p:grpSp>
      <p:grpSp>
        <p:nvGrpSpPr>
          <p:cNvPr id="207" name="Google Shape;207;p18"/>
          <p:cNvGrpSpPr/>
          <p:nvPr/>
        </p:nvGrpSpPr>
        <p:grpSpPr>
          <a:xfrm>
            <a:off x="4714875" y="2000250"/>
            <a:ext cx="3286200" cy="2238300"/>
            <a:chOff x="4714875" y="2000250"/>
            <a:chExt cx="3286200" cy="2238300"/>
          </a:xfrm>
        </p:grpSpPr>
        <p:sp>
          <p:nvSpPr>
            <p:cNvPr id="208" name="Google Shape;208;p18"/>
            <p:cNvSpPr/>
            <p:nvPr/>
          </p:nvSpPr>
          <p:spPr>
            <a:xfrm>
              <a:off x="4714875" y="2000250"/>
              <a:ext cx="3286200" cy="2238300"/>
            </a:xfrm>
            <a:prstGeom prst="roundRect">
              <a:avLst>
                <a:gd fmla="val 255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8"/>
            <p:cNvSpPr/>
            <p:nvPr/>
          </p:nvSpPr>
          <p:spPr>
            <a:xfrm>
              <a:off x="4714875" y="2000250"/>
              <a:ext cx="32862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8"/>
            <p:cNvSpPr txBox="1"/>
            <p:nvPr/>
          </p:nvSpPr>
          <p:spPr>
            <a:xfrm>
              <a:off x="4905375" y="2190750"/>
              <a:ext cx="2905200" cy="1857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01 / FEATURE_VARIABLES</a:t>
              </a:r>
              <a:endParaRPr b="1" sz="1000">
                <a:solidFill>
                  <a:srgbClr val="00E5FF"/>
                </a:solidFill>
                <a:latin typeface="Assistant"/>
                <a:ea typeface="Assistant"/>
                <a:cs typeface="Assistant"/>
                <a:sym typeface="Assistant"/>
              </a:endParaRPr>
            </a:p>
            <a:p>
              <a:pPr indent="0" lvl="0" marL="0" rtl="1" algn="r">
                <a:spcBef>
                  <a:spcPts val="300"/>
                </a:spcBef>
                <a:spcAft>
                  <a:spcPts val="0"/>
                </a:spcAft>
                <a:buNone/>
              </a:pPr>
              <a:r>
                <a:rPr b="1" lang="iw" sz="1500">
                  <a:solidFill>
                    <a:srgbClr val="FFFFFF"/>
                  </a:solidFill>
                  <a:latin typeface="Assistant"/>
                  <a:ea typeface="Assistant"/>
                  <a:cs typeface="Assistant"/>
                  <a:sym typeface="Assistant"/>
                </a:rPr>
                <a:t>מדדים רפואיים נפוצים</a:t>
              </a:r>
              <a:endParaRPr b="1" sz="150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1100">
                  <a:solidFill>
                    <a:srgbClr val="7A8D9E"/>
                  </a:solidFill>
                  <a:latin typeface="Assistant"/>
                  <a:ea typeface="Assistant"/>
                  <a:cs typeface="Assistant"/>
                  <a:sym typeface="Assistant"/>
                </a:rPr>
                <a:t>המשתנים המרכזיים המשמשים לאימון המודלים:</a:t>
              </a:r>
              <a:endParaRPr b="0" sz="11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1100">
                  <a:solidFill>
                    <a:srgbClr val="FFFFFF"/>
                  </a:solidFill>
                  <a:latin typeface="Assistant"/>
                  <a:ea typeface="Assistant"/>
                  <a:cs typeface="Assistant"/>
                  <a:sym typeface="Assistant"/>
                </a:rPr>
                <a:t>• גיל, מין, לחץ דם ורמת כולסטרול</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תסמינים קליניים (כמו כאבי חזה וסוגיהם)</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תוצאות בדיקות ECG ומדדים פיזיולוגיים</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הרגלי חיים והיסטוריה רפואית</a:t>
              </a:r>
              <a:endParaRPr b="0" sz="1100">
                <a:solidFill>
                  <a:srgbClr val="FFFFFF"/>
                </a:solidFill>
                <a:latin typeface="Assistant"/>
                <a:ea typeface="Assistant"/>
                <a:cs typeface="Assistant"/>
                <a:sym typeface="Assistant"/>
              </a:endParaRPr>
            </a:p>
          </p:txBody>
        </p:sp>
      </p:grpSp>
      <p:grpSp>
        <p:nvGrpSpPr>
          <p:cNvPr id="211" name="Google Shape;211;p18"/>
          <p:cNvGrpSpPr/>
          <p:nvPr/>
        </p:nvGrpSpPr>
        <p:grpSpPr>
          <a:xfrm>
            <a:off x="1143000" y="2000250"/>
            <a:ext cx="3286200" cy="2238300"/>
            <a:chOff x="1143000" y="2000250"/>
            <a:chExt cx="3286200" cy="2238300"/>
          </a:xfrm>
        </p:grpSpPr>
        <p:sp>
          <p:nvSpPr>
            <p:cNvPr id="212" name="Google Shape;212;p18"/>
            <p:cNvSpPr/>
            <p:nvPr/>
          </p:nvSpPr>
          <p:spPr>
            <a:xfrm>
              <a:off x="1143000" y="2000250"/>
              <a:ext cx="3286200" cy="2238300"/>
            </a:xfrm>
            <a:prstGeom prst="roundRect">
              <a:avLst>
                <a:gd fmla="val 2553"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8"/>
            <p:cNvSpPr/>
            <p:nvPr/>
          </p:nvSpPr>
          <p:spPr>
            <a:xfrm>
              <a:off x="1143000" y="2000250"/>
              <a:ext cx="32862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8"/>
            <p:cNvSpPr txBox="1"/>
            <p:nvPr/>
          </p:nvSpPr>
          <p:spPr>
            <a:xfrm>
              <a:off x="1333500" y="2190750"/>
              <a:ext cx="2905200" cy="1857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02 / ALGORITHMS</a:t>
              </a:r>
              <a:endParaRPr b="1" sz="1000">
                <a:solidFill>
                  <a:srgbClr val="10B981"/>
                </a:solidFill>
                <a:latin typeface="Assistant"/>
                <a:ea typeface="Assistant"/>
                <a:cs typeface="Assistant"/>
                <a:sym typeface="Assistant"/>
              </a:endParaRPr>
            </a:p>
            <a:p>
              <a:pPr indent="0" lvl="0" marL="0" rtl="1" algn="r">
                <a:spcBef>
                  <a:spcPts val="300"/>
                </a:spcBef>
                <a:spcAft>
                  <a:spcPts val="0"/>
                </a:spcAft>
                <a:buNone/>
              </a:pPr>
              <a:r>
                <a:rPr b="1" lang="iw" sz="1500">
                  <a:solidFill>
                    <a:srgbClr val="FFFFFF"/>
                  </a:solidFill>
                  <a:latin typeface="Assistant"/>
                  <a:ea typeface="Assistant"/>
                  <a:cs typeface="Assistant"/>
                  <a:sym typeface="Assistant"/>
                </a:rPr>
                <a:t>אלגוריתמים מובילים</a:t>
              </a:r>
              <a:endParaRPr b="1" sz="1500">
                <a:solidFill>
                  <a:srgbClr val="FFFFFF"/>
                </a:solidFill>
                <a:latin typeface="Assistant"/>
                <a:ea typeface="Assistant"/>
                <a:cs typeface="Assistant"/>
                <a:sym typeface="Assistant"/>
              </a:endParaRPr>
            </a:p>
            <a:p>
              <a:pPr indent="0" lvl="0" marL="0" rtl="1" algn="r">
                <a:spcBef>
                  <a:spcPts val="600"/>
                </a:spcBef>
                <a:spcAft>
                  <a:spcPts val="0"/>
                </a:spcAft>
                <a:buNone/>
              </a:pPr>
              <a:r>
                <a:rPr b="0" lang="iw" sz="1100">
                  <a:solidFill>
                    <a:srgbClr val="7A8D9E"/>
                  </a:solidFill>
                  <a:latin typeface="Assistant"/>
                  <a:ea typeface="Assistant"/>
                  <a:cs typeface="Assistant"/>
                  <a:sym typeface="Assistant"/>
                </a:rPr>
                <a:t>השיטות הנפוצות והנחקרות ביותר בספרות:</a:t>
              </a:r>
              <a:endParaRPr b="0" sz="1100">
                <a:solidFill>
                  <a:srgbClr val="7A8D9E"/>
                </a:solidFill>
                <a:latin typeface="Assistant"/>
                <a:ea typeface="Assistant"/>
                <a:cs typeface="Assistant"/>
                <a:sym typeface="Assistant"/>
              </a:endParaRPr>
            </a:p>
            <a:p>
              <a:pPr indent="0" lvl="0" marL="0" rtl="1" algn="r">
                <a:spcBef>
                  <a:spcPts val="45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رלמידת מכונה קלאסית:</a:t>
              </a:r>
              <a:r>
                <a:rPr b="0" lang="iw" sz="1100">
                  <a:solidFill>
                    <a:srgbClr val="FFFFFF"/>
                  </a:solidFill>
                  <a:latin typeface="Assistant"/>
                  <a:ea typeface="Assistant"/>
                  <a:cs typeface="Assistant"/>
                  <a:sym typeface="Assistant"/>
                </a:rPr>
                <a:t> SVM, Random Forest</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מודלים מבוססי מרחק:</a:t>
              </a:r>
              <a:r>
                <a:rPr b="0" lang="iw" sz="1100">
                  <a:solidFill>
                    <a:srgbClr val="FFFFFF"/>
                  </a:solidFill>
                  <a:latin typeface="Assistant"/>
                  <a:ea typeface="Assistant"/>
                  <a:cs typeface="Assistant"/>
                  <a:sym typeface="Assistant"/>
                </a:rPr>
                <a:t> K-Nearest Neighbors (KNN)</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a:t>
              </a:r>
              <a:r>
                <a:rPr b="1" lang="iw" sz="1100">
                  <a:solidFill>
                    <a:srgbClr val="FFFFFF"/>
                  </a:solidFill>
                  <a:latin typeface="Assistant"/>
                  <a:ea typeface="Assistant"/>
                  <a:cs typeface="Assistant"/>
                  <a:sym typeface="Assistant"/>
                </a:rPr>
                <a:t>מודלים סטטיסטיים:</a:t>
              </a:r>
              <a:r>
                <a:rPr b="0" lang="iw" sz="1100">
                  <a:solidFill>
                    <a:srgbClr val="FFFFFF"/>
                  </a:solidFill>
                  <a:latin typeface="Assistant"/>
                  <a:ea typeface="Assistant"/>
                  <a:cs typeface="Assistant"/>
                  <a:sym typeface="Assistant"/>
                </a:rPr>
                <a:t> Logistic Regression</a:t>
              </a:r>
              <a:endParaRPr b="0"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1100">
                  <a:solidFill>
                    <a:srgbClr val="FFFFFF"/>
                  </a:solidFill>
                  <a:latin typeface="Assistant"/>
                  <a:ea typeface="Assistant"/>
                  <a:cs typeface="Assistant"/>
                  <a:sym typeface="Assistant"/>
                </a:rPr>
                <a:t>• שיפורים ושיטות Ensemble מורכבות</a:t>
              </a:r>
              <a:endParaRPr b="0" sz="1100">
                <a:solidFill>
                  <a:srgbClr val="FFFFFF"/>
                </a:solidFill>
                <a:latin typeface="Assistant"/>
                <a:ea typeface="Assistant"/>
                <a:cs typeface="Assistant"/>
                <a:sym typeface="Assistant"/>
              </a:endParaRPr>
            </a:p>
          </p:txBody>
        </p:sp>
      </p:grpSp>
      <p:grpSp>
        <p:nvGrpSpPr>
          <p:cNvPr id="215" name="Google Shape;215;p18"/>
          <p:cNvGrpSpPr/>
          <p:nvPr/>
        </p:nvGrpSpPr>
        <p:grpSpPr>
          <a:xfrm>
            <a:off x="1143000" y="4381500"/>
            <a:ext cx="6858000" cy="333300"/>
            <a:chOff x="1143000" y="4381500"/>
            <a:chExt cx="6858000" cy="333300"/>
          </a:xfrm>
        </p:grpSpPr>
        <p:sp>
          <p:nvSpPr>
            <p:cNvPr id="216" name="Google Shape;216;p18"/>
            <p:cNvSpPr/>
            <p:nvPr/>
          </p:nvSpPr>
          <p:spPr>
            <a:xfrm>
              <a:off x="1143000" y="4381500"/>
              <a:ext cx="6858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8"/>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txBox="1"/>
            <p:nvPr/>
          </p:nvSpPr>
          <p:spPr>
            <a:xfrm>
              <a:off x="1285875" y="4381500"/>
              <a:ext cx="63819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LITERATURE_REVIEW: PATIENT_METRICS // COMMON_ALGORITHMS </a:t>
              </a:r>
              <a:r>
                <a:rPr b="0" lang="iw" sz="1000">
                  <a:solidFill>
                    <a:srgbClr val="7A8D9E"/>
                  </a:solidFill>
                  <a:latin typeface="Assistant"/>
                  <a:ea typeface="Assistant"/>
                  <a:cs typeface="Assistant"/>
                  <a:sym typeface="Assistant"/>
                </a:rPr>
                <a:t>סקירת הנתונים הקליניים והשיטות החישוביות המקובלות בספרות המחקרית</a:t>
              </a:r>
              <a:endParaRPr b="1" sz="1000">
                <a:solidFill>
                  <a:srgbClr val="00E5FF"/>
                </a:solidFill>
                <a:latin typeface="Courier New"/>
                <a:ea typeface="Courier New"/>
                <a:cs typeface="Courier New"/>
                <a:sym typeface="Courier New"/>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22" name="Shape 222"/>
        <p:cNvGrpSpPr/>
        <p:nvPr/>
      </p:nvGrpSpPr>
      <p:grpSpPr>
        <a:xfrm>
          <a:off x="0" y="0"/>
          <a:ext cx="0" cy="0"/>
          <a:chOff x="0" y="0"/>
          <a:chExt cx="0" cy="0"/>
        </a:xfrm>
      </p:grpSpPr>
      <p:sp>
        <p:nvSpPr>
          <p:cNvPr id="223" name="Google Shape;223;p19"/>
          <p:cNvSpPr txBox="1"/>
          <p:nvPr/>
        </p:nvSpPr>
        <p:spPr>
          <a:xfrm>
            <a:off x="4286250" y="238125"/>
            <a:ext cx="4286400" cy="476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מאגר הנתונים (Dataset)</a:t>
            </a:r>
            <a:endParaRPr b="0" sz="2600">
              <a:solidFill>
                <a:srgbClr val="FFFFFF"/>
              </a:solidFill>
              <a:latin typeface="Assistant ExtraBold"/>
              <a:ea typeface="Assistant ExtraBold"/>
              <a:cs typeface="Assistant ExtraBold"/>
              <a:sym typeface="Assistant ExtraBold"/>
            </a:endParaRPr>
          </a:p>
        </p:txBody>
      </p:sp>
      <p:grpSp>
        <p:nvGrpSpPr>
          <p:cNvPr id="224" name="Google Shape;224;p19"/>
          <p:cNvGrpSpPr/>
          <p:nvPr/>
        </p:nvGrpSpPr>
        <p:grpSpPr>
          <a:xfrm>
            <a:off x="5143500" y="952500"/>
            <a:ext cx="3429000" cy="3238500"/>
            <a:chOff x="5143500" y="952500"/>
            <a:chExt cx="3429000" cy="3238500"/>
          </a:xfrm>
        </p:grpSpPr>
        <p:sp>
          <p:nvSpPr>
            <p:cNvPr id="225" name="Google Shape;225;p19"/>
            <p:cNvSpPr/>
            <p:nvPr/>
          </p:nvSpPr>
          <p:spPr>
            <a:xfrm>
              <a:off x="5143500" y="952500"/>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5143500" y="952500"/>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9"/>
            <p:cNvSpPr txBox="1"/>
            <p:nvPr/>
          </p:nvSpPr>
          <p:spPr>
            <a:xfrm>
              <a:off x="5334000" y="1143000"/>
              <a:ext cx="3048000" cy="2857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DATASET_OVERVIEW / 01</a:t>
              </a:r>
              <a:endParaRPr b="1" sz="10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אודות המאגר</a:t>
              </a:r>
              <a:endParaRPr b="1" sz="14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50">
                  <a:solidFill>
                    <a:srgbClr val="7A8D9E"/>
                  </a:solidFill>
                  <a:latin typeface="Assistant"/>
                  <a:ea typeface="Assistant"/>
                  <a:cs typeface="Assistant"/>
                  <a:sym typeface="Assistant"/>
                </a:rPr>
                <a:t>במחקר נעשה שימוש במאגר הנתונים </a:t>
              </a:r>
              <a:r>
                <a:rPr b="1" lang="iw" sz="1050">
                  <a:solidFill>
                    <a:srgbClr val="FFFFFF"/>
                  </a:solidFill>
                  <a:latin typeface="Assistant"/>
                  <a:ea typeface="Assistant"/>
                  <a:cs typeface="Assistant"/>
                  <a:sym typeface="Assistant"/>
                </a:rPr>
                <a:t>Heart Disease Dataset</a:t>
              </a:r>
              <a:r>
                <a:rPr b="0" lang="iw" sz="1050">
                  <a:solidFill>
                    <a:srgbClr val="7A8D9E"/>
                  </a:solidFill>
                  <a:latin typeface="Assistant"/>
                  <a:ea typeface="Assistant"/>
                  <a:cs typeface="Assistant"/>
                  <a:sym typeface="Assistant"/>
                </a:rPr>
                <a:t>, הזמין באתר </a:t>
              </a:r>
              <a:r>
                <a:rPr b="1" lang="iw" sz="1050">
                  <a:solidFill>
                    <a:srgbClr val="FFFFFF"/>
                  </a:solidFill>
                  <a:latin typeface="Assistant"/>
                  <a:ea typeface="Assistant"/>
                  <a:cs typeface="Assistant"/>
                  <a:sym typeface="Assistant"/>
                </a:rPr>
                <a:t>Kaggle</a:t>
              </a:r>
              <a:r>
                <a:rPr b="0" lang="iw" sz="1050">
                  <a:solidFill>
                    <a:srgbClr val="7A8D9E"/>
                  </a:solidFill>
                  <a:latin typeface="Assistant"/>
                  <a:ea typeface="Assistant"/>
                  <a:cs typeface="Assistant"/>
                  <a:sym typeface="Assistant"/>
                </a:rPr>
                <a:t>. המאגר מבוסס על נתוני </a:t>
              </a:r>
              <a:r>
                <a:rPr b="0" lang="iw" sz="1050">
                  <a:solidFill>
                    <a:srgbClr val="00E5FF"/>
                  </a:solidFill>
                  <a:latin typeface="Assistant"/>
                  <a:ea typeface="Assistant"/>
                  <a:cs typeface="Assistant"/>
                  <a:sym typeface="Assistant"/>
                </a:rPr>
                <a:t>Statlog Heart Disease Dataset</a:t>
              </a:r>
              <a:r>
                <a:rPr b="0" lang="iw" sz="1050">
                  <a:solidFill>
                    <a:srgbClr val="7A8D9E"/>
                  </a:solidFill>
                  <a:latin typeface="Assistant"/>
                  <a:ea typeface="Assistant"/>
                  <a:cs typeface="Assistant"/>
                  <a:sym typeface="Assistant"/>
                </a:rPr>
                <a:t>, והוא כולל מידע רפואי של כ־</a:t>
              </a:r>
              <a:r>
                <a:rPr b="0" lang="iw" sz="1050">
                  <a:solidFill>
                    <a:srgbClr val="7A8D9E"/>
                  </a:solidFill>
                  <a:latin typeface="Assistant"/>
                  <a:ea typeface="Assistant"/>
                  <a:cs typeface="Assistant"/>
                  <a:sym typeface="Assistant"/>
                </a:rPr>
                <a:t>1,000</a:t>
              </a:r>
              <a:r>
                <a:rPr b="0" lang="iw" sz="1050">
                  <a:solidFill>
                    <a:srgbClr val="7A8D9E"/>
                  </a:solidFill>
                  <a:latin typeface="Assistant"/>
                  <a:ea typeface="Assistant"/>
                  <a:cs typeface="Assistant"/>
                  <a:sym typeface="Assistant"/>
                </a:rPr>
                <a:t> מטופלים.</a:t>
              </a:r>
              <a:endParaRPr b="0" sz="1050">
                <a:solidFill>
                  <a:srgbClr val="7A8D9E"/>
                </a:solidFill>
                <a:latin typeface="Assistant"/>
                <a:ea typeface="Assistant"/>
                <a:cs typeface="Assistant"/>
                <a:sym typeface="Assistant"/>
              </a:endParaRPr>
            </a:p>
            <a:p>
              <a:pPr indent="0" lvl="0" marL="0" rtl="1" algn="r">
                <a:spcBef>
                  <a:spcPts val="1050"/>
                </a:spcBef>
                <a:spcAft>
                  <a:spcPts val="0"/>
                </a:spcAft>
                <a:buNone/>
              </a:pPr>
              <a:r>
                <a:rPr b="1" lang="iw" sz="1400">
                  <a:solidFill>
                    <a:srgbClr val="FFFFFF"/>
                  </a:solidFill>
                  <a:latin typeface="Assistant"/>
                  <a:ea typeface="Assistant"/>
                  <a:cs typeface="Assistant"/>
                  <a:sym typeface="Assistant"/>
                </a:rPr>
                <a:t>מטרת המודל</a:t>
              </a:r>
              <a:endParaRPr b="1" sz="1400">
                <a:solidFill>
                  <a:srgbClr val="FFFFFF"/>
                </a:solidFill>
                <a:latin typeface="Assistant"/>
                <a:ea typeface="Assistant"/>
                <a:cs typeface="Assistant"/>
                <a:sym typeface="Assistant"/>
              </a:endParaRPr>
            </a:p>
            <a:p>
              <a:pPr indent="0" lvl="0" marL="0" rtl="1" algn="r">
                <a:spcBef>
                  <a:spcPts val="750"/>
                </a:spcBef>
                <a:spcAft>
                  <a:spcPts val="0"/>
                </a:spcAft>
                <a:buNone/>
              </a:pPr>
              <a:r>
                <a:rPr b="0" lang="iw" sz="1050">
                  <a:solidFill>
                    <a:srgbClr val="7A8D9E"/>
                  </a:solidFill>
                  <a:latin typeface="Assistant"/>
                  <a:ea typeface="Assistant"/>
                  <a:cs typeface="Assistant"/>
                  <a:sym typeface="Assistant"/>
                </a:rPr>
                <a:t>המודל נועד לחזות ברמת דיוק מירבית האם המטופל סובל ממחלת לב על סמך המאפיינים הקליניים והפיזיולוגיים שנמדדו.</a:t>
              </a:r>
              <a:endParaRPr b="0" sz="1050">
                <a:solidFill>
                  <a:srgbClr val="7A8D9E"/>
                </a:solidFill>
                <a:latin typeface="Assistant"/>
                <a:ea typeface="Assistant"/>
                <a:cs typeface="Assistant"/>
                <a:sym typeface="Assistant"/>
              </a:endParaRPr>
            </a:p>
          </p:txBody>
        </p:sp>
      </p:grpSp>
      <p:grpSp>
        <p:nvGrpSpPr>
          <p:cNvPr id="228" name="Google Shape;228;p19"/>
          <p:cNvGrpSpPr/>
          <p:nvPr/>
        </p:nvGrpSpPr>
        <p:grpSpPr>
          <a:xfrm>
            <a:off x="571500" y="4381500"/>
            <a:ext cx="8001000" cy="333300"/>
            <a:chOff x="571500" y="4381500"/>
            <a:chExt cx="8001000" cy="333300"/>
          </a:xfrm>
        </p:grpSpPr>
        <p:sp>
          <p:nvSpPr>
            <p:cNvPr id="229" name="Google Shape;229;p19"/>
            <p:cNvSpPr/>
            <p:nvPr/>
          </p:nvSpPr>
          <p:spPr>
            <a:xfrm>
              <a:off x="571500" y="4381500"/>
              <a:ext cx="8001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9"/>
            <p:cNvSpPr/>
            <p:nvPr/>
          </p:nvSpPr>
          <p:spPr>
            <a:xfrm>
              <a:off x="7772400" y="4510088"/>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txBox="1"/>
            <p:nvPr/>
          </p:nvSpPr>
          <p:spPr>
            <a:xfrm>
              <a:off x="714375" y="4381500"/>
              <a:ext cx="69057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DATASET_INFO: STATLOG_HEART // 13_FEATURES </a:t>
              </a:r>
              <a:r>
                <a:rPr b="0" lang="iw" sz="1000">
                  <a:solidFill>
                    <a:srgbClr val="7A8D9E"/>
                  </a:solidFill>
                  <a:latin typeface="Assistant"/>
                  <a:ea typeface="Assistant"/>
                  <a:cs typeface="Assistant"/>
                  <a:sym typeface="Assistant"/>
                </a:rPr>
                <a:t>אפיון מאגר הנתונים, משתני הניבוי והגדרת משתנה המטרה של המודל</a:t>
              </a:r>
              <a:endParaRPr b="1" sz="1000">
                <a:solidFill>
                  <a:srgbClr val="00E5FF"/>
                </a:solidFill>
                <a:latin typeface="Courier New"/>
                <a:ea typeface="Courier New"/>
                <a:cs typeface="Courier New"/>
                <a:sym typeface="Courier New"/>
              </a:endParaRPr>
            </a:p>
          </p:txBody>
        </p:sp>
      </p:grpSp>
      <p:sp>
        <p:nvSpPr>
          <p:cNvPr id="232" name="Google Shape;232;p19"/>
          <p:cNvSpPr txBox="1"/>
          <p:nvPr/>
        </p:nvSpPr>
        <p:spPr>
          <a:xfrm>
            <a:off x="492825" y="4662400"/>
            <a:ext cx="7917300" cy="354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b="1" lang="iw" sz="1100">
                <a:solidFill>
                  <a:schemeClr val="lt1"/>
                </a:solidFill>
                <a:latin typeface="Assistant"/>
                <a:ea typeface="Assistant"/>
                <a:cs typeface="Assistant"/>
                <a:sym typeface="Assistant"/>
              </a:rPr>
              <a:t>שימוש בפרויקט:</a:t>
            </a:r>
            <a:r>
              <a:rPr lang="iw" sz="1100">
                <a:solidFill>
                  <a:schemeClr val="lt1"/>
                </a:solidFill>
                <a:latin typeface="Assistant"/>
                <a:ea typeface="Assistant"/>
                <a:cs typeface="Assistant"/>
                <a:sym typeface="Assistant"/>
              </a:rPr>
              <a:t> לאחר טעינת הדאטה בוצעו ניקוי נתונים, חלוקה ל־Train/Test והכנת הנתונים לאימון מודלי למידת המכונה. </a:t>
            </a:r>
            <a:endParaRPr>
              <a:solidFill>
                <a:schemeClr val="lt1"/>
              </a:solidFill>
              <a:latin typeface="Assistant"/>
              <a:ea typeface="Assistant"/>
              <a:cs typeface="Assistant"/>
              <a:sym typeface="Assistant"/>
            </a:endParaRPr>
          </a:p>
        </p:txBody>
      </p:sp>
      <p:grpSp>
        <p:nvGrpSpPr>
          <p:cNvPr id="233" name="Google Shape;233;p19"/>
          <p:cNvGrpSpPr/>
          <p:nvPr/>
        </p:nvGrpSpPr>
        <p:grpSpPr>
          <a:xfrm>
            <a:off x="571500" y="952500"/>
            <a:ext cx="4191000" cy="3238500"/>
            <a:chOff x="571500" y="952500"/>
            <a:chExt cx="4191000" cy="3238500"/>
          </a:xfrm>
        </p:grpSpPr>
        <p:sp>
          <p:nvSpPr>
            <p:cNvPr id="234" name="Google Shape;234;p19"/>
            <p:cNvSpPr/>
            <p:nvPr/>
          </p:nvSpPr>
          <p:spPr>
            <a:xfrm>
              <a:off x="571500" y="952500"/>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9"/>
            <p:cNvSpPr/>
            <p:nvPr/>
          </p:nvSpPr>
          <p:spPr>
            <a:xfrm>
              <a:off x="571500" y="952500"/>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9"/>
            <p:cNvSpPr txBox="1"/>
            <p:nvPr/>
          </p:nvSpPr>
          <p:spPr>
            <a:xfrm>
              <a:off x="762000" y="1095375"/>
              <a:ext cx="38100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FEATURES_LIST / 02</a:t>
              </a:r>
              <a:endParaRPr b="1" sz="100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מאפייני הדאטה (13 מאפיינים רפואיים)</a:t>
              </a:r>
              <a:endParaRPr b="1" sz="1400">
                <a:solidFill>
                  <a:srgbClr val="FFFFFF"/>
                </a:solidFill>
                <a:latin typeface="Assistant"/>
                <a:ea typeface="Assistant"/>
                <a:cs typeface="Assistant"/>
                <a:sym typeface="Assistant"/>
              </a:endParaRPr>
            </a:p>
            <a:p>
              <a:pPr indent="0" lvl="0" marL="0" rtl="1" algn="r">
                <a:spcBef>
                  <a:spcPts val="450"/>
                </a:spcBef>
                <a:spcAft>
                  <a:spcPts val="0"/>
                </a:spcAft>
                <a:buNone/>
              </a:pPr>
              <a:r>
                <a:rPr b="1" lang="iw" sz="1100">
                  <a:solidFill>
                    <a:srgbClr val="00E5FF"/>
                  </a:solidFill>
                  <a:latin typeface="Assistant"/>
                  <a:ea typeface="Assistant"/>
                  <a:cs typeface="Assistant"/>
                  <a:sym typeface="Assistant"/>
                </a:rPr>
                <a:t>Age</a:t>
              </a:r>
              <a:r>
                <a:rPr lang="iw"/>
                <a:t> </a:t>
              </a:r>
              <a:r>
                <a:rPr b="0" lang="iw" sz="1000">
                  <a:solidFill>
                    <a:srgbClr val="FFFFFF"/>
                  </a:solidFill>
                  <a:latin typeface="Assistant"/>
                  <a:ea typeface="Assistant"/>
                  <a:cs typeface="Assistant"/>
                  <a:sym typeface="Assistant"/>
                </a:rPr>
                <a:t>– גיל המטופל</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Sex</a:t>
              </a:r>
              <a:r>
                <a:rPr lang="iw"/>
                <a:t> </a:t>
              </a:r>
              <a:r>
                <a:rPr b="0" lang="iw" sz="1000">
                  <a:solidFill>
                    <a:srgbClr val="FFFFFF"/>
                  </a:solidFill>
                  <a:latin typeface="Assistant"/>
                  <a:ea typeface="Assistant"/>
                  <a:cs typeface="Assistant"/>
                  <a:sym typeface="Assistant"/>
                </a:rPr>
                <a:t>– מין</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Chest Pain Type (cp)</a:t>
              </a:r>
              <a:r>
                <a:rPr lang="iw"/>
                <a:t> </a:t>
              </a:r>
              <a:r>
                <a:rPr b="0" lang="iw" sz="1000">
                  <a:solidFill>
                    <a:srgbClr val="FFFFFF"/>
                  </a:solidFill>
                  <a:latin typeface="Assistant"/>
                  <a:ea typeface="Assistant"/>
                  <a:cs typeface="Assistant"/>
                  <a:sym typeface="Assistant"/>
                </a:rPr>
                <a:t>– סוג כאב בחזה</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Resting Blood Pressure</a:t>
              </a:r>
              <a:r>
                <a:rPr lang="iw"/>
                <a:t> </a:t>
              </a:r>
              <a:r>
                <a:rPr b="0" lang="iw" sz="1000">
                  <a:solidFill>
                    <a:srgbClr val="FFFFFF"/>
                  </a:solidFill>
                  <a:latin typeface="Assistant"/>
                  <a:ea typeface="Assistant"/>
                  <a:cs typeface="Assistant"/>
                  <a:sym typeface="Assistant"/>
                </a:rPr>
                <a:t>– לחץ דם במנוחה</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Cholesterol (chol)</a:t>
              </a:r>
              <a:r>
                <a:rPr lang="iw"/>
                <a:t> </a:t>
              </a:r>
              <a:r>
                <a:rPr b="0" lang="iw" sz="1000">
                  <a:solidFill>
                    <a:srgbClr val="FFFFFF"/>
                  </a:solidFill>
                  <a:latin typeface="Assistant"/>
                  <a:ea typeface="Assistant"/>
                  <a:cs typeface="Assistant"/>
                  <a:sym typeface="Assistant"/>
                </a:rPr>
                <a:t>– רמת כולסטרול</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Fasting Blood Sugar (fbs)</a:t>
              </a:r>
              <a:r>
                <a:rPr lang="iw"/>
                <a:t> </a:t>
              </a:r>
              <a:r>
                <a:rPr b="0" lang="iw" sz="1000">
                  <a:solidFill>
                    <a:srgbClr val="FFFFFF"/>
                  </a:solidFill>
                  <a:latin typeface="Assistant"/>
                  <a:ea typeface="Assistant"/>
                  <a:cs typeface="Assistant"/>
                  <a:sym typeface="Assistant"/>
                </a:rPr>
                <a:t>– רמת סוכר בצום</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Maximum Heart Rate (thalach)</a:t>
              </a:r>
              <a:r>
                <a:rPr lang="iw"/>
                <a:t> </a:t>
              </a:r>
              <a:r>
                <a:rPr b="0" lang="iw" sz="1000">
                  <a:solidFill>
                    <a:srgbClr val="FFFFFF"/>
                  </a:solidFill>
                  <a:latin typeface="Assistant"/>
                  <a:ea typeface="Assistant"/>
                  <a:cs typeface="Assistant"/>
                  <a:sym typeface="Assistant"/>
                </a:rPr>
                <a:t>– דופק מרבי</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Exercise Induced Angina (exang)</a:t>
              </a:r>
              <a:r>
                <a:rPr lang="iw"/>
                <a:t> </a:t>
              </a:r>
              <a:r>
                <a:rPr b="0" lang="iw" sz="1000">
                  <a:solidFill>
                    <a:srgbClr val="FFFFFF"/>
                  </a:solidFill>
                  <a:latin typeface="Assistant"/>
                  <a:ea typeface="Assistant"/>
                  <a:cs typeface="Assistant"/>
                  <a:sym typeface="Assistant"/>
                </a:rPr>
                <a:t>– תעוקת חזה בזמן מאמץ</a:t>
              </a:r>
              <a:endParaRPr/>
            </a:p>
            <a:p>
              <a:pPr indent="0" lvl="0" marL="0" rtl="1" algn="r">
                <a:spcBef>
                  <a:spcPts val="0"/>
                </a:spcBef>
                <a:spcAft>
                  <a:spcPts val="0"/>
                </a:spcAft>
                <a:buNone/>
              </a:pPr>
              <a:r>
                <a:rPr b="1" lang="iw" sz="1100">
                  <a:solidFill>
                    <a:srgbClr val="00E5FF"/>
                  </a:solidFill>
                  <a:latin typeface="Assistant"/>
                  <a:ea typeface="Assistant"/>
                  <a:cs typeface="Assistant"/>
                  <a:sym typeface="Assistant"/>
                </a:rPr>
                <a:t>Heart Disease (Target)</a:t>
              </a:r>
              <a:r>
                <a:rPr lang="iw"/>
                <a:t> </a:t>
              </a:r>
              <a:r>
                <a:rPr b="0" lang="iw" sz="1000">
                  <a:solidFill>
                    <a:srgbClr val="FFFFFF"/>
                  </a:solidFill>
                  <a:latin typeface="Assistant"/>
                  <a:ea typeface="Assistant"/>
                  <a:cs typeface="Assistant"/>
                  <a:sym typeface="Assistant"/>
                </a:rPr>
                <a:t>– משתנה המטרה המציין קיום מחלת לב</a:t>
              </a:r>
              <a:endParaRPr/>
            </a:p>
          </p:txBody>
        </p:sp>
      </p:grpSp>
      <p:pic>
        <p:nvPicPr>
          <p:cNvPr id="237" name="Google Shape;237;p19"/>
          <p:cNvPicPr preferRelativeResize="0"/>
          <p:nvPr/>
        </p:nvPicPr>
        <p:blipFill>
          <a:blip r:embed="rId3">
            <a:alphaModFix/>
          </a:blip>
          <a:stretch>
            <a:fillRect/>
          </a:stretch>
        </p:blipFill>
        <p:spPr>
          <a:xfrm>
            <a:off x="0" y="2625025"/>
            <a:ext cx="1600551" cy="1600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nvSpPr>
        <p:spPr>
          <a:xfrm>
            <a:off x="4286250" y="238125"/>
            <a:ext cx="4286400" cy="476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600">
                <a:solidFill>
                  <a:srgbClr val="FFFFFF"/>
                </a:solidFill>
                <a:latin typeface="Assistant ExtraBold"/>
                <a:ea typeface="Assistant ExtraBold"/>
                <a:cs typeface="Assistant ExtraBold"/>
                <a:sym typeface="Assistant ExtraBold"/>
              </a:rPr>
              <a:t>חלוקת המדגם ומאפייניו</a:t>
            </a:r>
            <a:endParaRPr b="0" sz="2600">
              <a:solidFill>
                <a:srgbClr val="FFFFFF"/>
              </a:solidFill>
              <a:latin typeface="Assistant ExtraBold"/>
              <a:ea typeface="Assistant ExtraBold"/>
              <a:cs typeface="Assistant ExtraBold"/>
              <a:sym typeface="Assistant ExtraBold"/>
            </a:endParaRPr>
          </a:p>
        </p:txBody>
      </p:sp>
      <p:grpSp>
        <p:nvGrpSpPr>
          <p:cNvPr id="243" name="Google Shape;243;p20"/>
          <p:cNvGrpSpPr/>
          <p:nvPr/>
        </p:nvGrpSpPr>
        <p:grpSpPr>
          <a:xfrm>
            <a:off x="571500" y="952500"/>
            <a:ext cx="3857700" cy="3238500"/>
            <a:chOff x="571500" y="952500"/>
            <a:chExt cx="3857700" cy="3238500"/>
          </a:xfrm>
        </p:grpSpPr>
        <p:sp>
          <p:nvSpPr>
            <p:cNvPr id="244" name="Google Shape;244;p20"/>
            <p:cNvSpPr/>
            <p:nvPr/>
          </p:nvSpPr>
          <p:spPr>
            <a:xfrm>
              <a:off x="571500" y="952500"/>
              <a:ext cx="38577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0"/>
            <p:cNvSpPr/>
            <p:nvPr/>
          </p:nvSpPr>
          <p:spPr>
            <a:xfrm>
              <a:off x="571500" y="952500"/>
              <a:ext cx="38577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0"/>
            <p:cNvSpPr txBox="1"/>
            <p:nvPr/>
          </p:nvSpPr>
          <p:spPr>
            <a:xfrm>
              <a:off x="762000" y="1095375"/>
              <a:ext cx="3476700" cy="571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Assistant"/>
                  <a:ea typeface="Assistant"/>
                  <a:cs typeface="Assistant"/>
                  <a:sym typeface="Assistant"/>
                </a:rPr>
                <a:t>02 / DESCRIPTIVE_STATS</a:t>
              </a:r>
              <a:endParaRPr b="1" sz="1000">
                <a:solidFill>
                  <a:srgbClr val="00E5FF"/>
                </a:solidFill>
                <a:latin typeface="Assistant"/>
                <a:ea typeface="Assistant"/>
                <a:cs typeface="Assistant"/>
                <a:sym typeface="Assistant"/>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פרמטרים סטטיסטיים של המאגר</a:t>
              </a:r>
              <a:endParaRPr b="1" sz="1400">
                <a:solidFill>
                  <a:srgbClr val="FFFFFF"/>
                </a:solidFill>
                <a:latin typeface="Assistant"/>
                <a:ea typeface="Assistant"/>
                <a:cs typeface="Assistant"/>
                <a:sym typeface="Assistant"/>
              </a:endParaRPr>
            </a:p>
          </p:txBody>
        </p:sp>
      </p:grpSp>
      <p:grpSp>
        <p:nvGrpSpPr>
          <p:cNvPr id="247" name="Google Shape;247;p20"/>
          <p:cNvGrpSpPr/>
          <p:nvPr/>
        </p:nvGrpSpPr>
        <p:grpSpPr>
          <a:xfrm>
            <a:off x="4714875" y="952500"/>
            <a:ext cx="3857700" cy="3238500"/>
            <a:chOff x="4714875" y="952500"/>
            <a:chExt cx="3857700" cy="3238500"/>
          </a:xfrm>
        </p:grpSpPr>
        <p:sp>
          <p:nvSpPr>
            <p:cNvPr id="248" name="Google Shape;248;p20"/>
            <p:cNvSpPr/>
            <p:nvPr/>
          </p:nvSpPr>
          <p:spPr>
            <a:xfrm>
              <a:off x="4714875" y="952500"/>
              <a:ext cx="38577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0"/>
            <p:cNvSpPr/>
            <p:nvPr/>
          </p:nvSpPr>
          <p:spPr>
            <a:xfrm>
              <a:off x="4714875" y="952500"/>
              <a:ext cx="38577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0"/>
            <p:cNvSpPr txBox="1"/>
            <p:nvPr/>
          </p:nvSpPr>
          <p:spPr>
            <a:xfrm>
              <a:off x="4905375" y="1095375"/>
              <a:ext cx="3476700" cy="5715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10B981"/>
                  </a:solidFill>
                  <a:latin typeface="Assistant"/>
                  <a:ea typeface="Assistant"/>
                  <a:cs typeface="Assistant"/>
                  <a:sym typeface="Assistant"/>
                </a:rPr>
                <a:t>01 / TARGET_DISTRIBUTION</a:t>
              </a:r>
              <a:endParaRPr b="1" sz="1000">
                <a:solidFill>
                  <a:srgbClr val="10B981"/>
                </a:solidFill>
                <a:latin typeface="Assistant"/>
                <a:ea typeface="Assistant"/>
                <a:cs typeface="Assistant"/>
                <a:sym typeface="Assistant"/>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חלוקת המשתנה המטרה</a:t>
              </a:r>
              <a:endParaRPr b="1" sz="1400">
                <a:solidFill>
                  <a:srgbClr val="FFFFFF"/>
                </a:solidFill>
                <a:latin typeface="Assistant"/>
                <a:ea typeface="Assistant"/>
                <a:cs typeface="Assistant"/>
                <a:sym typeface="Assistant"/>
              </a:endParaRPr>
            </a:p>
          </p:txBody>
        </p:sp>
        <p:sp>
          <p:nvSpPr>
            <p:cNvPr id="251" name="Google Shape;251;p20"/>
            <p:cNvSpPr txBox="1"/>
            <p:nvPr/>
          </p:nvSpPr>
          <p:spPr>
            <a:xfrm>
              <a:off x="4905375" y="3476625"/>
              <a:ext cx="3476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iw" sz="1050">
                  <a:solidFill>
                    <a:srgbClr val="7A8D9E"/>
                  </a:solidFill>
                  <a:latin typeface="Assistant"/>
                  <a:ea typeface="Assistant"/>
                  <a:cs typeface="Assistant"/>
                  <a:sym typeface="Assistant"/>
                </a:rPr>
                <a:t>The dataset is relatively balanced between healthy patients and patients diagnosed with heart disease, making it suitable for supervised classification.</a:t>
              </a:r>
              <a:endParaRPr b="0" sz="1050">
                <a:solidFill>
                  <a:srgbClr val="7A8D9E"/>
                </a:solidFill>
                <a:latin typeface="Assistant"/>
                <a:ea typeface="Assistant"/>
                <a:cs typeface="Assistant"/>
                <a:sym typeface="Assistant"/>
              </a:endParaRPr>
            </a:p>
          </p:txBody>
        </p:sp>
      </p:grpSp>
      <p:grpSp>
        <p:nvGrpSpPr>
          <p:cNvPr id="252" name="Google Shape;252;p20"/>
          <p:cNvGrpSpPr/>
          <p:nvPr/>
        </p:nvGrpSpPr>
        <p:grpSpPr>
          <a:xfrm>
            <a:off x="571500" y="4429125"/>
            <a:ext cx="8001000" cy="333300"/>
            <a:chOff x="571500" y="4429125"/>
            <a:chExt cx="8001000" cy="333300"/>
          </a:xfrm>
        </p:grpSpPr>
        <p:sp>
          <p:nvSpPr>
            <p:cNvPr id="253" name="Google Shape;253;p20"/>
            <p:cNvSpPr/>
            <p:nvPr/>
          </p:nvSpPr>
          <p:spPr>
            <a:xfrm>
              <a:off x="571500" y="4429125"/>
              <a:ext cx="8001000" cy="333300"/>
            </a:xfrm>
            <a:prstGeom prst="roundRect">
              <a:avLst>
                <a:gd fmla="val 11428"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0"/>
            <p:cNvSpPr/>
            <p:nvPr/>
          </p:nvSpPr>
          <p:spPr>
            <a:xfrm>
              <a:off x="7772400" y="4557713"/>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0"/>
            <p:cNvSpPr txBox="1"/>
            <p:nvPr/>
          </p:nvSpPr>
          <p:spPr>
            <a:xfrm>
              <a:off x="714375" y="4429125"/>
              <a:ext cx="6905700" cy="333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iw" sz="1000">
                  <a:solidFill>
                    <a:srgbClr val="00E5FF"/>
                  </a:solidFill>
                  <a:latin typeface="Courier New"/>
                  <a:ea typeface="Courier New"/>
                  <a:cs typeface="Courier New"/>
                  <a:sym typeface="Courier New"/>
                </a:rPr>
                <a:t>DATASET_ANALYSIS: DESCRIPTIVE_STATISTICS // TARGET_BALANCE </a:t>
              </a:r>
              <a:r>
                <a:rPr b="0" lang="iw" sz="1000">
                  <a:solidFill>
                    <a:srgbClr val="7A8D9E"/>
                  </a:solidFill>
                  <a:latin typeface="Assistant"/>
                  <a:ea typeface="Assistant"/>
                  <a:cs typeface="Assistant"/>
                  <a:sym typeface="Assistant"/>
                </a:rPr>
                <a:t>סקירה סטטיסטית של מאפייני המטופלים ואיזון משתנה המטרה במאגר</a:t>
              </a:r>
              <a:endParaRPr b="1" sz="1000">
                <a:solidFill>
                  <a:srgbClr val="00E5FF"/>
                </a:solidFill>
                <a:latin typeface="Courier New"/>
                <a:ea typeface="Courier New"/>
                <a:cs typeface="Courier New"/>
                <a:sym typeface="Courier New"/>
              </a:endParaRPr>
            </a:p>
          </p:txBody>
        </p:sp>
      </p:grpSp>
      <p:pic>
        <p:nvPicPr>
          <p:cNvPr id="256" name="Google Shape;256;p20"/>
          <p:cNvPicPr preferRelativeResize="0"/>
          <p:nvPr/>
        </p:nvPicPr>
        <p:blipFill>
          <a:blip r:embed="rId3">
            <a:alphaModFix/>
          </a:blip>
          <a:stretch>
            <a:fillRect/>
          </a:stretch>
        </p:blipFill>
        <p:spPr>
          <a:xfrm>
            <a:off x="1122275" y="1591700"/>
            <a:ext cx="2869775" cy="2550900"/>
          </a:xfrm>
          <a:prstGeom prst="rect">
            <a:avLst/>
          </a:prstGeom>
          <a:noFill/>
          <a:ln>
            <a:noFill/>
          </a:ln>
        </p:spPr>
      </p:pic>
      <p:pic>
        <p:nvPicPr>
          <p:cNvPr id="257" name="Google Shape;257;p20"/>
          <p:cNvPicPr preferRelativeResize="0"/>
          <p:nvPr/>
        </p:nvPicPr>
        <p:blipFill>
          <a:blip r:embed="rId4">
            <a:alphaModFix/>
          </a:blip>
          <a:stretch>
            <a:fillRect/>
          </a:stretch>
        </p:blipFill>
        <p:spPr>
          <a:xfrm>
            <a:off x="5340225" y="1591695"/>
            <a:ext cx="2607000" cy="173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nvSpPr>
        <p:spPr>
          <a:xfrm>
            <a:off x="3785675" y="200450"/>
            <a:ext cx="52389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מטריצת קורלציה (Correlation Matrix)</a:t>
            </a:r>
            <a:endParaRPr b="0" sz="2400">
              <a:solidFill>
                <a:srgbClr val="FFFFFF"/>
              </a:solidFill>
              <a:latin typeface="Assistant ExtraBold"/>
              <a:ea typeface="Assistant ExtraBold"/>
              <a:cs typeface="Assistant ExtraBold"/>
              <a:sym typeface="Assistant ExtraBold"/>
            </a:endParaRPr>
          </a:p>
        </p:txBody>
      </p:sp>
      <p:grpSp>
        <p:nvGrpSpPr>
          <p:cNvPr id="263" name="Google Shape;263;p21"/>
          <p:cNvGrpSpPr/>
          <p:nvPr/>
        </p:nvGrpSpPr>
        <p:grpSpPr>
          <a:xfrm>
            <a:off x="5906900" y="1220688"/>
            <a:ext cx="2857500" cy="3048000"/>
            <a:chOff x="6464275" y="1386088"/>
            <a:chExt cx="2857500" cy="3048000"/>
          </a:xfrm>
        </p:grpSpPr>
        <p:sp>
          <p:nvSpPr>
            <p:cNvPr id="264" name="Google Shape;264;p21"/>
            <p:cNvSpPr/>
            <p:nvPr/>
          </p:nvSpPr>
          <p:spPr>
            <a:xfrm>
              <a:off x="6464275" y="1386088"/>
              <a:ext cx="2857500" cy="3048000"/>
            </a:xfrm>
            <a:prstGeom prst="roundRect">
              <a:avLst>
                <a:gd fmla="val 2000"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21"/>
            <p:cNvSpPr/>
            <p:nvPr/>
          </p:nvSpPr>
          <p:spPr>
            <a:xfrm>
              <a:off x="6464275" y="1386100"/>
              <a:ext cx="28575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1"/>
            <p:cNvSpPr txBox="1"/>
            <p:nvPr/>
          </p:nvSpPr>
          <p:spPr>
            <a:xfrm>
              <a:off x="6654775" y="1576588"/>
              <a:ext cx="24765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1000">
                  <a:solidFill>
                    <a:srgbClr val="00E5FF"/>
                  </a:solidFill>
                  <a:latin typeface="Courier New"/>
                  <a:ea typeface="Courier New"/>
                  <a:cs typeface="Courier New"/>
                  <a:sym typeface="Courier New"/>
                </a:rPr>
                <a:t>CORRELATION_ANALYSIS / 03</a:t>
              </a:r>
              <a:endParaRPr b="1" sz="10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ניתוח קשרים ומתאמים</a:t>
              </a:r>
              <a:endParaRPr b="1" sz="1000">
                <a:solidFill>
                  <a:srgbClr val="00E5FF"/>
                </a:solidFill>
                <a:latin typeface="Courier New"/>
                <a:ea typeface="Courier New"/>
                <a:cs typeface="Courier New"/>
                <a:sym typeface="Courier New"/>
              </a:endParaRPr>
            </a:p>
            <a:p>
              <a:pPr indent="0" lvl="0" marL="0" rtl="1" algn="r">
                <a:spcBef>
                  <a:spcPts val="900"/>
                </a:spcBef>
                <a:spcAft>
                  <a:spcPts val="0"/>
                </a:spcAft>
                <a:buNone/>
              </a:pPr>
              <a:r>
                <a:rPr b="0" lang="iw" sz="1050">
                  <a:solidFill>
                    <a:srgbClr val="7A8D9E"/>
                  </a:solidFill>
                  <a:latin typeface="Assistant"/>
                  <a:ea typeface="Assistant"/>
                  <a:cs typeface="Assistant"/>
                  <a:sym typeface="Assistant"/>
                </a:rPr>
                <a:t>מטריצת הקורלציה מאפשרת לזהות קשרים והשפעות הדדיות בין המשתנים הקליניים השונים לבין משתנה המטרה (Target).</a:t>
              </a:r>
              <a:endParaRPr b="1" sz="1000">
                <a:solidFill>
                  <a:srgbClr val="00E5FF"/>
                </a:solidFill>
                <a:latin typeface="Courier New"/>
                <a:ea typeface="Courier New"/>
                <a:cs typeface="Courier New"/>
                <a:sym typeface="Courier New"/>
              </a:endParaRPr>
            </a:p>
            <a:p>
              <a:pPr indent="0" lvl="0" marL="0" rtl="1" algn="r">
                <a:spcBef>
                  <a:spcPts val="900"/>
                </a:spcBef>
                <a:spcAft>
                  <a:spcPts val="0"/>
                </a:spcAft>
                <a:buNone/>
              </a:pPr>
              <a:r>
                <a:rPr b="0" lang="iw" sz="1050">
                  <a:solidFill>
                    <a:srgbClr val="7A8D9E"/>
                  </a:solidFill>
                  <a:latin typeface="Assistant"/>
                  <a:ea typeface="Assistant"/>
                  <a:cs typeface="Assistant"/>
                  <a:sym typeface="Assistant"/>
                </a:rPr>
                <a:t>משתנים בעלי מתאם חזק (חיובי או שלילי) עשויים לתרום משמעותית לדיוק החיזוי של מודלי למידת המכונה.</a:t>
              </a:r>
              <a:endParaRPr b="1" sz="1000">
                <a:solidFill>
                  <a:srgbClr val="00E5FF"/>
                </a:solidFill>
                <a:latin typeface="Courier New"/>
                <a:ea typeface="Courier New"/>
                <a:cs typeface="Courier New"/>
                <a:sym typeface="Courier New"/>
              </a:endParaRPr>
            </a:p>
          </p:txBody>
        </p:sp>
      </p:grpSp>
      <p:pic>
        <p:nvPicPr>
          <p:cNvPr id="267" name="Google Shape;267;p21"/>
          <p:cNvPicPr preferRelativeResize="0"/>
          <p:nvPr/>
        </p:nvPicPr>
        <p:blipFill>
          <a:blip r:embed="rId3">
            <a:alphaModFix/>
          </a:blip>
          <a:stretch>
            <a:fillRect/>
          </a:stretch>
        </p:blipFill>
        <p:spPr>
          <a:xfrm>
            <a:off x="152400" y="784075"/>
            <a:ext cx="5602099" cy="39872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271" name="Shape 271"/>
        <p:cNvGrpSpPr/>
        <p:nvPr/>
      </p:nvGrpSpPr>
      <p:grpSpPr>
        <a:xfrm>
          <a:off x="0" y="0"/>
          <a:ext cx="0" cy="0"/>
          <a:chOff x="0" y="0"/>
          <a:chExt cx="0" cy="0"/>
        </a:xfrm>
      </p:grpSpPr>
      <p:sp>
        <p:nvSpPr>
          <p:cNvPr id="272" name="Google Shape;272;p22"/>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עיבוד מקדים של הנתונים</a:t>
            </a:r>
            <a:endParaRPr b="0" sz="2400">
              <a:solidFill>
                <a:srgbClr val="FFFFFF"/>
              </a:solidFill>
              <a:latin typeface="Assistant ExtraBold"/>
              <a:ea typeface="Assistant ExtraBold"/>
              <a:cs typeface="Assistant ExtraBold"/>
              <a:sym typeface="Assistant ExtraBold"/>
            </a:endParaRPr>
          </a:p>
        </p:txBody>
      </p:sp>
      <p:grpSp>
        <p:nvGrpSpPr>
          <p:cNvPr id="273" name="Google Shape;273;p22"/>
          <p:cNvGrpSpPr/>
          <p:nvPr/>
        </p:nvGrpSpPr>
        <p:grpSpPr>
          <a:xfrm>
            <a:off x="4381500" y="904875"/>
            <a:ext cx="4191000" cy="3238500"/>
            <a:chOff x="4381500" y="904875"/>
            <a:chExt cx="4191000" cy="3238500"/>
          </a:xfrm>
        </p:grpSpPr>
        <p:sp>
          <p:nvSpPr>
            <p:cNvPr id="274" name="Google Shape;274;p22"/>
            <p:cNvSpPr/>
            <p:nvPr/>
          </p:nvSpPr>
          <p:spPr>
            <a:xfrm>
              <a:off x="4381500" y="904875"/>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2"/>
            <p:cNvSpPr/>
            <p:nvPr/>
          </p:nvSpPr>
          <p:spPr>
            <a:xfrm>
              <a:off x="4381500" y="904875"/>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2"/>
            <p:cNvSpPr txBox="1"/>
            <p:nvPr/>
          </p:nvSpPr>
          <p:spPr>
            <a:xfrm>
              <a:off x="4572000" y="1047750"/>
              <a:ext cx="38100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PREPROCESSING_STEPS / 01</a:t>
              </a:r>
              <a:endParaRPr b="1" sz="9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300">
                  <a:solidFill>
                    <a:srgbClr val="FFFFFF"/>
                  </a:solidFill>
                  <a:latin typeface="Assistant"/>
                  <a:ea typeface="Assistant"/>
                  <a:cs typeface="Assistant"/>
                  <a:sym typeface="Assistant"/>
                </a:rPr>
                <a:t>שלבי עיבוד הנתונים</a:t>
              </a:r>
              <a:endParaRPr b="1" sz="90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150">
                  <a:solidFill>
                    <a:srgbClr val="00E5FF"/>
                  </a:solidFill>
                  <a:latin typeface="Assistant"/>
                  <a:ea typeface="Assistant"/>
                  <a:cs typeface="Assistant"/>
                  <a:sym typeface="Assistant"/>
                </a:rPr>
                <a:t>✔ טעינת הנתונים (Data Loading)</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קריאת קובץ הנתונים (CSV) באמצעות ספריית Pandas.</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בדיקת ערכים וסוגי משתנים</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וידוא שאין ערכים חסרים (NaN) ואימות פורמט המשתנים המתאים לניתוח.</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חלוקת הנתונים (Train/Test Split)</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חלוקת הדאטה ל־80% נתוני אימון ו־20% נתוני בדיקה להערכת המודל.</a:t>
              </a:r>
              <a:endParaRPr b="0" sz="1000">
                <a:solidFill>
                  <a:srgbClr val="7A8D9E"/>
                </a:solidFill>
                <a:latin typeface="Assistant"/>
                <a:ea typeface="Assistant"/>
                <a:cs typeface="Assistant"/>
                <a:sym typeface="Assistant"/>
              </a:endParaRPr>
            </a:p>
            <a:p>
              <a:pPr indent="0" lvl="0" marL="0" rtl="1" algn="r">
                <a:spcBef>
                  <a:spcPts val="750"/>
                </a:spcBef>
                <a:spcAft>
                  <a:spcPts val="0"/>
                </a:spcAft>
                <a:buNone/>
              </a:pPr>
              <a:r>
                <a:rPr b="1" lang="iw" sz="1150">
                  <a:solidFill>
                    <a:srgbClr val="00E5FF"/>
                  </a:solidFill>
                  <a:latin typeface="Assistant"/>
                  <a:ea typeface="Assistant"/>
                  <a:cs typeface="Assistant"/>
                  <a:sym typeface="Assistant"/>
                </a:rPr>
                <a:t>✔ נרמול הנתונים (Feature Scaling)</a:t>
              </a:r>
              <a:endParaRPr b="1" sz="900">
                <a:solidFill>
                  <a:srgbClr val="00E5FF"/>
                </a:solidFill>
                <a:latin typeface="Courier New"/>
                <a:ea typeface="Courier New"/>
                <a:cs typeface="Courier New"/>
                <a:sym typeface="Courier New"/>
              </a:endParaRPr>
            </a:p>
            <a:p>
              <a:pPr indent="0" lvl="0" marL="0" rtl="1" algn="r">
                <a:spcBef>
                  <a:spcPts val="150"/>
                </a:spcBef>
                <a:spcAft>
                  <a:spcPts val="0"/>
                </a:spcAft>
                <a:buNone/>
              </a:pPr>
              <a:r>
                <a:rPr b="0" lang="iw" sz="1000">
                  <a:solidFill>
                    <a:srgbClr val="7A8D9E"/>
                  </a:solidFill>
                  <a:latin typeface="Assistant"/>
                  <a:ea typeface="Assistant"/>
                  <a:cs typeface="Assistant"/>
                  <a:sym typeface="Assistant"/>
                </a:rPr>
                <a:t>בוצע עבור אלגוריתמים כגון SVM ו־KNN באמצעות StandardScaler.</a:t>
              </a:r>
              <a:endParaRPr b="0" sz="1000">
                <a:solidFill>
                  <a:srgbClr val="7A8D9E"/>
                </a:solidFill>
                <a:latin typeface="Assistant"/>
                <a:ea typeface="Assistant"/>
                <a:cs typeface="Assistant"/>
                <a:sym typeface="Assistant"/>
              </a:endParaRPr>
            </a:p>
          </p:txBody>
        </p:sp>
      </p:grpSp>
      <p:grpSp>
        <p:nvGrpSpPr>
          <p:cNvPr id="277" name="Google Shape;277;p22"/>
          <p:cNvGrpSpPr/>
          <p:nvPr/>
        </p:nvGrpSpPr>
        <p:grpSpPr>
          <a:xfrm>
            <a:off x="571500" y="904875"/>
            <a:ext cx="3429000" cy="3238500"/>
            <a:chOff x="571500" y="904875"/>
            <a:chExt cx="3429000" cy="3238500"/>
          </a:xfrm>
        </p:grpSpPr>
        <p:sp>
          <p:nvSpPr>
            <p:cNvPr id="278" name="Google Shape;278;p22"/>
            <p:cNvSpPr/>
            <p:nvPr/>
          </p:nvSpPr>
          <p:spPr>
            <a:xfrm>
              <a:off x="571500" y="904875"/>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2"/>
            <p:cNvSpPr/>
            <p:nvPr/>
          </p:nvSpPr>
          <p:spPr>
            <a:xfrm>
              <a:off x="571500" y="904875"/>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2"/>
            <p:cNvSpPr txBox="1"/>
            <p:nvPr/>
          </p:nvSpPr>
          <p:spPr>
            <a:xfrm>
              <a:off x="762000" y="1047750"/>
              <a:ext cx="3048000" cy="285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PIPELINE_FLOW / 02</a:t>
              </a:r>
              <a:endParaRPr b="1" sz="900">
                <a:solidFill>
                  <a:srgbClr val="10B981"/>
                </a:solidFill>
                <a:latin typeface="Courier New"/>
                <a:ea typeface="Courier New"/>
                <a:cs typeface="Courier New"/>
                <a:sym typeface="Courier New"/>
              </a:endParaRPr>
            </a:p>
          </p:txBody>
        </p:sp>
        <p:grpSp>
          <p:nvGrpSpPr>
            <p:cNvPr id="281" name="Google Shape;281;p22"/>
            <p:cNvGrpSpPr/>
            <p:nvPr/>
          </p:nvGrpSpPr>
          <p:grpSpPr>
            <a:xfrm>
              <a:off x="1333500" y="1381125"/>
              <a:ext cx="1905000" cy="2428800"/>
              <a:chOff x="1333500" y="1381125"/>
              <a:chExt cx="1905000" cy="2428800"/>
            </a:xfrm>
          </p:grpSpPr>
          <p:sp>
            <p:nvSpPr>
              <p:cNvPr id="282" name="Google Shape;282;p22"/>
              <p:cNvSpPr/>
              <p:nvPr/>
            </p:nvSpPr>
            <p:spPr>
              <a:xfrm>
                <a:off x="1333500" y="1381125"/>
                <a:ext cx="1905000" cy="333300"/>
              </a:xfrm>
              <a:prstGeom prst="roundRect">
                <a:avLst>
                  <a:gd fmla="val 11428" name="adj"/>
                </a:avLst>
              </a:prstGeom>
              <a:solidFill>
                <a:srgbClr val="1A2536"/>
              </a:solidFill>
              <a:ln cap="flat" cmpd="sng" w="9525">
                <a:solidFill>
                  <a:srgbClr val="1F32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txBox="1"/>
              <p:nvPr/>
            </p:nvSpPr>
            <p:spPr>
              <a:xfrm>
                <a:off x="1333500" y="138112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00E5FF"/>
                    </a:solidFill>
                    <a:latin typeface="Courier New"/>
                    <a:ea typeface="Courier New"/>
                    <a:cs typeface="Courier New"/>
                    <a:sym typeface="Courier New"/>
                  </a:rPr>
                  <a:t>Heart.csv</a:t>
                </a:r>
                <a:endParaRPr b="1" sz="950">
                  <a:solidFill>
                    <a:srgbClr val="00E5FF"/>
                  </a:solidFill>
                  <a:latin typeface="Courier New"/>
                  <a:ea typeface="Courier New"/>
                  <a:cs typeface="Courier New"/>
                  <a:sym typeface="Courier New"/>
                </a:endParaRPr>
              </a:p>
            </p:txBody>
          </p:sp>
          <p:pic>
            <p:nvPicPr>
              <p:cNvPr id="284" name="Google Shape;284;p22"/>
              <p:cNvPicPr preferRelativeResize="0"/>
              <p:nvPr/>
            </p:nvPicPr>
            <p:blipFill rotWithShape="1">
              <a:blip r:embed="rId3">
                <a:alphaModFix/>
              </a:blip>
              <a:srcRect b="0" l="0" r="0" t="0"/>
              <a:stretch/>
            </p:blipFill>
            <p:spPr>
              <a:xfrm>
                <a:off x="2276475" y="1714500"/>
                <a:ext cx="19200" cy="142800"/>
              </a:xfrm>
              <a:prstGeom prst="rect">
                <a:avLst/>
              </a:prstGeom>
              <a:noFill/>
              <a:ln>
                <a:noFill/>
              </a:ln>
            </p:spPr>
          </p:pic>
          <p:pic>
            <p:nvPicPr>
              <p:cNvPr id="285" name="Google Shape;285;p22"/>
              <p:cNvPicPr preferRelativeResize="0"/>
              <p:nvPr/>
            </p:nvPicPr>
            <p:blipFill rotWithShape="1">
              <a:blip r:embed="rId4">
                <a:alphaModFix/>
              </a:blip>
              <a:srcRect b="0" l="0" r="0" t="0"/>
              <a:stretch/>
            </p:blipFill>
            <p:spPr>
              <a:xfrm>
                <a:off x="2247900" y="1828800"/>
                <a:ext cx="76200" cy="57300"/>
              </a:xfrm>
              <a:prstGeom prst="rect">
                <a:avLst/>
              </a:prstGeom>
              <a:noFill/>
              <a:ln>
                <a:noFill/>
              </a:ln>
            </p:spPr>
          </p:pic>
          <p:sp>
            <p:nvSpPr>
              <p:cNvPr id="286" name="Google Shape;286;p22"/>
              <p:cNvSpPr/>
              <p:nvPr/>
            </p:nvSpPr>
            <p:spPr>
              <a:xfrm>
                <a:off x="1333500" y="1905000"/>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2"/>
              <p:cNvSpPr txBox="1"/>
              <p:nvPr/>
            </p:nvSpPr>
            <p:spPr>
              <a:xfrm>
                <a:off x="1333500" y="1905000"/>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1. Load Dataset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Pandas DataFrame</a:t>
                </a:r>
                <a:endParaRPr b="0" sz="850">
                  <a:solidFill>
                    <a:srgbClr val="7A8D9E"/>
                  </a:solidFill>
                  <a:latin typeface="Assistant"/>
                  <a:ea typeface="Assistant"/>
                  <a:cs typeface="Assistant"/>
                  <a:sym typeface="Assistant"/>
                </a:endParaRPr>
              </a:p>
            </p:txBody>
          </p:sp>
          <p:pic>
            <p:nvPicPr>
              <p:cNvPr id="288" name="Google Shape;288;p22"/>
              <p:cNvPicPr preferRelativeResize="0"/>
              <p:nvPr/>
            </p:nvPicPr>
            <p:blipFill rotWithShape="1">
              <a:blip r:embed="rId3">
                <a:alphaModFix/>
              </a:blip>
              <a:srcRect b="0" l="0" r="0" t="0"/>
              <a:stretch/>
            </p:blipFill>
            <p:spPr>
              <a:xfrm>
                <a:off x="2276475" y="2238375"/>
                <a:ext cx="19200" cy="142800"/>
              </a:xfrm>
              <a:prstGeom prst="rect">
                <a:avLst/>
              </a:prstGeom>
              <a:noFill/>
              <a:ln>
                <a:noFill/>
              </a:ln>
            </p:spPr>
          </p:pic>
          <p:pic>
            <p:nvPicPr>
              <p:cNvPr id="289" name="Google Shape;289;p22"/>
              <p:cNvPicPr preferRelativeResize="0"/>
              <p:nvPr/>
            </p:nvPicPr>
            <p:blipFill rotWithShape="1">
              <a:blip r:embed="rId4">
                <a:alphaModFix/>
              </a:blip>
              <a:srcRect b="0" l="0" r="0" t="0"/>
              <a:stretch/>
            </p:blipFill>
            <p:spPr>
              <a:xfrm>
                <a:off x="2247900" y="2352675"/>
                <a:ext cx="76200" cy="57300"/>
              </a:xfrm>
              <a:prstGeom prst="rect">
                <a:avLst/>
              </a:prstGeom>
              <a:noFill/>
              <a:ln>
                <a:noFill/>
              </a:ln>
            </p:spPr>
          </p:pic>
          <p:sp>
            <p:nvSpPr>
              <p:cNvPr id="290" name="Google Shape;290;p22"/>
              <p:cNvSpPr/>
              <p:nvPr/>
            </p:nvSpPr>
            <p:spPr>
              <a:xfrm>
                <a:off x="1333500" y="2428875"/>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2"/>
              <p:cNvSpPr txBox="1"/>
              <p:nvPr/>
            </p:nvSpPr>
            <p:spPr>
              <a:xfrm>
                <a:off x="1333500" y="242887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2. Clean &amp; Validate</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Missing Values &amp; Types</a:t>
                </a:r>
                <a:endParaRPr b="0" sz="850">
                  <a:solidFill>
                    <a:srgbClr val="7A8D9E"/>
                  </a:solidFill>
                  <a:latin typeface="Assistant"/>
                  <a:ea typeface="Assistant"/>
                  <a:cs typeface="Assistant"/>
                  <a:sym typeface="Assistant"/>
                </a:endParaRPr>
              </a:p>
            </p:txBody>
          </p:sp>
          <p:pic>
            <p:nvPicPr>
              <p:cNvPr id="292" name="Google Shape;292;p22"/>
              <p:cNvPicPr preferRelativeResize="0"/>
              <p:nvPr/>
            </p:nvPicPr>
            <p:blipFill rotWithShape="1">
              <a:blip r:embed="rId3">
                <a:alphaModFix/>
              </a:blip>
              <a:srcRect b="0" l="0" r="0" t="0"/>
              <a:stretch/>
            </p:blipFill>
            <p:spPr>
              <a:xfrm>
                <a:off x="2276475" y="2762250"/>
                <a:ext cx="19200" cy="142800"/>
              </a:xfrm>
              <a:prstGeom prst="rect">
                <a:avLst/>
              </a:prstGeom>
              <a:noFill/>
              <a:ln>
                <a:noFill/>
              </a:ln>
            </p:spPr>
          </p:pic>
          <p:pic>
            <p:nvPicPr>
              <p:cNvPr id="293" name="Google Shape;293;p22"/>
              <p:cNvPicPr preferRelativeResize="0"/>
              <p:nvPr/>
            </p:nvPicPr>
            <p:blipFill rotWithShape="1">
              <a:blip r:embed="rId4">
                <a:alphaModFix/>
              </a:blip>
              <a:srcRect b="0" l="0" r="0" t="0"/>
              <a:stretch/>
            </p:blipFill>
            <p:spPr>
              <a:xfrm>
                <a:off x="2247900" y="2876550"/>
                <a:ext cx="76200" cy="57300"/>
              </a:xfrm>
              <a:prstGeom prst="rect">
                <a:avLst/>
              </a:prstGeom>
              <a:noFill/>
              <a:ln>
                <a:noFill/>
              </a:ln>
            </p:spPr>
          </p:pic>
          <p:sp>
            <p:nvSpPr>
              <p:cNvPr id="294" name="Google Shape;294;p22"/>
              <p:cNvSpPr/>
              <p:nvPr/>
            </p:nvSpPr>
            <p:spPr>
              <a:xfrm>
                <a:off x="1333500" y="2952750"/>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2"/>
              <p:cNvSpPr txBox="1"/>
              <p:nvPr/>
            </p:nvSpPr>
            <p:spPr>
              <a:xfrm>
                <a:off x="1333500" y="2952750"/>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3. Feature Scaling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StandardScaler</a:t>
                </a:r>
                <a:endParaRPr b="0" sz="850">
                  <a:solidFill>
                    <a:srgbClr val="7A8D9E"/>
                  </a:solidFill>
                  <a:latin typeface="Assistant"/>
                  <a:ea typeface="Assistant"/>
                  <a:cs typeface="Assistant"/>
                  <a:sym typeface="Assistant"/>
                </a:endParaRPr>
              </a:p>
            </p:txBody>
          </p:sp>
          <p:pic>
            <p:nvPicPr>
              <p:cNvPr id="296" name="Google Shape;296;p22"/>
              <p:cNvPicPr preferRelativeResize="0"/>
              <p:nvPr/>
            </p:nvPicPr>
            <p:blipFill rotWithShape="1">
              <a:blip r:embed="rId3">
                <a:alphaModFix/>
              </a:blip>
              <a:srcRect b="0" l="0" r="0" t="0"/>
              <a:stretch/>
            </p:blipFill>
            <p:spPr>
              <a:xfrm>
                <a:off x="2276475" y="3286125"/>
                <a:ext cx="19200" cy="142800"/>
              </a:xfrm>
              <a:prstGeom prst="rect">
                <a:avLst/>
              </a:prstGeom>
              <a:noFill/>
              <a:ln>
                <a:noFill/>
              </a:ln>
            </p:spPr>
          </p:pic>
          <p:pic>
            <p:nvPicPr>
              <p:cNvPr id="297" name="Google Shape;297;p22"/>
              <p:cNvPicPr preferRelativeResize="0"/>
              <p:nvPr/>
            </p:nvPicPr>
            <p:blipFill rotWithShape="1">
              <a:blip r:embed="rId4">
                <a:alphaModFix/>
              </a:blip>
              <a:srcRect b="0" l="0" r="0" t="0"/>
              <a:stretch/>
            </p:blipFill>
            <p:spPr>
              <a:xfrm>
                <a:off x="2247900" y="3400425"/>
                <a:ext cx="76200" cy="57300"/>
              </a:xfrm>
              <a:prstGeom prst="rect">
                <a:avLst/>
              </a:prstGeom>
              <a:noFill/>
              <a:ln>
                <a:noFill/>
              </a:ln>
            </p:spPr>
          </p:pic>
          <p:sp>
            <p:nvSpPr>
              <p:cNvPr id="298" name="Google Shape;298;p22"/>
              <p:cNvSpPr/>
              <p:nvPr/>
            </p:nvSpPr>
            <p:spPr>
              <a:xfrm>
                <a:off x="1333500" y="3476625"/>
                <a:ext cx="1905000" cy="333300"/>
              </a:xfrm>
              <a:prstGeom prst="roundRect">
                <a:avLst>
                  <a:gd fmla="val 11428"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2"/>
              <p:cNvSpPr txBox="1"/>
              <p:nvPr/>
            </p:nvSpPr>
            <p:spPr>
              <a:xfrm>
                <a:off x="1333500" y="3476625"/>
                <a:ext cx="1905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4. Train / Test Split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50">
                    <a:solidFill>
                      <a:srgbClr val="7A8D9E"/>
                    </a:solidFill>
                    <a:latin typeface="Assistant"/>
                    <a:ea typeface="Assistant"/>
                    <a:cs typeface="Assistant"/>
                    <a:sym typeface="Assistant"/>
                  </a:rPr>
                  <a:t>80% Train / 20% Test</a:t>
                </a:r>
                <a:endParaRPr b="0" sz="850">
                  <a:solidFill>
                    <a:srgbClr val="7A8D9E"/>
                  </a:solidFill>
                  <a:latin typeface="Assistant"/>
                  <a:ea typeface="Assistant"/>
                  <a:cs typeface="Assistant"/>
                  <a:sym typeface="Assistant"/>
                </a:endParaRPr>
              </a:p>
            </p:txBody>
          </p:sp>
        </p:grpSp>
      </p:grpSp>
      <p:grpSp>
        <p:nvGrpSpPr>
          <p:cNvPr id="300" name="Google Shape;300;p22"/>
          <p:cNvGrpSpPr/>
          <p:nvPr/>
        </p:nvGrpSpPr>
        <p:grpSpPr>
          <a:xfrm>
            <a:off x="571500" y="4333875"/>
            <a:ext cx="8001000" cy="362100"/>
            <a:chOff x="571500" y="4333875"/>
            <a:chExt cx="8001000" cy="362100"/>
          </a:xfrm>
        </p:grpSpPr>
        <p:sp>
          <p:nvSpPr>
            <p:cNvPr id="301" name="Google Shape;301;p22"/>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2"/>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2"/>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תוצר התהליך:</a:t>
              </a:r>
              <a:r>
                <a:rPr b="1" lang="iw" sz="900">
                  <a:solidFill>
                    <a:srgbClr val="00E5FF"/>
                  </a:solidFill>
                  <a:latin typeface="Courier New"/>
                  <a:ea typeface="Courier New"/>
                  <a:cs typeface="Courier New"/>
                  <a:sym typeface="Courier New"/>
                </a:rPr>
                <a:t> </a:t>
              </a:r>
              <a:r>
                <a:rPr b="0" lang="iw" sz="900">
                  <a:solidFill>
                    <a:srgbClr val="7A8D9E"/>
                  </a:solidFill>
                  <a:latin typeface="Assistant"/>
                  <a:ea typeface="Assistant"/>
                  <a:cs typeface="Assistant"/>
                  <a:sym typeface="Assistant"/>
                </a:rPr>
                <a:t>נתונים נקיים, מנורמלים ומוכנים באופן מלא לשלב האימון וההשוואה בין מודלי הסיווג השונים.</a:t>
              </a:r>
              <a:endParaRPr b="1" sz="900">
                <a:solidFill>
                  <a:srgbClr val="00E5FF"/>
                </a:solidFill>
                <a:latin typeface="Courier New"/>
                <a:ea typeface="Courier New"/>
                <a:cs typeface="Courier New"/>
                <a:sym typeface="Courier New"/>
              </a:endParaRPr>
            </a:p>
          </p:txBody>
        </p:sp>
      </p:grpSp>
      <p:sp>
        <p:nvSpPr>
          <p:cNvPr id="304" name="Google Shape;304;p22"/>
          <p:cNvSpPr txBox="1"/>
          <p:nvPr/>
        </p:nvSpPr>
        <p:spPr>
          <a:xfrm>
            <a:off x="1664600" y="606550"/>
            <a:ext cx="6954300" cy="338700"/>
          </a:xfrm>
          <a:prstGeom prst="rect">
            <a:avLst/>
          </a:prstGeom>
          <a:noFill/>
          <a:ln>
            <a:noFill/>
          </a:ln>
        </p:spPr>
        <p:txBody>
          <a:bodyPr anchorCtr="0" anchor="t" bIns="91425" lIns="91425" spcFirstLastPara="1" rIns="91425" wrap="square" tIns="91425">
            <a:spAutoFit/>
          </a:bodyPr>
          <a:lstStyle/>
          <a:p>
            <a:pPr indent="0" lvl="0" marL="0" rtl="1" algn="r">
              <a:spcBef>
                <a:spcPts val="0"/>
              </a:spcBef>
              <a:spcAft>
                <a:spcPts val="0"/>
              </a:spcAft>
              <a:buNone/>
            </a:pPr>
            <a:r>
              <a:rPr lang="iw" sz="1000">
                <a:solidFill>
                  <a:schemeClr val="lt1"/>
                </a:solidFill>
                <a:latin typeface="Assistant"/>
                <a:ea typeface="Assistant"/>
                <a:cs typeface="Assistant"/>
                <a:sym typeface="Assistant"/>
              </a:rPr>
              <a:t>לפני אימון מודלי למידת המכונה, בוצע תהליך עיבוד מקדים (Preprocessing) במטרה להכין את הנתונים לניתוח ולשפר את איכות המודל. </a:t>
            </a:r>
            <a:endParaRPr sz="1000">
              <a:solidFill>
                <a:schemeClr val="lt1"/>
              </a:solidFill>
              <a:latin typeface="Assistant"/>
              <a:ea typeface="Assistant"/>
              <a:cs typeface="Assistant"/>
              <a:sym typeface="Assistan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08" name="Shape 308"/>
        <p:cNvGrpSpPr/>
        <p:nvPr/>
      </p:nvGrpSpPr>
      <p:grpSpPr>
        <a:xfrm>
          <a:off x="0" y="0"/>
          <a:ext cx="0" cy="0"/>
          <a:chOff x="0" y="0"/>
          <a:chExt cx="0" cy="0"/>
        </a:xfrm>
      </p:grpSpPr>
      <p:grpSp>
        <p:nvGrpSpPr>
          <p:cNvPr id="309" name="Google Shape;309;p23"/>
          <p:cNvGrpSpPr/>
          <p:nvPr/>
        </p:nvGrpSpPr>
        <p:grpSpPr>
          <a:xfrm>
            <a:off x="4381500" y="238125"/>
            <a:ext cx="4191000" cy="428700"/>
            <a:chOff x="4381500" y="238125"/>
            <a:chExt cx="4191000" cy="428700"/>
          </a:xfrm>
        </p:grpSpPr>
        <p:sp>
          <p:nvSpPr>
            <p:cNvPr id="310" name="Google Shape;310;p23"/>
            <p:cNvSpPr/>
            <p:nvPr/>
          </p:nvSpPr>
          <p:spPr>
            <a:xfrm>
              <a:off x="4381500" y="238125"/>
              <a:ext cx="419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3"/>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ארכיטקטורת המערכת</a:t>
              </a:r>
              <a:endParaRPr b="0" sz="2400">
                <a:solidFill>
                  <a:srgbClr val="FFFFFF"/>
                </a:solidFill>
                <a:latin typeface="Assistant ExtraBold"/>
                <a:ea typeface="Assistant ExtraBold"/>
                <a:cs typeface="Assistant ExtraBold"/>
                <a:sym typeface="Assistant ExtraBold"/>
              </a:endParaRPr>
            </a:p>
          </p:txBody>
        </p:sp>
      </p:grpSp>
      <p:grpSp>
        <p:nvGrpSpPr>
          <p:cNvPr id="312" name="Google Shape;312;p23"/>
          <p:cNvGrpSpPr/>
          <p:nvPr/>
        </p:nvGrpSpPr>
        <p:grpSpPr>
          <a:xfrm>
            <a:off x="1619250" y="600075"/>
            <a:ext cx="6953400" cy="333300"/>
            <a:chOff x="1619250" y="600075"/>
            <a:chExt cx="6953400" cy="333300"/>
          </a:xfrm>
        </p:grpSpPr>
        <p:sp>
          <p:nvSpPr>
            <p:cNvPr id="313" name="Google Shape;313;p23"/>
            <p:cNvSpPr/>
            <p:nvPr/>
          </p:nvSpPr>
          <p:spPr>
            <a:xfrm>
              <a:off x="1619250" y="600075"/>
              <a:ext cx="69534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3"/>
            <p:cNvSpPr txBox="1"/>
            <p:nvPr/>
          </p:nvSpPr>
          <p:spPr>
            <a:xfrm>
              <a:off x="1619250" y="600075"/>
              <a:ext cx="6953400" cy="333300"/>
            </a:xfrm>
            <a:prstGeom prst="rect">
              <a:avLst/>
            </a:prstGeom>
            <a:noFill/>
            <a:ln>
              <a:noFill/>
            </a:ln>
          </p:spPr>
          <p:txBody>
            <a:bodyPr anchorCtr="0" anchor="t" bIns="47625" lIns="47625" spcFirstLastPara="1" rIns="47625" wrap="square" tIns="47625">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מבנה זרימת הנתונים מקצה לקצה: החל מטעינת מאגר המידע, דרך עיבוד והפקת מאפיינים, אימון מודלים ועד להגשה למשתמש הקצה.</a:t>
              </a:r>
              <a:endParaRPr b="0" sz="1000">
                <a:solidFill>
                  <a:srgbClr val="7A8D9E"/>
                </a:solidFill>
                <a:latin typeface="Assistant"/>
                <a:ea typeface="Assistant"/>
                <a:cs typeface="Assistant"/>
                <a:sym typeface="Assistant"/>
              </a:endParaRPr>
            </a:p>
          </p:txBody>
        </p:sp>
      </p:grpSp>
      <p:grpSp>
        <p:nvGrpSpPr>
          <p:cNvPr id="315" name="Google Shape;315;p23"/>
          <p:cNvGrpSpPr/>
          <p:nvPr/>
        </p:nvGrpSpPr>
        <p:grpSpPr>
          <a:xfrm>
            <a:off x="4381500" y="904875"/>
            <a:ext cx="4191000" cy="3238500"/>
            <a:chOff x="4381500" y="904875"/>
            <a:chExt cx="4191000" cy="3238500"/>
          </a:xfrm>
        </p:grpSpPr>
        <p:sp>
          <p:nvSpPr>
            <p:cNvPr id="316" name="Google Shape;316;p23"/>
            <p:cNvSpPr/>
            <p:nvPr/>
          </p:nvSpPr>
          <p:spPr>
            <a:xfrm>
              <a:off x="4381500" y="904875"/>
              <a:ext cx="4191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3"/>
            <p:cNvSpPr/>
            <p:nvPr/>
          </p:nvSpPr>
          <p:spPr>
            <a:xfrm>
              <a:off x="4381500" y="904875"/>
              <a:ext cx="4191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3"/>
            <p:cNvSpPr txBox="1"/>
            <p:nvPr/>
          </p:nvSpPr>
          <p:spPr>
            <a:xfrm>
              <a:off x="4572000" y="1047750"/>
              <a:ext cx="38100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SYSTEM_ARCHITECTURE / 01</a:t>
              </a:r>
              <a:endParaRPr b="1" sz="90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300">
                  <a:solidFill>
                    <a:srgbClr val="FFFFFF"/>
                  </a:solidFill>
                  <a:latin typeface="Assistant"/>
                  <a:ea typeface="Assistant"/>
                  <a:cs typeface="Assistant"/>
                  <a:sym typeface="Assistant"/>
                </a:rPr>
                <a:t>פירוט שלבי הארכיטקטורה</a:t>
              </a:r>
              <a:endParaRPr b="1" sz="13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50">
                  <a:solidFill>
                    <a:srgbClr val="00E5FF"/>
                  </a:solidFill>
                  <a:latin typeface="Assistant"/>
                  <a:ea typeface="Assistant"/>
                  <a:cs typeface="Assistant"/>
                  <a:sym typeface="Assistant"/>
                </a:rPr>
                <a:t>1. Dataset &amp; Preprocessing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טעינת קובץ הנתונים וביצוע עיבוד מקדים הכולל ניקוי, טיפול בערכים חסרים ונרמול משתנים קליניים.</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1" lang="iw" sz="1150">
                  <a:solidFill>
                    <a:srgbClr val="00E5FF"/>
                  </a:solidFill>
                  <a:latin typeface="Assistant"/>
                  <a:ea typeface="Assistant"/>
                  <a:cs typeface="Assistant"/>
                  <a:sym typeface="Assistant"/>
                </a:rPr>
                <a:t>2. Feature Extraction &amp; Training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חילוץ ובחירת המאפיינים הרלוונטיים ביותר לחיזוי. חלוקת המידע ואימון מודלים מקבילים של SVM ו־Random Forest.</a:t>
              </a:r>
              <a:endParaRPr b="0" sz="1000">
                <a:solidFill>
                  <a:srgbClr val="7A8D9E"/>
                </a:solidFill>
                <a:latin typeface="Assistant"/>
                <a:ea typeface="Assistant"/>
                <a:cs typeface="Assistant"/>
                <a:sym typeface="Assistant"/>
              </a:endParaRPr>
            </a:p>
            <a:p>
              <a:pPr indent="0" lvl="0" marL="0" rtl="1" algn="r">
                <a:spcBef>
                  <a:spcPts val="600"/>
                </a:spcBef>
                <a:spcAft>
                  <a:spcPts val="0"/>
                </a:spcAft>
                <a:buNone/>
              </a:pPr>
              <a:r>
                <a:rPr b="1" lang="iw" sz="1150">
                  <a:solidFill>
                    <a:srgbClr val="00E5FF"/>
                  </a:solidFill>
                  <a:latin typeface="Assistant"/>
                  <a:ea typeface="Assistant"/>
                  <a:cs typeface="Assistant"/>
                  <a:sym typeface="Assistant"/>
                </a:rPr>
                <a:t>3. Prediction &amp; Serving</a:t>
              </a:r>
              <a:endParaRPr b="1" sz="1150">
                <a:solidFill>
                  <a:srgbClr val="00E5FF"/>
                </a:solidFill>
                <a:latin typeface="Assistant"/>
                <a:ea typeface="Assistant"/>
                <a:cs typeface="Assistant"/>
                <a:sym typeface="Assistant"/>
              </a:endParaRPr>
            </a:p>
            <a:p>
              <a:pPr indent="0" lvl="0" marL="0" rtl="1" algn="r">
                <a:spcBef>
                  <a:spcPts val="75"/>
                </a:spcBef>
                <a:spcAft>
                  <a:spcPts val="0"/>
                </a:spcAft>
                <a:buNone/>
              </a:pPr>
              <a:r>
                <a:rPr b="0" lang="iw" sz="1000">
                  <a:solidFill>
                    <a:srgbClr val="7A8D9E"/>
                  </a:solidFill>
                  <a:latin typeface="Assistant"/>
                  <a:ea typeface="Assistant"/>
                  <a:cs typeface="Assistant"/>
                  <a:sym typeface="Assistant"/>
                </a:rPr>
                <a:t>קבלת החלטה וחיזוי הסתברותי למחלת לב, המונגש בזמן אמת באמצעות שרת Flask ייעודי לממשק המשתמש.</a:t>
              </a:r>
              <a:endParaRPr b="0" sz="1000">
                <a:solidFill>
                  <a:srgbClr val="7A8D9E"/>
                </a:solidFill>
                <a:latin typeface="Assistant"/>
                <a:ea typeface="Assistant"/>
                <a:cs typeface="Assistant"/>
                <a:sym typeface="Assistant"/>
              </a:endParaRPr>
            </a:p>
          </p:txBody>
        </p:sp>
      </p:grpSp>
      <p:grpSp>
        <p:nvGrpSpPr>
          <p:cNvPr id="319" name="Google Shape;319;p23"/>
          <p:cNvGrpSpPr/>
          <p:nvPr/>
        </p:nvGrpSpPr>
        <p:grpSpPr>
          <a:xfrm>
            <a:off x="571500" y="904875"/>
            <a:ext cx="3429000" cy="3238500"/>
            <a:chOff x="571500" y="904875"/>
            <a:chExt cx="3429000" cy="3238500"/>
          </a:xfrm>
        </p:grpSpPr>
        <p:sp>
          <p:nvSpPr>
            <p:cNvPr id="320" name="Google Shape;320;p23"/>
            <p:cNvSpPr/>
            <p:nvPr/>
          </p:nvSpPr>
          <p:spPr>
            <a:xfrm>
              <a:off x="571500" y="904875"/>
              <a:ext cx="34290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3"/>
            <p:cNvSpPr/>
            <p:nvPr/>
          </p:nvSpPr>
          <p:spPr>
            <a:xfrm>
              <a:off x="571500" y="904875"/>
              <a:ext cx="34290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3"/>
            <p:cNvSpPr txBox="1"/>
            <p:nvPr/>
          </p:nvSpPr>
          <p:spPr>
            <a:xfrm>
              <a:off x="762000" y="1000125"/>
              <a:ext cx="3048000" cy="2382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PIPELINE_FLOW / 02</a:t>
              </a:r>
              <a:endParaRPr b="1" sz="900">
                <a:solidFill>
                  <a:srgbClr val="10B981"/>
                </a:solidFill>
                <a:latin typeface="Courier New"/>
                <a:ea typeface="Courier New"/>
                <a:cs typeface="Courier New"/>
                <a:sym typeface="Courier New"/>
              </a:endParaRPr>
            </a:p>
          </p:txBody>
        </p:sp>
        <p:grpSp>
          <p:nvGrpSpPr>
            <p:cNvPr id="323" name="Google Shape;323;p23"/>
            <p:cNvGrpSpPr/>
            <p:nvPr/>
          </p:nvGrpSpPr>
          <p:grpSpPr>
            <a:xfrm>
              <a:off x="1285875" y="1257300"/>
              <a:ext cx="2000250" cy="2686050"/>
              <a:chOff x="1285875" y="1257300"/>
              <a:chExt cx="2000250" cy="2686050"/>
            </a:xfrm>
          </p:grpSpPr>
          <p:sp>
            <p:nvSpPr>
              <p:cNvPr id="324" name="Google Shape;324;p23"/>
              <p:cNvSpPr/>
              <p:nvPr/>
            </p:nvSpPr>
            <p:spPr>
              <a:xfrm>
                <a:off x="1285875" y="1257300"/>
                <a:ext cx="2000100" cy="324000"/>
              </a:xfrm>
              <a:prstGeom prst="roundRect">
                <a:avLst>
                  <a:gd fmla="val 11764" name="adj"/>
                </a:avLst>
              </a:prstGeom>
              <a:solidFill>
                <a:srgbClr val="1A2536"/>
              </a:solidFill>
              <a:ln cap="flat" cmpd="sng" w="9525">
                <a:solidFill>
                  <a:srgbClr val="1F325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3"/>
              <p:cNvSpPr txBox="1"/>
              <p:nvPr/>
            </p:nvSpPr>
            <p:spPr>
              <a:xfrm>
                <a:off x="1285875" y="12573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Dataset</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Heart Disease Kaggle</a:t>
                </a:r>
                <a:endParaRPr b="0" sz="800">
                  <a:solidFill>
                    <a:srgbClr val="7A8D9E"/>
                  </a:solidFill>
                  <a:latin typeface="Assistant"/>
                  <a:ea typeface="Assistant"/>
                  <a:cs typeface="Assistant"/>
                  <a:sym typeface="Assistant"/>
                </a:endParaRPr>
              </a:p>
            </p:txBody>
          </p:sp>
          <p:pic>
            <p:nvPicPr>
              <p:cNvPr id="326" name="Google Shape;326;p23"/>
              <p:cNvPicPr preferRelativeResize="0"/>
              <p:nvPr/>
            </p:nvPicPr>
            <p:blipFill rotWithShape="1">
              <a:blip r:embed="rId3">
                <a:alphaModFix/>
              </a:blip>
              <a:srcRect b="0" l="0" r="0" t="0"/>
              <a:stretch/>
            </p:blipFill>
            <p:spPr>
              <a:xfrm>
                <a:off x="2276475" y="1581150"/>
                <a:ext cx="19200" cy="114300"/>
              </a:xfrm>
              <a:prstGeom prst="rect">
                <a:avLst/>
              </a:prstGeom>
              <a:noFill/>
              <a:ln>
                <a:noFill/>
              </a:ln>
            </p:spPr>
          </p:pic>
          <p:pic>
            <p:nvPicPr>
              <p:cNvPr id="327" name="Google Shape;327;p23"/>
              <p:cNvPicPr preferRelativeResize="0"/>
              <p:nvPr/>
            </p:nvPicPr>
            <p:blipFill rotWithShape="1">
              <a:blip r:embed="rId4">
                <a:alphaModFix/>
              </a:blip>
              <a:srcRect b="0" l="0" r="0" t="0"/>
              <a:stretch/>
            </p:blipFill>
            <p:spPr>
              <a:xfrm>
                <a:off x="2257425" y="1676400"/>
                <a:ext cx="57300" cy="57300"/>
              </a:xfrm>
              <a:prstGeom prst="rect">
                <a:avLst/>
              </a:prstGeom>
              <a:noFill/>
              <a:ln>
                <a:noFill/>
              </a:ln>
            </p:spPr>
          </p:pic>
          <p:sp>
            <p:nvSpPr>
              <p:cNvPr id="328" name="Google Shape;328;p23"/>
              <p:cNvSpPr/>
              <p:nvPr/>
            </p:nvSpPr>
            <p:spPr>
              <a:xfrm>
                <a:off x="1285875" y="173355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3"/>
              <p:cNvSpPr txBox="1"/>
              <p:nvPr/>
            </p:nvSpPr>
            <p:spPr>
              <a:xfrm>
                <a:off x="1285875" y="173355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Preprocessing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Cleaning &amp; Scaling</a:t>
                </a:r>
                <a:endParaRPr b="0" sz="800">
                  <a:solidFill>
                    <a:srgbClr val="7A8D9E"/>
                  </a:solidFill>
                  <a:latin typeface="Assistant"/>
                  <a:ea typeface="Assistant"/>
                  <a:cs typeface="Assistant"/>
                  <a:sym typeface="Assistant"/>
                </a:endParaRPr>
              </a:p>
            </p:txBody>
          </p:sp>
          <p:pic>
            <p:nvPicPr>
              <p:cNvPr id="330" name="Google Shape;330;p23"/>
              <p:cNvPicPr preferRelativeResize="0"/>
              <p:nvPr/>
            </p:nvPicPr>
            <p:blipFill rotWithShape="1">
              <a:blip r:embed="rId3">
                <a:alphaModFix/>
              </a:blip>
              <a:srcRect b="0" l="0" r="0" t="0"/>
              <a:stretch/>
            </p:blipFill>
            <p:spPr>
              <a:xfrm>
                <a:off x="2276475" y="2057400"/>
                <a:ext cx="19200" cy="114300"/>
              </a:xfrm>
              <a:prstGeom prst="rect">
                <a:avLst/>
              </a:prstGeom>
              <a:noFill/>
              <a:ln>
                <a:noFill/>
              </a:ln>
            </p:spPr>
          </p:pic>
          <p:pic>
            <p:nvPicPr>
              <p:cNvPr id="331" name="Google Shape;331;p23"/>
              <p:cNvPicPr preferRelativeResize="0"/>
              <p:nvPr/>
            </p:nvPicPr>
            <p:blipFill rotWithShape="1">
              <a:blip r:embed="rId4">
                <a:alphaModFix/>
              </a:blip>
              <a:srcRect b="0" l="0" r="0" t="0"/>
              <a:stretch/>
            </p:blipFill>
            <p:spPr>
              <a:xfrm>
                <a:off x="2257425" y="2152650"/>
                <a:ext cx="57300" cy="57300"/>
              </a:xfrm>
              <a:prstGeom prst="rect">
                <a:avLst/>
              </a:prstGeom>
              <a:noFill/>
              <a:ln>
                <a:noFill/>
              </a:ln>
            </p:spPr>
          </p:pic>
          <p:sp>
            <p:nvSpPr>
              <p:cNvPr id="332" name="Google Shape;332;p23"/>
              <p:cNvSpPr/>
              <p:nvPr/>
            </p:nvSpPr>
            <p:spPr>
              <a:xfrm>
                <a:off x="1285875" y="220980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3"/>
              <p:cNvSpPr txBox="1"/>
              <p:nvPr/>
            </p:nvSpPr>
            <p:spPr>
              <a:xfrm>
                <a:off x="1285875" y="22098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Feature Extraction</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13 Target Features</a:t>
                </a:r>
                <a:endParaRPr b="0" sz="800">
                  <a:solidFill>
                    <a:srgbClr val="7A8D9E"/>
                  </a:solidFill>
                  <a:latin typeface="Assistant"/>
                  <a:ea typeface="Assistant"/>
                  <a:cs typeface="Assistant"/>
                  <a:sym typeface="Assistant"/>
                </a:endParaRPr>
              </a:p>
            </p:txBody>
          </p:sp>
          <p:pic>
            <p:nvPicPr>
              <p:cNvPr id="334" name="Google Shape;334;p23"/>
              <p:cNvPicPr preferRelativeResize="0"/>
              <p:nvPr/>
            </p:nvPicPr>
            <p:blipFill rotWithShape="1">
              <a:blip r:embed="rId3">
                <a:alphaModFix/>
              </a:blip>
              <a:srcRect b="0" l="0" r="0" t="0"/>
              <a:stretch/>
            </p:blipFill>
            <p:spPr>
              <a:xfrm>
                <a:off x="2276475" y="2533650"/>
                <a:ext cx="19200" cy="114300"/>
              </a:xfrm>
              <a:prstGeom prst="rect">
                <a:avLst/>
              </a:prstGeom>
              <a:noFill/>
              <a:ln>
                <a:noFill/>
              </a:ln>
            </p:spPr>
          </p:pic>
          <p:pic>
            <p:nvPicPr>
              <p:cNvPr id="335" name="Google Shape;335;p23"/>
              <p:cNvPicPr preferRelativeResize="0"/>
              <p:nvPr/>
            </p:nvPicPr>
            <p:blipFill rotWithShape="1">
              <a:blip r:embed="rId4">
                <a:alphaModFix/>
              </a:blip>
              <a:srcRect b="0" l="0" r="0" t="0"/>
              <a:stretch/>
            </p:blipFill>
            <p:spPr>
              <a:xfrm>
                <a:off x="2257425" y="2628900"/>
                <a:ext cx="57300" cy="57300"/>
              </a:xfrm>
              <a:prstGeom prst="rect">
                <a:avLst/>
              </a:prstGeom>
              <a:noFill/>
              <a:ln>
                <a:noFill/>
              </a:ln>
            </p:spPr>
          </p:pic>
          <p:sp>
            <p:nvSpPr>
              <p:cNvPr id="336" name="Google Shape;336;p23"/>
              <p:cNvSpPr/>
              <p:nvPr/>
            </p:nvSpPr>
            <p:spPr>
              <a:xfrm>
                <a:off x="1285875" y="268605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3"/>
              <p:cNvSpPr txBox="1"/>
              <p:nvPr/>
            </p:nvSpPr>
            <p:spPr>
              <a:xfrm>
                <a:off x="1285875" y="268605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Training</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Random Forest &amp; SVM</a:t>
                </a:r>
                <a:endParaRPr b="0" sz="800">
                  <a:solidFill>
                    <a:srgbClr val="7A8D9E"/>
                  </a:solidFill>
                  <a:latin typeface="Assistant"/>
                  <a:ea typeface="Assistant"/>
                  <a:cs typeface="Assistant"/>
                  <a:sym typeface="Assistant"/>
                </a:endParaRPr>
              </a:p>
            </p:txBody>
          </p:sp>
          <p:pic>
            <p:nvPicPr>
              <p:cNvPr id="338" name="Google Shape;338;p23"/>
              <p:cNvPicPr preferRelativeResize="0"/>
              <p:nvPr/>
            </p:nvPicPr>
            <p:blipFill rotWithShape="1">
              <a:blip r:embed="rId3">
                <a:alphaModFix/>
              </a:blip>
              <a:srcRect b="0" l="0" r="0" t="0"/>
              <a:stretch/>
            </p:blipFill>
            <p:spPr>
              <a:xfrm>
                <a:off x="2276475" y="3009900"/>
                <a:ext cx="19200" cy="114300"/>
              </a:xfrm>
              <a:prstGeom prst="rect">
                <a:avLst/>
              </a:prstGeom>
              <a:noFill/>
              <a:ln>
                <a:noFill/>
              </a:ln>
            </p:spPr>
          </p:pic>
          <p:pic>
            <p:nvPicPr>
              <p:cNvPr id="339" name="Google Shape;339;p23"/>
              <p:cNvPicPr preferRelativeResize="0"/>
              <p:nvPr/>
            </p:nvPicPr>
            <p:blipFill rotWithShape="1">
              <a:blip r:embed="rId4">
                <a:alphaModFix/>
              </a:blip>
              <a:srcRect b="0" l="0" r="0" t="0"/>
              <a:stretch/>
            </p:blipFill>
            <p:spPr>
              <a:xfrm>
                <a:off x="2257425" y="3105150"/>
                <a:ext cx="57300" cy="57300"/>
              </a:xfrm>
              <a:prstGeom prst="rect">
                <a:avLst/>
              </a:prstGeom>
              <a:noFill/>
              <a:ln>
                <a:noFill/>
              </a:ln>
            </p:spPr>
          </p:pic>
          <p:sp>
            <p:nvSpPr>
              <p:cNvPr id="340" name="Google Shape;340;p23"/>
              <p:cNvSpPr/>
              <p:nvPr/>
            </p:nvSpPr>
            <p:spPr>
              <a:xfrm>
                <a:off x="1285875" y="3162300"/>
                <a:ext cx="2000100" cy="324000"/>
              </a:xfrm>
              <a:prstGeom prst="roundRect">
                <a:avLst>
                  <a:gd fmla="val 11764"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3"/>
              <p:cNvSpPr txBox="1"/>
              <p:nvPr/>
            </p:nvSpPr>
            <p:spPr>
              <a:xfrm>
                <a:off x="1285875" y="3162300"/>
                <a:ext cx="20001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950">
                    <a:solidFill>
                      <a:srgbClr val="FFFFFF"/>
                    </a:solidFill>
                    <a:latin typeface="Courier New"/>
                    <a:ea typeface="Courier New"/>
                    <a:cs typeface="Courier New"/>
                    <a:sym typeface="Courier New"/>
                  </a:rPr>
                  <a:t>Prediction</a:t>
                </a:r>
                <a:endParaRPr b="1" sz="950">
                  <a:solidFill>
                    <a:srgbClr val="FFFFFF"/>
                  </a:solidFill>
                  <a:latin typeface="Courier New"/>
                  <a:ea typeface="Courier New"/>
                  <a:cs typeface="Courier New"/>
                  <a:sym typeface="Courier New"/>
                </a:endParaRPr>
              </a:p>
              <a:p>
                <a:pPr indent="0" lvl="0" marL="0" rtl="0" algn="ctr">
                  <a:spcBef>
                    <a:spcPts val="0"/>
                  </a:spcBef>
                  <a:spcAft>
                    <a:spcPts val="0"/>
                  </a:spcAft>
                  <a:buNone/>
                </a:pPr>
                <a:r>
                  <a:rPr b="0" lang="iw" sz="800">
                    <a:solidFill>
                      <a:srgbClr val="7A8D9E"/>
                    </a:solidFill>
                    <a:latin typeface="Assistant"/>
                    <a:ea typeface="Assistant"/>
                    <a:cs typeface="Assistant"/>
                    <a:sym typeface="Assistant"/>
                  </a:rPr>
                  <a:t>Classification Output</a:t>
                </a:r>
                <a:endParaRPr b="0" sz="800">
                  <a:solidFill>
                    <a:srgbClr val="7A8D9E"/>
                  </a:solidFill>
                  <a:latin typeface="Assistant"/>
                  <a:ea typeface="Assistant"/>
                  <a:cs typeface="Assistant"/>
                  <a:sym typeface="Assistant"/>
                </a:endParaRPr>
              </a:p>
            </p:txBody>
          </p:sp>
          <p:pic>
            <p:nvPicPr>
              <p:cNvPr id="342" name="Google Shape;342;p23"/>
              <p:cNvPicPr preferRelativeResize="0"/>
              <p:nvPr/>
            </p:nvPicPr>
            <p:blipFill rotWithShape="1">
              <a:blip r:embed="rId3">
                <a:alphaModFix/>
              </a:blip>
              <a:srcRect b="0" l="0" r="0" t="0"/>
              <a:stretch/>
            </p:blipFill>
            <p:spPr>
              <a:xfrm>
                <a:off x="2276475" y="3486150"/>
                <a:ext cx="19200" cy="114300"/>
              </a:xfrm>
              <a:prstGeom prst="rect">
                <a:avLst/>
              </a:prstGeom>
              <a:noFill/>
              <a:ln>
                <a:noFill/>
              </a:ln>
            </p:spPr>
          </p:pic>
          <p:pic>
            <p:nvPicPr>
              <p:cNvPr id="343" name="Google Shape;343;p23"/>
              <p:cNvPicPr preferRelativeResize="0"/>
              <p:nvPr/>
            </p:nvPicPr>
            <p:blipFill rotWithShape="1">
              <a:blip r:embed="rId4">
                <a:alphaModFix/>
              </a:blip>
              <a:srcRect b="0" l="0" r="0" t="0"/>
              <a:stretch/>
            </p:blipFill>
            <p:spPr>
              <a:xfrm>
                <a:off x="2257425" y="3581400"/>
                <a:ext cx="57300" cy="57300"/>
              </a:xfrm>
              <a:prstGeom prst="rect">
                <a:avLst/>
              </a:prstGeom>
              <a:noFill/>
              <a:ln>
                <a:noFill/>
              </a:ln>
            </p:spPr>
          </p:pic>
          <p:sp>
            <p:nvSpPr>
              <p:cNvPr id="344" name="Google Shape;344;p23"/>
              <p:cNvSpPr/>
              <p:nvPr/>
            </p:nvSpPr>
            <p:spPr>
              <a:xfrm>
                <a:off x="1285875" y="3638550"/>
                <a:ext cx="952500" cy="304800"/>
              </a:xfrm>
              <a:prstGeom prst="roundRect">
                <a:avLst>
                  <a:gd fmla="val 12500" name="adj"/>
                </a:avLst>
              </a:prstGeom>
              <a:solidFill>
                <a:srgbClr val="0A2D3C"/>
              </a:solidFill>
              <a:ln cap="flat" cmpd="sng" w="952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3"/>
              <p:cNvSpPr txBox="1"/>
              <p:nvPr/>
            </p:nvSpPr>
            <p:spPr>
              <a:xfrm>
                <a:off x="1285875" y="3638550"/>
                <a:ext cx="952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850">
                    <a:solidFill>
                      <a:srgbClr val="FFFFFF"/>
                    </a:solidFill>
                    <a:latin typeface="Courier New"/>
                    <a:ea typeface="Courier New"/>
                    <a:cs typeface="Courier New"/>
                    <a:sym typeface="Courier New"/>
                  </a:rPr>
                  <a:t>Flask API</a:t>
                </a:r>
                <a:endParaRPr b="1" sz="850">
                  <a:solidFill>
                    <a:srgbClr val="FFFFFF"/>
                  </a:solidFill>
                  <a:latin typeface="Courier New"/>
                  <a:ea typeface="Courier New"/>
                  <a:cs typeface="Courier New"/>
                  <a:sym typeface="Courier New"/>
                </a:endParaRPr>
              </a:p>
            </p:txBody>
          </p:sp>
          <p:sp>
            <p:nvSpPr>
              <p:cNvPr id="346" name="Google Shape;346;p23"/>
              <p:cNvSpPr/>
              <p:nvPr/>
            </p:nvSpPr>
            <p:spPr>
              <a:xfrm>
                <a:off x="2333625" y="3638550"/>
                <a:ext cx="952500" cy="304800"/>
              </a:xfrm>
              <a:prstGeom prst="roundRect">
                <a:avLst>
                  <a:gd fmla="val 12500" name="adj"/>
                </a:avLst>
              </a:prstGeom>
              <a:solidFill>
                <a:srgbClr val="152E3C"/>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3"/>
              <p:cNvSpPr txBox="1"/>
              <p:nvPr/>
            </p:nvSpPr>
            <p:spPr>
              <a:xfrm>
                <a:off x="2333625" y="3638550"/>
                <a:ext cx="952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w" sz="850">
                    <a:solidFill>
                      <a:srgbClr val="FFFFFF"/>
                    </a:solidFill>
                    <a:latin typeface="Courier New"/>
                    <a:ea typeface="Courier New"/>
                    <a:cs typeface="Courier New"/>
                    <a:sym typeface="Courier New"/>
                  </a:rPr>
                  <a:t>User Interface</a:t>
                </a:r>
                <a:endParaRPr b="1" sz="850">
                  <a:solidFill>
                    <a:srgbClr val="FFFFFF"/>
                  </a:solidFill>
                  <a:latin typeface="Courier New"/>
                  <a:ea typeface="Courier New"/>
                  <a:cs typeface="Courier New"/>
                  <a:sym typeface="Courier New"/>
                </a:endParaRPr>
              </a:p>
            </p:txBody>
          </p:sp>
        </p:grpSp>
      </p:grpSp>
      <p:grpSp>
        <p:nvGrpSpPr>
          <p:cNvPr id="348" name="Google Shape;348;p23"/>
          <p:cNvGrpSpPr/>
          <p:nvPr/>
        </p:nvGrpSpPr>
        <p:grpSpPr>
          <a:xfrm>
            <a:off x="571500" y="4333875"/>
            <a:ext cx="8001000" cy="362100"/>
            <a:chOff x="571500" y="4333875"/>
            <a:chExt cx="8001000" cy="362100"/>
          </a:xfrm>
        </p:grpSpPr>
        <p:sp>
          <p:nvSpPr>
            <p:cNvPr id="349" name="Google Shape;349;p23"/>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3"/>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3"/>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ארכיטקטורת צינור הנתונים: </a:t>
              </a:r>
              <a:r>
                <a:rPr b="0" lang="iw" sz="900">
                  <a:solidFill>
                    <a:srgbClr val="7A8D9E"/>
                  </a:solidFill>
                  <a:latin typeface="Assistant"/>
                  <a:ea typeface="Assistant"/>
                  <a:cs typeface="Assistant"/>
                  <a:sym typeface="Assistant"/>
                </a:rPr>
                <a:t>הזרמת מידע מלאה החל משלב טעינת הנתונים ועד לחשיפת התוצאות למשתמש הקצה באמצעות ממשק אינטרנטי מהיר.</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55" name="Shape 355"/>
        <p:cNvGrpSpPr/>
        <p:nvPr/>
      </p:nvGrpSpPr>
      <p:grpSpPr>
        <a:xfrm>
          <a:off x="0" y="0"/>
          <a:ext cx="0" cy="0"/>
          <a:chOff x="0" y="0"/>
          <a:chExt cx="0" cy="0"/>
        </a:xfrm>
      </p:grpSpPr>
      <p:grpSp>
        <p:nvGrpSpPr>
          <p:cNvPr id="356" name="Google Shape;356;p24"/>
          <p:cNvGrpSpPr/>
          <p:nvPr/>
        </p:nvGrpSpPr>
        <p:grpSpPr>
          <a:xfrm>
            <a:off x="1619250" y="238125"/>
            <a:ext cx="6953400" cy="695250"/>
            <a:chOff x="1619250" y="238125"/>
            <a:chExt cx="6953400" cy="695250"/>
          </a:xfrm>
        </p:grpSpPr>
        <p:sp>
          <p:nvSpPr>
            <p:cNvPr id="357" name="Google Shape;357;p24"/>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אלגוריתמי הסיווג במודל</a:t>
              </a:r>
              <a:endParaRPr b="0" sz="2400">
                <a:solidFill>
                  <a:srgbClr val="FFFFFF"/>
                </a:solidFill>
                <a:latin typeface="Assistant ExtraBold"/>
                <a:ea typeface="Assistant ExtraBold"/>
                <a:cs typeface="Assistant ExtraBold"/>
                <a:sym typeface="Assistant ExtraBold"/>
              </a:endParaRPr>
            </a:p>
          </p:txBody>
        </p:sp>
        <p:sp>
          <p:nvSpPr>
            <p:cNvPr id="358" name="Google Shape;358;p24"/>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סקירה השוואתית של ארבעת מודלי למידת המכונה שנבחרו לחיזוי מחלות לב, כולל הגדרת מטרה ואיזון יתרונות מול חסרונות.</a:t>
              </a:r>
              <a:endParaRPr b="0" sz="1000">
                <a:solidFill>
                  <a:srgbClr val="7A8D9E"/>
                </a:solidFill>
                <a:latin typeface="Assistant"/>
                <a:ea typeface="Assistant"/>
                <a:cs typeface="Assistant"/>
                <a:sym typeface="Assistant"/>
              </a:endParaRPr>
            </a:p>
          </p:txBody>
        </p:sp>
      </p:grpSp>
      <p:grpSp>
        <p:nvGrpSpPr>
          <p:cNvPr id="359" name="Google Shape;359;p24"/>
          <p:cNvGrpSpPr/>
          <p:nvPr/>
        </p:nvGrpSpPr>
        <p:grpSpPr>
          <a:xfrm>
            <a:off x="6715125" y="904875"/>
            <a:ext cx="1857300" cy="3238500"/>
            <a:chOff x="6715125" y="904875"/>
            <a:chExt cx="1857300" cy="3238500"/>
          </a:xfrm>
        </p:grpSpPr>
        <p:sp>
          <p:nvSpPr>
            <p:cNvPr id="360" name="Google Shape;360;p24"/>
            <p:cNvSpPr/>
            <p:nvPr/>
          </p:nvSpPr>
          <p:spPr>
            <a:xfrm>
              <a:off x="6715125"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4"/>
            <p:cNvSpPr/>
            <p:nvPr/>
          </p:nvSpPr>
          <p:spPr>
            <a:xfrm>
              <a:off x="6715125"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4"/>
            <p:cNvSpPr txBox="1"/>
            <p:nvPr/>
          </p:nvSpPr>
          <p:spPr>
            <a:xfrm>
              <a:off x="6810375"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ALGORITHM_01 // LR</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Logistic Regression</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מנבא את ההסתברות לקיום מחלת לב בעזרת פונקציית סיגמואיד סטטיסטית.</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פשוט מאוד לפרשנות, מהיר לחישוב ואינו דורש משאבי עיבוד כבדים.</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מניח קשר קווי בלבד בין המשתנים, ומתקשה למדל יחסים מורכבים במציאות.</a:t>
              </a:r>
              <a:endParaRPr b="0" sz="950">
                <a:solidFill>
                  <a:srgbClr val="A0B2C6"/>
                </a:solidFill>
                <a:latin typeface="Assistant"/>
                <a:ea typeface="Assistant"/>
                <a:cs typeface="Assistant"/>
                <a:sym typeface="Assistant"/>
              </a:endParaRPr>
            </a:p>
          </p:txBody>
        </p:sp>
      </p:grpSp>
      <p:grpSp>
        <p:nvGrpSpPr>
          <p:cNvPr id="363" name="Google Shape;363;p24"/>
          <p:cNvGrpSpPr/>
          <p:nvPr/>
        </p:nvGrpSpPr>
        <p:grpSpPr>
          <a:xfrm>
            <a:off x="4667250" y="904875"/>
            <a:ext cx="1857300" cy="3238500"/>
            <a:chOff x="4667250" y="904875"/>
            <a:chExt cx="1857300" cy="3238500"/>
          </a:xfrm>
        </p:grpSpPr>
        <p:sp>
          <p:nvSpPr>
            <p:cNvPr id="364" name="Google Shape;364;p24"/>
            <p:cNvSpPr/>
            <p:nvPr/>
          </p:nvSpPr>
          <p:spPr>
            <a:xfrm>
              <a:off x="4667250"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4"/>
            <p:cNvSpPr/>
            <p:nvPr/>
          </p:nvSpPr>
          <p:spPr>
            <a:xfrm>
              <a:off x="4667250"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4"/>
            <p:cNvSpPr txBox="1"/>
            <p:nvPr/>
          </p:nvSpPr>
          <p:spPr>
            <a:xfrm>
              <a:off x="4762500"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ALGORITHM_02 // KNN</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K-Nearest Neighbors</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מסווג מטופלים על בסיס דמיון קליני למטופלים הקרובים אליהם ביותר במרחב.</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אינטואיטיבי, לא מניח הנחות מוקדמות על התפלגות המידע הרפואי.</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רגיש מאוד לרעש, לממדים רבים ולבחירת מרחק אופטימלי (ערך ה-K).</a:t>
              </a:r>
              <a:endParaRPr b="0" sz="950">
                <a:solidFill>
                  <a:srgbClr val="A0B2C6"/>
                </a:solidFill>
                <a:latin typeface="Assistant"/>
                <a:ea typeface="Assistant"/>
                <a:cs typeface="Assistant"/>
                <a:sym typeface="Assistant"/>
              </a:endParaRPr>
            </a:p>
          </p:txBody>
        </p:sp>
      </p:grpSp>
      <p:grpSp>
        <p:nvGrpSpPr>
          <p:cNvPr id="367" name="Google Shape;367;p24"/>
          <p:cNvGrpSpPr/>
          <p:nvPr/>
        </p:nvGrpSpPr>
        <p:grpSpPr>
          <a:xfrm>
            <a:off x="2619375" y="904875"/>
            <a:ext cx="1857300" cy="3238500"/>
            <a:chOff x="2619375" y="904875"/>
            <a:chExt cx="1857300" cy="3238500"/>
          </a:xfrm>
        </p:grpSpPr>
        <p:sp>
          <p:nvSpPr>
            <p:cNvPr id="368" name="Google Shape;368;p24"/>
            <p:cNvSpPr/>
            <p:nvPr/>
          </p:nvSpPr>
          <p:spPr>
            <a:xfrm>
              <a:off x="2619375"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4"/>
            <p:cNvSpPr/>
            <p:nvPr/>
          </p:nvSpPr>
          <p:spPr>
            <a:xfrm>
              <a:off x="2619375" y="904875"/>
              <a:ext cx="1857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4"/>
            <p:cNvSpPr txBox="1"/>
            <p:nvPr/>
          </p:nvSpPr>
          <p:spPr>
            <a:xfrm>
              <a:off x="2714625"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ALGORITHM_03 // SVM</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SVM</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מוצא את קו ההפרדה האופטימלי (Hyperplane) המפריד בצורה מרבית בין חולים לבריאים.</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יעיל מאוד במרחבים בעלי ממדים רבים ויציב בפני הערכת יתר.</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דורש משאבי זיכרון רבים וקשה להבנה ופירוש במקרה של שימוש בגרעין לא-לינארי.</a:t>
              </a:r>
              <a:endParaRPr b="0" sz="950">
                <a:solidFill>
                  <a:srgbClr val="A0B2C6"/>
                </a:solidFill>
                <a:latin typeface="Assistant"/>
                <a:ea typeface="Assistant"/>
                <a:cs typeface="Assistant"/>
                <a:sym typeface="Assistant"/>
              </a:endParaRPr>
            </a:p>
          </p:txBody>
        </p:sp>
      </p:grpSp>
      <p:grpSp>
        <p:nvGrpSpPr>
          <p:cNvPr id="371" name="Google Shape;371;p24"/>
          <p:cNvGrpSpPr/>
          <p:nvPr/>
        </p:nvGrpSpPr>
        <p:grpSpPr>
          <a:xfrm>
            <a:off x="571500" y="904875"/>
            <a:ext cx="1857300" cy="3238500"/>
            <a:chOff x="571500" y="904875"/>
            <a:chExt cx="1857300" cy="3238500"/>
          </a:xfrm>
        </p:grpSpPr>
        <p:sp>
          <p:nvSpPr>
            <p:cNvPr id="372" name="Google Shape;372;p24"/>
            <p:cNvSpPr/>
            <p:nvPr/>
          </p:nvSpPr>
          <p:spPr>
            <a:xfrm>
              <a:off x="571500" y="904875"/>
              <a:ext cx="1857300" cy="3238500"/>
            </a:xfrm>
            <a:prstGeom prst="roundRect">
              <a:avLst>
                <a:gd fmla="val 307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4"/>
            <p:cNvSpPr/>
            <p:nvPr/>
          </p:nvSpPr>
          <p:spPr>
            <a:xfrm>
              <a:off x="571500" y="904875"/>
              <a:ext cx="1857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4"/>
            <p:cNvSpPr txBox="1"/>
            <p:nvPr/>
          </p:nvSpPr>
          <p:spPr>
            <a:xfrm>
              <a:off x="666750" y="1047750"/>
              <a:ext cx="16668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ALGORITHM_04 // RF</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Random Forest</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FFFFFF"/>
                  </a:solidFill>
                  <a:latin typeface="Assistant"/>
                  <a:ea typeface="Assistant"/>
                  <a:cs typeface="Assistant"/>
                  <a:sym typeface="Assistant"/>
                </a:rPr>
                <a:t>משלב מספר רב של עצי החלטה אקראיים כדי להגיע להחלטת רוב משוקללת ומדויקת.</a:t>
              </a:r>
              <a:endParaRPr b="0" sz="950">
                <a:solidFill>
                  <a:srgbClr val="FFFFFF"/>
                </a:solidFill>
                <a:latin typeface="Assistant"/>
                <a:ea typeface="Assistant"/>
                <a:cs typeface="Assistant"/>
                <a:sym typeface="Assistant"/>
              </a:endParaRPr>
            </a:p>
            <a:p>
              <a:pPr indent="0" lvl="0" marL="0" rtl="1" algn="r">
                <a:spcBef>
                  <a:spcPts val="1050"/>
                </a:spcBef>
                <a:spcAft>
                  <a:spcPts val="0"/>
                </a:spcAft>
                <a:buNone/>
              </a:pPr>
              <a:r>
                <a:rPr b="1" lang="iw" sz="900">
                  <a:solidFill>
                    <a:srgbClr val="10B981"/>
                  </a:solidFill>
                  <a:latin typeface="Assistant"/>
                  <a:ea typeface="Assistant"/>
                  <a:cs typeface="Assistant"/>
                  <a:sym typeface="Assistant"/>
                </a:rPr>
                <a:t>✔ יתרונות:</a:t>
              </a:r>
              <a:endParaRPr b="1" sz="900">
                <a:solidFill>
                  <a:srgbClr val="10B981"/>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דיוק גבוה במיוחד, עמידות מצוינת לנתונים חסרים ויכולת למנוע התאמת יתר.</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900">
                  <a:solidFill>
                    <a:srgbClr val="FF5252"/>
                  </a:solidFill>
                  <a:latin typeface="Assistant"/>
                  <a:ea typeface="Assistant"/>
                  <a:cs typeface="Assistant"/>
                  <a:sym typeface="Assistant"/>
                </a:rPr>
                <a:t>❌ חסרונות:</a:t>
              </a:r>
              <a:endParaRPr b="1" sz="900">
                <a:solidFill>
                  <a:srgbClr val="FF5252"/>
                </a:solidFill>
                <a:latin typeface="Assistant"/>
                <a:ea typeface="Assistant"/>
                <a:cs typeface="Assistant"/>
                <a:sym typeface="Assistant"/>
              </a:endParaRPr>
            </a:p>
            <a:p>
              <a:pPr indent="0" lvl="0" marL="0" rtl="1" algn="r">
                <a:spcBef>
                  <a:spcPts val="225"/>
                </a:spcBef>
                <a:spcAft>
                  <a:spcPts val="0"/>
                </a:spcAft>
                <a:buNone/>
              </a:pPr>
              <a:r>
                <a:rPr b="0" lang="iw" sz="950">
                  <a:solidFill>
                    <a:srgbClr val="A0B2C6"/>
                  </a:solidFill>
                  <a:latin typeface="Assistant"/>
                  <a:ea typeface="Assistant"/>
                  <a:cs typeface="Assistant"/>
                  <a:sym typeface="Assistant"/>
                </a:rPr>
                <a:t>מודל מורכב ("קופסה שחורה") הדורש זמן אימון ומשאבים משמעותיים.</a:t>
              </a:r>
              <a:endParaRPr b="0" sz="950">
                <a:solidFill>
                  <a:srgbClr val="A0B2C6"/>
                </a:solidFill>
                <a:latin typeface="Assistant"/>
                <a:ea typeface="Assistant"/>
                <a:cs typeface="Assistant"/>
                <a:sym typeface="Assistant"/>
              </a:endParaRPr>
            </a:p>
          </p:txBody>
        </p:sp>
      </p:grpSp>
      <p:grpSp>
        <p:nvGrpSpPr>
          <p:cNvPr id="375" name="Google Shape;375;p24"/>
          <p:cNvGrpSpPr/>
          <p:nvPr/>
        </p:nvGrpSpPr>
        <p:grpSpPr>
          <a:xfrm>
            <a:off x="571500" y="4333875"/>
            <a:ext cx="8001000" cy="362100"/>
            <a:chOff x="571500" y="4333875"/>
            <a:chExt cx="8001000" cy="362100"/>
          </a:xfrm>
        </p:grpSpPr>
        <p:sp>
          <p:nvSpPr>
            <p:cNvPr id="376" name="Google Shape;376;p24"/>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4"/>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4"/>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השוואת מודלים: </a:t>
              </a:r>
              <a:r>
                <a:rPr b="0" lang="iw" sz="900">
                  <a:solidFill>
                    <a:srgbClr val="7A8D9E"/>
                  </a:solidFill>
                  <a:latin typeface="Assistant"/>
                  <a:ea typeface="Assistant"/>
                  <a:cs typeface="Assistant"/>
                  <a:sym typeface="Assistant"/>
                </a:rPr>
                <a:t>בחירת האלגוריתם הסופי תתבצע בהתאם למדדי הדיוק (Accuracy) והרגישות (Recall) הרפואיים שהושגו בבדיקות.</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382" name="Shape 382"/>
        <p:cNvGrpSpPr/>
        <p:nvPr/>
      </p:nvGrpSpPr>
      <p:grpSpPr>
        <a:xfrm>
          <a:off x="0" y="0"/>
          <a:ext cx="0" cy="0"/>
          <a:chOff x="0" y="0"/>
          <a:chExt cx="0" cy="0"/>
        </a:xfrm>
      </p:grpSpPr>
      <p:grpSp>
        <p:nvGrpSpPr>
          <p:cNvPr id="383" name="Google Shape;383;p25"/>
          <p:cNvGrpSpPr/>
          <p:nvPr/>
        </p:nvGrpSpPr>
        <p:grpSpPr>
          <a:xfrm>
            <a:off x="1619250" y="238125"/>
            <a:ext cx="6953400" cy="695250"/>
            <a:chOff x="1619250" y="238125"/>
            <a:chExt cx="6953400" cy="695250"/>
          </a:xfrm>
        </p:grpSpPr>
        <p:sp>
          <p:nvSpPr>
            <p:cNvPr id="384" name="Google Shape;384;p25"/>
            <p:cNvSpPr txBox="1"/>
            <p:nvPr/>
          </p:nvSpPr>
          <p:spPr>
            <a:xfrm>
              <a:off x="2779350" y="238125"/>
              <a:ext cx="5793300" cy="4287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הבסיס המתמטי של SVM -  מודל מרכזי במאמר</a:t>
              </a:r>
              <a:endParaRPr b="0" sz="2400">
                <a:solidFill>
                  <a:srgbClr val="FFFFFF"/>
                </a:solidFill>
                <a:latin typeface="Assistant ExtraBold"/>
                <a:ea typeface="Assistant ExtraBold"/>
                <a:cs typeface="Assistant ExtraBold"/>
                <a:sym typeface="Assistant ExtraBold"/>
              </a:endParaRPr>
            </a:p>
          </p:txBody>
        </p:sp>
        <p:sp>
          <p:nvSpPr>
            <p:cNvPr id="385" name="Google Shape;385;p25"/>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מבט מעמיק על הניסוח הפורמלי של מודל ה-Support Vector Machine: הגדרת מישור ההפרדה ובעיית האופטימיזציה הנילווית.</a:t>
              </a:r>
              <a:endParaRPr b="0" sz="1000">
                <a:solidFill>
                  <a:srgbClr val="7A8D9E"/>
                </a:solidFill>
                <a:latin typeface="Assistant"/>
                <a:ea typeface="Assistant"/>
                <a:cs typeface="Assistant"/>
                <a:sym typeface="Assistant"/>
              </a:endParaRPr>
            </a:p>
          </p:txBody>
        </p:sp>
      </p:grpSp>
      <p:grpSp>
        <p:nvGrpSpPr>
          <p:cNvPr id="386" name="Google Shape;386;p25"/>
          <p:cNvGrpSpPr/>
          <p:nvPr/>
        </p:nvGrpSpPr>
        <p:grpSpPr>
          <a:xfrm>
            <a:off x="4810125" y="904875"/>
            <a:ext cx="3762300" cy="3238500"/>
            <a:chOff x="4810125" y="904875"/>
            <a:chExt cx="3762300" cy="3238500"/>
          </a:xfrm>
        </p:grpSpPr>
        <p:sp>
          <p:nvSpPr>
            <p:cNvPr id="387" name="Google Shape;387;p25"/>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5"/>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5"/>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FORMULATION_01 // HYPERPLANE</a:t>
              </a:r>
              <a:endParaRPr b="1" sz="90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מישור ההפרדה (Hyperplane)</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wᵀx + b = 0</a:t>
              </a:r>
              <a:endParaRPr b="1" sz="1400">
                <a:solidFill>
                  <a:srgbClr val="00E5FF"/>
                </a:solidFill>
                <a:highlight>
                  <a:srgbClr val="152E3C"/>
                </a:highlight>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מטרת האלגוריתם היא למצוא את מישור ההפרדה האופטימלי במרחב התכונות שמפריד בין מחלקות הנתונים (חולים ובריאים).</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הסבר הפרמטרים:</a:t>
              </a:r>
              <a:endParaRPr b="0" sz="950">
                <a:solidFill>
                  <a:srgbClr val="A0B2C6"/>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w (ווקטור המשקולות):</a:t>
              </a:r>
              <a:r>
                <a:rPr b="0" lang="iw" sz="950">
                  <a:solidFill>
                    <a:srgbClr val="A0B2C6"/>
                  </a:solidFill>
                  <a:latin typeface="Assistant"/>
                  <a:ea typeface="Assistant"/>
                  <a:cs typeface="Assistant"/>
                  <a:sym typeface="Assistant"/>
                </a:rPr>
                <a:t> מגדיר את כיוון מישור ההפרדה ומאונך לו.</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b (ההיסט - Bias):</a:t>
              </a:r>
              <a:r>
                <a:rPr b="0" lang="iw" sz="950">
                  <a:solidFill>
                    <a:srgbClr val="A0B2C6"/>
                  </a:solidFill>
                  <a:latin typeface="Assistant"/>
                  <a:ea typeface="Assistant"/>
                  <a:cs typeface="Assistant"/>
                  <a:sym typeface="Assistant"/>
                </a:rPr>
                <a:t> קובע את מרחק המישור מראש הצירים.</a:t>
              </a:r>
              <a:endParaRPr b="0" sz="950">
                <a:solidFill>
                  <a:srgbClr val="A0B2C6"/>
                </a:solidFill>
                <a:latin typeface="Assistant"/>
                <a:ea typeface="Assistant"/>
                <a:cs typeface="Assistant"/>
                <a:sym typeface="Assistant"/>
              </a:endParaRPr>
            </a:p>
          </p:txBody>
        </p:sp>
      </p:grpSp>
      <p:grpSp>
        <p:nvGrpSpPr>
          <p:cNvPr id="390" name="Google Shape;390;p25"/>
          <p:cNvGrpSpPr/>
          <p:nvPr/>
        </p:nvGrpSpPr>
        <p:grpSpPr>
          <a:xfrm>
            <a:off x="571500" y="904875"/>
            <a:ext cx="3762300" cy="3238500"/>
            <a:chOff x="571500" y="904875"/>
            <a:chExt cx="3762300" cy="3238500"/>
          </a:xfrm>
        </p:grpSpPr>
        <p:sp>
          <p:nvSpPr>
            <p:cNvPr id="391" name="Google Shape;391;p25"/>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5"/>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5"/>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FORMULATION_02 // OPTIMIZATION</a:t>
              </a:r>
              <a:endParaRPr b="1" sz="90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פונקציית האופטימיזציה (Soft Margin)</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½ ||w||² + C ∑ᵢ₌₁ᴺ ξᵢ</a:t>
              </a:r>
              <a:endParaRPr b="1" sz="1400">
                <a:solidFill>
                  <a:srgbClr val="00E5FF"/>
                </a:solidFill>
                <a:highlight>
                  <a:srgbClr val="152E3C"/>
                </a:highlight>
                <a:latin typeface="Courier New"/>
                <a:ea typeface="Courier New"/>
                <a:cs typeface="Courier New"/>
                <a:sym typeface="Courier New"/>
              </a:endParaRPr>
            </a:p>
            <a:p>
              <a:pPr indent="0" lvl="0" marL="0" rtl="1" algn="ctr">
                <a:spcBef>
                  <a:spcPts val="600"/>
                </a:spcBef>
                <a:spcAft>
                  <a:spcPts val="0"/>
                </a:spcAft>
                <a:buNone/>
              </a:pPr>
              <a:r>
                <a:rPr b="1" lang="iw" sz="1000">
                  <a:solidFill>
                    <a:srgbClr val="10B981"/>
                  </a:solidFill>
                  <a:latin typeface="Assistant"/>
                  <a:ea typeface="Assistant"/>
                  <a:cs typeface="Assistant"/>
                  <a:sym typeface="Assistant"/>
                </a:rPr>
                <a:t>Subject to: yᵢ ( wᵀφ(xᵢ) + b ) ≥ 1 - ξᵢ</a:t>
              </a:r>
              <a:endParaRPr b="1" sz="1000">
                <a:solidFill>
                  <a:srgbClr val="10B981"/>
                </a:solidFill>
                <a:latin typeface="Assistant"/>
                <a:ea typeface="Assistant"/>
                <a:cs typeface="Assistant"/>
                <a:sym typeface="Assistant"/>
              </a:endParaRPr>
            </a:p>
            <a:p>
              <a:pPr indent="0" lvl="0" marL="0" rtl="1" algn="r">
                <a:spcBef>
                  <a:spcPts val="600"/>
                </a:spcBef>
                <a:spcAft>
                  <a:spcPts val="0"/>
                </a:spcAft>
                <a:buNone/>
              </a:pPr>
              <a:r>
                <a:rPr b="0" lang="iw" sz="950">
                  <a:solidFill>
                    <a:srgbClr val="A0B2C6"/>
                  </a:solidFill>
                  <a:latin typeface="Assistant"/>
                  <a:ea typeface="Assistant"/>
                  <a:cs typeface="Assistant"/>
                  <a:sym typeface="Assistant"/>
                </a:rPr>
                <a:t>הנוסחה מייצגת את האיזון בין </a:t>
              </a:r>
              <a:r>
                <a:rPr b="1" lang="iw" sz="950">
                  <a:solidFill>
                    <a:srgbClr val="FFFFFF"/>
                  </a:solidFill>
                  <a:latin typeface="Assistant"/>
                  <a:ea typeface="Assistant"/>
                  <a:cs typeface="Assistant"/>
                  <a:sym typeface="Assistant"/>
                </a:rPr>
                <a:t>מקסום שולי ההפרדה</a:t>
              </a:r>
              <a:r>
                <a:rPr b="0" lang="iw" sz="950">
                  <a:solidFill>
                    <a:srgbClr val="A0B2C6"/>
                  </a:solidFill>
                  <a:latin typeface="Assistant"/>
                  <a:ea typeface="Assistant"/>
                  <a:cs typeface="Assistant"/>
                  <a:sym typeface="Assistant"/>
                </a:rPr>
                <a:t> לבין </a:t>
              </a:r>
              <a:r>
                <a:rPr b="1" lang="iw" sz="950">
                  <a:solidFill>
                    <a:srgbClr val="FFFFFF"/>
                  </a:solidFill>
                  <a:latin typeface="Assistant"/>
                  <a:ea typeface="Assistant"/>
                  <a:cs typeface="Assistant"/>
                  <a:sym typeface="Assistant"/>
                </a:rPr>
                <a:t>מזעור שגיאות הסיווג</a:t>
              </a:r>
              <a:r>
                <a:rPr b="0" lang="iw" sz="950">
                  <a:solidFill>
                    <a:srgbClr val="A0B2C6"/>
                  </a:solidFill>
                  <a:latin typeface="Assistant"/>
                  <a:ea typeface="Assistant"/>
                  <a:cs typeface="Assistant"/>
                  <a:sym typeface="Assistant"/>
                </a:rPr>
                <a:t> במרחב הטרנספורמציה.</a:t>
              </a:r>
              <a:endParaRPr b="0" sz="950">
                <a:solidFill>
                  <a:srgbClr val="A0B2C6"/>
                </a:solidFill>
                <a:latin typeface="Assistant"/>
                <a:ea typeface="Assistant"/>
                <a:cs typeface="Assistant"/>
                <a:sym typeface="Assistant"/>
              </a:endParaRPr>
            </a:p>
            <a:p>
              <a:pPr indent="0" lvl="0" marL="0" rtl="1" algn="r">
                <a:spcBef>
                  <a:spcPts val="6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C (פרמטר הרגולריזציה):</a:t>
              </a:r>
              <a:r>
                <a:rPr b="0" lang="iw" sz="950">
                  <a:solidFill>
                    <a:srgbClr val="A0B2C6"/>
                  </a:solidFill>
                  <a:latin typeface="Assistant"/>
                  <a:ea typeface="Assistant"/>
                  <a:cs typeface="Assistant"/>
                  <a:sym typeface="Assistant"/>
                </a:rPr>
                <a:t> שולט על הפשרה בין רוחב השוליים למידת הדיוק באימון.</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ξᵢ (משתני Slack):</a:t>
              </a:r>
              <a:r>
                <a:rPr b="0" lang="iw" sz="950">
                  <a:solidFill>
                    <a:srgbClr val="A0B2C6"/>
                  </a:solidFill>
                  <a:latin typeface="Assistant"/>
                  <a:ea typeface="Assistant"/>
                  <a:cs typeface="Assistant"/>
                  <a:sym typeface="Assistant"/>
                </a:rPr>
                <a:t> מאפשרים חריגה קלה מהשוליים עבור נתונים רועשים.</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φ(xᵢ):</a:t>
              </a:r>
              <a:r>
                <a:rPr b="0" lang="iw" sz="950">
                  <a:solidFill>
                    <a:srgbClr val="A0B2C6"/>
                  </a:solidFill>
                  <a:latin typeface="Assistant"/>
                  <a:ea typeface="Assistant"/>
                  <a:cs typeface="Assistant"/>
                  <a:sym typeface="Assistant"/>
                </a:rPr>
                <a:t> פונקציית המיפוי (Kernel) המאפשרת הפרדה במרחב בעל ממד גבוה.</a:t>
              </a:r>
              <a:endParaRPr b="0" sz="950">
                <a:solidFill>
                  <a:srgbClr val="A0B2C6"/>
                </a:solidFill>
                <a:latin typeface="Assistant"/>
                <a:ea typeface="Assistant"/>
                <a:cs typeface="Assistant"/>
                <a:sym typeface="Assistant"/>
              </a:endParaRPr>
            </a:p>
          </p:txBody>
        </p:sp>
      </p:grpSp>
      <p:grpSp>
        <p:nvGrpSpPr>
          <p:cNvPr id="394" name="Google Shape;394;p25"/>
          <p:cNvGrpSpPr/>
          <p:nvPr/>
        </p:nvGrpSpPr>
        <p:grpSpPr>
          <a:xfrm>
            <a:off x="571500" y="4333875"/>
            <a:ext cx="8001000" cy="362100"/>
            <a:chOff x="571500" y="4333875"/>
            <a:chExt cx="8001000" cy="362100"/>
          </a:xfrm>
        </p:grpSpPr>
        <p:sp>
          <p:nvSpPr>
            <p:cNvPr id="395" name="Google Shape;395;p25"/>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5"/>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5"/>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מודל ה-SVM שואף למצוא את מישור ההפרדה האופטימלי תוך מתן אפשרות מבוקרת לשגיאות סיווג (Soft Margin) על מנת להבטיח הכללה מיטבית על נתונים חדשים.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01" name="Shape 401"/>
        <p:cNvGrpSpPr/>
        <p:nvPr/>
      </p:nvGrpSpPr>
      <p:grpSpPr>
        <a:xfrm>
          <a:off x="0" y="0"/>
          <a:ext cx="0" cy="0"/>
          <a:chOff x="0" y="0"/>
          <a:chExt cx="0" cy="0"/>
        </a:xfrm>
      </p:grpSpPr>
      <p:grpSp>
        <p:nvGrpSpPr>
          <p:cNvPr id="402" name="Google Shape;402;p26"/>
          <p:cNvGrpSpPr/>
          <p:nvPr/>
        </p:nvGrpSpPr>
        <p:grpSpPr>
          <a:xfrm>
            <a:off x="1619250" y="238125"/>
            <a:ext cx="6953400" cy="695250"/>
            <a:chOff x="1619250" y="238125"/>
            <a:chExt cx="6953400" cy="695250"/>
          </a:xfrm>
        </p:grpSpPr>
        <p:sp>
          <p:nvSpPr>
            <p:cNvPr id="403" name="Google Shape;403;p26"/>
            <p:cNvSpPr txBox="1"/>
            <p:nvPr/>
          </p:nvSpPr>
          <p:spPr>
            <a:xfrm>
              <a:off x="1852900" y="238125"/>
              <a:ext cx="6719700" cy="4287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2220">
                  <a:solidFill>
                    <a:srgbClr val="FFFFFF"/>
                  </a:solidFill>
                  <a:latin typeface="Assistant ExtraBold"/>
                  <a:ea typeface="Assistant ExtraBold"/>
                  <a:cs typeface="Assistant ExtraBold"/>
                  <a:sym typeface="Assistant ExtraBold"/>
                </a:rPr>
                <a:t>הבסיס המתמטי של Random Forest - מודל מרכזי במאמר</a:t>
              </a:r>
              <a:endParaRPr b="0" sz="2220">
                <a:solidFill>
                  <a:srgbClr val="FFFFFF"/>
                </a:solidFill>
                <a:latin typeface="Assistant ExtraBold"/>
                <a:ea typeface="Assistant ExtraBold"/>
                <a:cs typeface="Assistant ExtraBold"/>
                <a:sym typeface="Assistant ExtraBold"/>
              </a:endParaRPr>
            </a:p>
          </p:txBody>
        </p:sp>
        <p:sp>
          <p:nvSpPr>
            <p:cNvPr id="404" name="Google Shape;404;p26"/>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מודל יער אקראי: שילוב עצי החלטה עצמאיים לקבלת החלטה משוקללת ומבוססת רוב קולות.</a:t>
              </a:r>
              <a:endParaRPr b="0" sz="1000">
                <a:solidFill>
                  <a:srgbClr val="7A8D9E"/>
                </a:solidFill>
                <a:latin typeface="Assistant"/>
                <a:ea typeface="Assistant"/>
                <a:cs typeface="Assistant"/>
                <a:sym typeface="Assistant"/>
              </a:endParaRPr>
            </a:p>
          </p:txBody>
        </p:sp>
      </p:grpSp>
      <p:grpSp>
        <p:nvGrpSpPr>
          <p:cNvPr id="405" name="Google Shape;405;p26"/>
          <p:cNvGrpSpPr/>
          <p:nvPr/>
        </p:nvGrpSpPr>
        <p:grpSpPr>
          <a:xfrm>
            <a:off x="4810125" y="904875"/>
            <a:ext cx="3762300" cy="3238500"/>
            <a:chOff x="4810125" y="904875"/>
            <a:chExt cx="3762300" cy="3238500"/>
          </a:xfrm>
        </p:grpSpPr>
        <p:sp>
          <p:nvSpPr>
            <p:cNvPr id="406" name="Google Shape;406;p26"/>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6"/>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6"/>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ENSEMBLE_VOTE</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פונקציית החיזוי המשוקללת</a:t>
              </a:r>
              <a:endParaRPr b="1" sz="850">
                <a:solidFill>
                  <a:srgbClr val="10B981"/>
                </a:solidFill>
                <a:latin typeface="Courier New"/>
                <a:ea typeface="Courier New"/>
                <a:cs typeface="Courier New"/>
                <a:sym typeface="Courier New"/>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ŷ = mode( f₁(x), f₂(x), ..., f_K(x) )</a:t>
              </a:r>
              <a:endParaRPr b="1" sz="850">
                <a:solidFill>
                  <a:srgbClr val="10B981"/>
                </a:solidFill>
                <a:latin typeface="Courier New"/>
                <a:ea typeface="Courier New"/>
                <a:cs typeface="Courier New"/>
                <a:sym typeface="Courier New"/>
              </a:endParaRPr>
            </a:p>
            <a:p>
              <a:pPr indent="0" lvl="0" marL="0" rtl="1" algn="r">
                <a:spcBef>
                  <a:spcPts val="800"/>
                </a:spcBef>
                <a:spcAft>
                  <a:spcPts val="0"/>
                </a:spcAft>
                <a:buNone/>
              </a:pPr>
              <a:r>
                <a:rPr b="0" lang="iw" sz="950">
                  <a:solidFill>
                    <a:srgbClr val="A0B2C6"/>
                  </a:solidFill>
                  <a:latin typeface="Assistant"/>
                  <a:ea typeface="Assistant"/>
                  <a:cs typeface="Assistant"/>
                  <a:sym typeface="Assistant"/>
                </a:rPr>
                <a:t>החיזוי הסופי נקבע על ידי שילוב של מספר עצי החלטה בנפרד. כל עץ ביער מספק תחזית עצמאית לגמרי עבור דוגמת הקלט.</a:t>
              </a:r>
              <a:endParaRPr b="1" sz="850">
                <a:solidFill>
                  <a:srgbClr val="10B981"/>
                </a:solidFill>
                <a:latin typeface="Courier New"/>
                <a:ea typeface="Courier New"/>
                <a:cs typeface="Courier New"/>
                <a:sym typeface="Courier New"/>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מרכיבי הנוסחה:</a:t>
              </a:r>
              <a:endParaRPr b="1" sz="850">
                <a:solidFill>
                  <a:srgbClr val="10B981"/>
                </a:solidFill>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ŷ (החיזוי הסופי):</a:t>
              </a:r>
              <a:r>
                <a:rPr b="0" lang="iw" sz="950">
                  <a:solidFill>
                    <a:srgbClr val="A0B2C6"/>
                  </a:solidFill>
                  <a:latin typeface="Assistant"/>
                  <a:ea typeface="Assistant"/>
                  <a:cs typeface="Assistant"/>
                  <a:sym typeface="Assistant"/>
                </a:rPr>
                <a:t> הסיווג שנקבע עבור המטופל (חולה או בריא) על בסיס שקלול היער.</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mode (שכיח / רוב קולות):</a:t>
              </a:r>
              <a:r>
                <a:rPr b="0" lang="iw" sz="950">
                  <a:solidFill>
                    <a:srgbClr val="A0B2C6"/>
                  </a:solidFill>
                  <a:latin typeface="Assistant"/>
                  <a:ea typeface="Assistant"/>
                  <a:cs typeface="Assistant"/>
                  <a:sym typeface="Assistant"/>
                </a:rPr>
                <a:t> פונקציה הבוחרת את הקטגוריה השכיחה ביותר מבין כל התוצאות.</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f_k(x) (תחזית עץ בודד):</a:t>
              </a:r>
              <a:r>
                <a:rPr b="0" lang="iw" sz="950">
                  <a:solidFill>
                    <a:srgbClr val="A0B2C6"/>
                  </a:solidFill>
                  <a:latin typeface="Assistant"/>
                  <a:ea typeface="Assistant"/>
                  <a:cs typeface="Assistant"/>
                  <a:sym typeface="Assistant"/>
                </a:rPr>
                <a:t> ההחלטה של העץ ה-k-י מתוך סך הכל K עצי החלטה ביער.</a:t>
              </a:r>
              <a:endParaRPr b="1" sz="850">
                <a:solidFill>
                  <a:srgbClr val="10B981"/>
                </a:solidFill>
                <a:latin typeface="Courier New"/>
                <a:ea typeface="Courier New"/>
                <a:cs typeface="Courier New"/>
                <a:sym typeface="Courier New"/>
              </a:endParaRPr>
            </a:p>
          </p:txBody>
        </p:sp>
      </p:grpSp>
      <p:grpSp>
        <p:nvGrpSpPr>
          <p:cNvPr id="409" name="Google Shape;409;p26"/>
          <p:cNvGrpSpPr/>
          <p:nvPr/>
        </p:nvGrpSpPr>
        <p:grpSpPr>
          <a:xfrm>
            <a:off x="571500" y="904875"/>
            <a:ext cx="3762300" cy="3238500"/>
            <a:chOff x="571500" y="904875"/>
            <a:chExt cx="3762300" cy="3238500"/>
          </a:xfrm>
        </p:grpSpPr>
        <p:sp>
          <p:nvSpPr>
            <p:cNvPr id="410" name="Google Shape;410;p26"/>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6"/>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6"/>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MAJORITY_DECISION</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קבלת החלטה ברוב קולות</a:t>
              </a:r>
              <a:endParaRPr b="1" sz="850">
                <a:solidFill>
                  <a:srgbClr val="10B981"/>
                </a:solidFill>
                <a:latin typeface="Courier New"/>
                <a:ea typeface="Courier New"/>
                <a:cs typeface="Courier New"/>
                <a:sym typeface="Courier New"/>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Majority Vote Rules</a:t>
              </a:r>
              <a:endParaRPr b="1" sz="850">
                <a:solidFill>
                  <a:srgbClr val="10B981"/>
                </a:solidFill>
                <a:latin typeface="Courier New"/>
                <a:ea typeface="Courier New"/>
                <a:cs typeface="Courier New"/>
                <a:sym typeface="Courier New"/>
              </a:endParaRPr>
            </a:p>
            <a:p>
              <a:pPr indent="0" lvl="0" marL="0" rtl="1" algn="r">
                <a:spcBef>
                  <a:spcPts val="1000"/>
                </a:spcBef>
                <a:spcAft>
                  <a:spcPts val="0"/>
                </a:spcAft>
                <a:buNone/>
              </a:pPr>
              <a:r>
                <a:rPr b="0" lang="iw" sz="950">
                  <a:solidFill>
                    <a:srgbClr val="A0B2C6"/>
                  </a:solidFill>
                  <a:latin typeface="Assistant"/>
                  <a:ea typeface="Assistant"/>
                  <a:cs typeface="Assistant"/>
                  <a:sym typeface="Assistant"/>
                </a:rPr>
                <a:t>כל עץ החלטה שנבנה בתהליך האימון מצביע בנפרד לקטגוריה מסוימת. העיקרון המנחה הוא שילוב המידע לקבלת החלטה קבוצתית מדויקת.</a:t>
              </a:r>
              <a:endParaRPr b="1" sz="850">
                <a:solidFill>
                  <a:srgbClr val="10B981"/>
                </a:solidFill>
                <a:latin typeface="Courier New"/>
                <a:ea typeface="Courier New"/>
                <a:cs typeface="Courier New"/>
                <a:sym typeface="Courier New"/>
              </a:endParaRPr>
            </a:p>
            <a:p>
              <a:pPr indent="0" lvl="0" marL="0" rtl="1" algn="r">
                <a:spcBef>
                  <a:spcPts val="1000"/>
                </a:spcBef>
                <a:spcAft>
                  <a:spcPts val="0"/>
                </a:spcAft>
                <a:buNone/>
              </a:pPr>
              <a:r>
                <a:rPr b="1" lang="iw" sz="950">
                  <a:solidFill>
                    <a:srgbClr val="FFFFFF"/>
                  </a:solidFill>
                  <a:latin typeface="Assistant"/>
                  <a:ea typeface="Assistant"/>
                  <a:cs typeface="Assistant"/>
                  <a:sym typeface="Assistant"/>
                </a:rPr>
                <a:t>מנגנון ההחלטה:</a:t>
              </a:r>
              <a:endParaRPr b="1" sz="850">
                <a:solidFill>
                  <a:srgbClr val="10B981"/>
                </a:solidFill>
                <a:latin typeface="Courier New"/>
                <a:ea typeface="Courier New"/>
                <a:cs typeface="Courier New"/>
                <a:sym typeface="Courier New"/>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הצבעת העצים:</a:t>
              </a:r>
              <a:r>
                <a:rPr b="0" lang="iw" sz="950">
                  <a:solidFill>
                    <a:srgbClr val="A0B2C6"/>
                  </a:solidFill>
                  <a:latin typeface="Assistant"/>
                  <a:ea typeface="Assistant"/>
                  <a:cs typeface="Assistant"/>
                  <a:sym typeface="Assistant"/>
                </a:rPr>
                <a:t> כל עץ "מצביע" על סמך התכונות הייחודיות של נתוני המטופל שנחשפו אליו.</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מניעת התאמת יתר:</a:t>
              </a:r>
              <a:r>
                <a:rPr b="0" lang="iw" sz="950">
                  <a:solidFill>
                    <a:srgbClr val="A0B2C6"/>
                  </a:solidFill>
                  <a:latin typeface="Assistant"/>
                  <a:ea typeface="Assistant"/>
                  <a:cs typeface="Assistant"/>
                  <a:sym typeface="Assistant"/>
                </a:rPr>
                <a:t> הבחירה הסטטיסטית בשכיח מנטרלת שגיאות נקודתיות של עצים בודדים.</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עקרון רוב הקולות:</a:t>
              </a:r>
              <a:r>
                <a:rPr b="0" lang="iw" sz="950">
                  <a:solidFill>
                    <a:srgbClr val="A0B2C6"/>
                  </a:solidFill>
                  <a:latin typeface="Assistant"/>
                  <a:ea typeface="Assistant"/>
                  <a:cs typeface="Assistant"/>
                  <a:sym typeface="Assistant"/>
                </a:rPr>
                <a:t> הקטגוריה שקיבלה את מירב קולות העצים נבחרת כחיזוי הסופי של המודל.</a:t>
              </a:r>
              <a:endParaRPr b="1" sz="850">
                <a:solidFill>
                  <a:srgbClr val="10B981"/>
                </a:solidFill>
                <a:latin typeface="Courier New"/>
                <a:ea typeface="Courier New"/>
                <a:cs typeface="Courier New"/>
                <a:sym typeface="Courier New"/>
              </a:endParaRPr>
            </a:p>
          </p:txBody>
        </p:sp>
      </p:grpSp>
      <p:grpSp>
        <p:nvGrpSpPr>
          <p:cNvPr id="413" name="Google Shape;413;p26"/>
          <p:cNvGrpSpPr/>
          <p:nvPr/>
        </p:nvGrpSpPr>
        <p:grpSpPr>
          <a:xfrm>
            <a:off x="571500" y="4333875"/>
            <a:ext cx="8001000" cy="362100"/>
            <a:chOff x="571500" y="4333875"/>
            <a:chExt cx="8001000" cy="362100"/>
          </a:xfrm>
        </p:grpSpPr>
        <p:sp>
          <p:nvSpPr>
            <p:cNvPr id="414" name="Google Shape;414;p26"/>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6"/>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6"/>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אלגוריתם היער האקראי משלב את החיזויים של עצי החלטה מרובים, כאשר החיזוי הסופי של המודל נקבע בצורה דמוקרטית על פי רוב הקולות של העצים המצביעים.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20" name="Shape 420"/>
        <p:cNvGrpSpPr/>
        <p:nvPr/>
      </p:nvGrpSpPr>
      <p:grpSpPr>
        <a:xfrm>
          <a:off x="0" y="0"/>
          <a:ext cx="0" cy="0"/>
          <a:chOff x="0" y="0"/>
          <a:chExt cx="0" cy="0"/>
        </a:xfrm>
      </p:grpSpPr>
      <p:grpSp>
        <p:nvGrpSpPr>
          <p:cNvPr id="421" name="Google Shape;421;p27"/>
          <p:cNvGrpSpPr/>
          <p:nvPr/>
        </p:nvGrpSpPr>
        <p:grpSpPr>
          <a:xfrm>
            <a:off x="1619250" y="238125"/>
            <a:ext cx="6953400" cy="695250"/>
            <a:chOff x="1619250" y="238125"/>
            <a:chExt cx="6953400" cy="695250"/>
          </a:xfrm>
        </p:grpSpPr>
        <p:sp>
          <p:nvSpPr>
            <p:cNvPr id="422" name="Google Shape;422;p27"/>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870">
                  <a:solidFill>
                    <a:srgbClr val="FFFFFF"/>
                  </a:solidFill>
                  <a:latin typeface="Assistant ExtraBold"/>
                  <a:ea typeface="Assistant ExtraBold"/>
                  <a:cs typeface="Assistant ExtraBold"/>
                  <a:sym typeface="Assistant ExtraBold"/>
                </a:rPr>
                <a:t>הבסיס המתמטי של Logistic Regression</a:t>
              </a:r>
              <a:endParaRPr b="0" sz="1870">
                <a:solidFill>
                  <a:srgbClr val="FFFFFF"/>
                </a:solidFill>
                <a:latin typeface="Assistant ExtraBold"/>
                <a:ea typeface="Assistant ExtraBold"/>
                <a:cs typeface="Assistant ExtraBold"/>
                <a:sym typeface="Assistant ExtraBold"/>
              </a:endParaRPr>
            </a:p>
          </p:txBody>
        </p:sp>
        <p:sp>
          <p:nvSpPr>
            <p:cNvPr id="423" name="Google Shape;423;p27"/>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מודל רגרסיה לוגיסטית: חישוב הסתברות ההשתייכות למחלקה בעזרת פונקציית הסיגמואיד.</a:t>
              </a:r>
              <a:endParaRPr b="0" sz="1000">
                <a:solidFill>
                  <a:srgbClr val="7A8D9E"/>
                </a:solidFill>
                <a:latin typeface="Assistant"/>
                <a:ea typeface="Assistant"/>
                <a:cs typeface="Assistant"/>
                <a:sym typeface="Assistant"/>
              </a:endParaRPr>
            </a:p>
          </p:txBody>
        </p:sp>
      </p:grpSp>
      <p:grpSp>
        <p:nvGrpSpPr>
          <p:cNvPr id="424" name="Google Shape;424;p27"/>
          <p:cNvGrpSpPr/>
          <p:nvPr/>
        </p:nvGrpSpPr>
        <p:grpSpPr>
          <a:xfrm>
            <a:off x="4810125" y="904875"/>
            <a:ext cx="3762300" cy="3238500"/>
            <a:chOff x="4810125" y="904875"/>
            <a:chExt cx="3762300" cy="3238500"/>
          </a:xfrm>
        </p:grpSpPr>
        <p:sp>
          <p:nvSpPr>
            <p:cNvPr id="425" name="Google Shape;425;p27"/>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27"/>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7"/>
            <p:cNvSpPr txBox="1"/>
            <p:nvPr/>
          </p:nvSpPr>
          <p:spPr>
            <a:xfrm>
              <a:off x="5000625" y="1047750"/>
              <a:ext cx="33813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SIGMOID_FUNCTION</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נוסחת ה־Sigmoid</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P(y=1|x) = 1 / (1 + e^-(wᵀx+b))</a:t>
              </a:r>
              <a:endParaRPr b="1" sz="850">
                <a:solidFill>
                  <a:srgbClr val="00E5FF"/>
                </a:solidFill>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המודל מחשב את ההסתברות שהדוגמה שייכת למחלקה מסוימת (למשל, חולה) על ידי מיפוי הצירוף הליניארי לערך הסתברותי.</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850">
                  <a:solidFill>
                    <a:srgbClr val="FFFFFF"/>
                  </a:solidFill>
                  <a:latin typeface="Assistant"/>
                  <a:ea typeface="Assistant"/>
                  <a:cs typeface="Assistant"/>
                  <a:sym typeface="Assistant"/>
                </a:rPr>
                <a:t>מרכיבי הנוסחה:</a:t>
              </a:r>
              <a:endParaRPr b="1" sz="8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wᵀx + b:</a:t>
              </a:r>
              <a:r>
                <a:rPr b="0" lang="iw" sz="950">
                  <a:solidFill>
                    <a:srgbClr val="A0B2C6"/>
                  </a:solidFill>
                  <a:latin typeface="Assistant"/>
                  <a:ea typeface="Assistant"/>
                  <a:cs typeface="Assistant"/>
                  <a:sym typeface="Assistant"/>
                </a:rPr>
                <a:t> הצירוף הליניארי של משתני הקלט והמשקולות.</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e (קבוע אוילר):</a:t>
              </a:r>
              <a:r>
                <a:rPr b="0" lang="iw" sz="950">
                  <a:solidFill>
                    <a:srgbClr val="A0B2C6"/>
                  </a:solidFill>
                  <a:latin typeface="Assistant"/>
                  <a:ea typeface="Assistant"/>
                  <a:cs typeface="Assistant"/>
                  <a:sym typeface="Assistant"/>
                </a:rPr>
                <a:t> בסיס הלוגריתם הטבעי, המשמש לייצוג הגידול המעריכי.</a:t>
              </a:r>
              <a:endParaRPr b="0" sz="950">
                <a:solidFill>
                  <a:srgbClr val="A0B2C6"/>
                </a:solidFill>
                <a:latin typeface="Assistant"/>
                <a:ea typeface="Assistant"/>
                <a:cs typeface="Assistant"/>
                <a:sym typeface="Assistant"/>
              </a:endParaRPr>
            </a:p>
          </p:txBody>
        </p:sp>
      </p:grpSp>
      <p:grpSp>
        <p:nvGrpSpPr>
          <p:cNvPr id="428" name="Google Shape;428;p27"/>
          <p:cNvGrpSpPr/>
          <p:nvPr/>
        </p:nvGrpSpPr>
        <p:grpSpPr>
          <a:xfrm>
            <a:off x="571500" y="904875"/>
            <a:ext cx="3762300" cy="3238500"/>
            <a:chOff x="571500" y="904875"/>
            <a:chExt cx="3762300" cy="3238500"/>
          </a:xfrm>
        </p:grpSpPr>
        <p:sp>
          <p:nvSpPr>
            <p:cNvPr id="429" name="Google Shape;429;p27"/>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7"/>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7"/>
            <p:cNvSpPr txBox="1"/>
            <p:nvPr/>
          </p:nvSpPr>
          <p:spPr>
            <a:xfrm>
              <a:off x="762000" y="1047750"/>
              <a:ext cx="3381300" cy="29529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DECISION_THRESHOLD</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קבלת החלטה וסיווג</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P(y=1|x) ≥ 0.5 ➔ Disease (1)</a:t>
              </a:r>
              <a:endParaRPr b="1" sz="850">
                <a:solidFill>
                  <a:srgbClr val="10B981"/>
                </a:solidFill>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הפלט של המודל הוא הסתברות בין 0 ל־1. קביעת הסיווג בפועל מתבצעת על פי השוואה לסף ההחלטה המוגדר מראש.</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850">
                  <a:solidFill>
                    <a:srgbClr val="FFFFFF"/>
                  </a:solidFill>
                  <a:latin typeface="Assistant"/>
                  <a:ea typeface="Assistant"/>
                  <a:cs typeface="Assistant"/>
                  <a:sym typeface="Assistant"/>
                </a:rPr>
                <a:t>מנגנון הסיווג:</a:t>
              </a:r>
              <a:endParaRPr b="1" sz="8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מעל הסף (≥ 0.5):</a:t>
              </a:r>
              <a:r>
                <a:rPr b="0" lang="iw" sz="950">
                  <a:solidFill>
                    <a:srgbClr val="A0B2C6"/>
                  </a:solidFill>
                  <a:latin typeface="Assistant"/>
                  <a:ea typeface="Assistant"/>
                  <a:cs typeface="Assistant"/>
                  <a:sym typeface="Assistant"/>
                </a:rPr>
                <a:t> הדוגמה מסווגת כחולה (Positive).</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מתחת לסף (&lt; 0.5):</a:t>
              </a:r>
              <a:r>
                <a:rPr b="0" lang="iw" sz="950">
                  <a:solidFill>
                    <a:srgbClr val="A0B2C6"/>
                  </a:solidFill>
                  <a:latin typeface="Assistant"/>
                  <a:ea typeface="Assistant"/>
                  <a:cs typeface="Assistant"/>
                  <a:sym typeface="Assistant"/>
                </a:rPr>
                <a:t> הדוגמה מסווגת כבריאה (Negative).</a:t>
              </a:r>
              <a:endParaRPr b="0" sz="950">
                <a:solidFill>
                  <a:srgbClr val="A0B2C6"/>
                </a:solidFill>
                <a:latin typeface="Assistant"/>
                <a:ea typeface="Assistant"/>
                <a:cs typeface="Assistant"/>
                <a:sym typeface="Assistant"/>
              </a:endParaRPr>
            </a:p>
          </p:txBody>
        </p:sp>
      </p:grpSp>
      <p:grpSp>
        <p:nvGrpSpPr>
          <p:cNvPr id="432" name="Google Shape;432;p27"/>
          <p:cNvGrpSpPr/>
          <p:nvPr/>
        </p:nvGrpSpPr>
        <p:grpSpPr>
          <a:xfrm>
            <a:off x="571500" y="4333875"/>
            <a:ext cx="8001000" cy="362100"/>
            <a:chOff x="571500" y="4333875"/>
            <a:chExt cx="8001000" cy="362100"/>
          </a:xfrm>
        </p:grpSpPr>
        <p:sp>
          <p:nvSpPr>
            <p:cNvPr id="433" name="Google Shape;433;p27"/>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7"/>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7"/>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המודל מתמקד בחישוב ההסתברות הישירה ומסווג את המטופל על בסיס סף קבוע (0.5), ללא צורך בהצגת פונקציית העלות או חישובי גזירות מורכבים.</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39" name="Shape 439"/>
        <p:cNvGrpSpPr/>
        <p:nvPr/>
      </p:nvGrpSpPr>
      <p:grpSpPr>
        <a:xfrm>
          <a:off x="0" y="0"/>
          <a:ext cx="0" cy="0"/>
          <a:chOff x="0" y="0"/>
          <a:chExt cx="0" cy="0"/>
        </a:xfrm>
      </p:grpSpPr>
      <p:grpSp>
        <p:nvGrpSpPr>
          <p:cNvPr id="440" name="Google Shape;440;p28"/>
          <p:cNvGrpSpPr/>
          <p:nvPr/>
        </p:nvGrpSpPr>
        <p:grpSpPr>
          <a:xfrm>
            <a:off x="1619250" y="238125"/>
            <a:ext cx="6953400" cy="695250"/>
            <a:chOff x="1619250" y="238125"/>
            <a:chExt cx="6953400" cy="695250"/>
          </a:xfrm>
        </p:grpSpPr>
        <p:sp>
          <p:nvSpPr>
            <p:cNvPr id="441" name="Google Shape;441;p28"/>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הבסיס המתמטי של KNN</a:t>
              </a:r>
              <a:endParaRPr b="0" sz="2400">
                <a:solidFill>
                  <a:srgbClr val="FFFFFF"/>
                </a:solidFill>
                <a:latin typeface="Assistant ExtraBold"/>
                <a:ea typeface="Assistant ExtraBold"/>
                <a:cs typeface="Assistant ExtraBold"/>
                <a:sym typeface="Assistant ExtraBold"/>
              </a:endParaRPr>
            </a:p>
          </p:txBody>
        </p:sp>
        <p:sp>
          <p:nvSpPr>
            <p:cNvPr id="442" name="Google Shape;442;p28"/>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פורמלי של אלגוריתם K-Nearest Neighbors: ללא שלב אימון מודל או נוסחת אופטימיזציה, אלא על בסיס חישוב מרחק ישיר במרחב.</a:t>
              </a:r>
              <a:endParaRPr b="0" sz="1000">
                <a:solidFill>
                  <a:srgbClr val="7A8D9E"/>
                </a:solidFill>
                <a:latin typeface="Assistant"/>
                <a:ea typeface="Assistant"/>
                <a:cs typeface="Assistant"/>
                <a:sym typeface="Assistant"/>
              </a:endParaRPr>
            </a:p>
          </p:txBody>
        </p:sp>
      </p:grpSp>
      <p:grpSp>
        <p:nvGrpSpPr>
          <p:cNvPr id="443" name="Google Shape;443;p28"/>
          <p:cNvGrpSpPr/>
          <p:nvPr/>
        </p:nvGrpSpPr>
        <p:grpSpPr>
          <a:xfrm>
            <a:off x="4810125" y="904875"/>
            <a:ext cx="3762300" cy="3238500"/>
            <a:chOff x="4810125" y="904875"/>
            <a:chExt cx="3762300" cy="3238500"/>
          </a:xfrm>
        </p:grpSpPr>
        <p:sp>
          <p:nvSpPr>
            <p:cNvPr id="444" name="Google Shape;444;p28"/>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8"/>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8"/>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FORMULATION_01 // DISTANCE_METRIC</a:t>
              </a:r>
              <a:endParaRPr b="1" sz="850">
                <a:solidFill>
                  <a:srgbClr val="00E5FF"/>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חישוב המרחק האוקלידי</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00E5FF"/>
                  </a:solidFill>
                  <a:highlight>
                    <a:srgbClr val="152E3C"/>
                  </a:highlight>
                  <a:latin typeface="Courier New"/>
                  <a:ea typeface="Courier New"/>
                  <a:cs typeface="Courier New"/>
                  <a:sym typeface="Courier New"/>
                </a:rPr>
                <a:t>d(x,y) = √ ∑ᵢ₌₁ⁿ (xᵢ - yᵢ)²</a:t>
              </a:r>
              <a:endParaRPr b="1" sz="1400">
                <a:solidFill>
                  <a:srgbClr val="00E5FF"/>
                </a:solidFill>
                <a:highlight>
                  <a:srgbClr val="152E3C"/>
                </a:highlight>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מכיוון של-KNN אין "מודל" פרמטרי או תהליך אופטימיזציה מקדים, האלגוריתם מסתמך באופן ישיר על חישוב מרחק גאומטרי בין נקודות הנתונים.</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פירוט הנוסחה:</a:t>
              </a:r>
              <a:endParaRPr b="1" sz="9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d(x,y):</a:t>
              </a:r>
              <a:r>
                <a:rPr b="0" lang="iw" sz="950">
                  <a:solidFill>
                    <a:srgbClr val="A0B2C6"/>
                  </a:solidFill>
                  <a:latin typeface="Assistant"/>
                  <a:ea typeface="Assistant"/>
                  <a:cs typeface="Assistant"/>
                  <a:sym typeface="Assistant"/>
                </a:rPr>
                <a:t> המרחק בין דוגמת הקלט החדשה x לבין דוגמה קיימת y במאגר.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xᵢ, yᵢ:</a:t>
              </a:r>
              <a:r>
                <a:rPr b="0" lang="iw" sz="950">
                  <a:solidFill>
                    <a:srgbClr val="A0B2C6"/>
                  </a:solidFill>
                  <a:latin typeface="Assistant"/>
                  <a:ea typeface="Assistant"/>
                  <a:cs typeface="Assistant"/>
                  <a:sym typeface="Assistant"/>
                </a:rPr>
                <a:t> ערכי התכונות (הקואורדינטות) השונות בממד ה-i מתוך n ממדים.</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 (סכום ההפרשים):</a:t>
              </a:r>
              <a:r>
                <a:rPr b="0" lang="iw" sz="950">
                  <a:solidFill>
                    <a:srgbClr val="A0B2C6"/>
                  </a:solidFill>
                  <a:latin typeface="Assistant"/>
                  <a:ea typeface="Assistant"/>
                  <a:cs typeface="Assistant"/>
                  <a:sym typeface="Assistant"/>
                </a:rPr>
                <a:t> סכימת הריבועים של ההפרשים בכל אחד מממדי התכונות של המטופלים.</a:t>
              </a:r>
              <a:endParaRPr b="0" sz="950">
                <a:solidFill>
                  <a:srgbClr val="A0B2C6"/>
                </a:solidFill>
                <a:latin typeface="Assistant"/>
                <a:ea typeface="Assistant"/>
                <a:cs typeface="Assistant"/>
                <a:sym typeface="Assistant"/>
              </a:endParaRPr>
            </a:p>
          </p:txBody>
        </p:sp>
      </p:grpSp>
      <p:grpSp>
        <p:nvGrpSpPr>
          <p:cNvPr id="447" name="Google Shape;447;p28"/>
          <p:cNvGrpSpPr/>
          <p:nvPr/>
        </p:nvGrpSpPr>
        <p:grpSpPr>
          <a:xfrm>
            <a:off x="571500" y="904875"/>
            <a:ext cx="3762300" cy="3238500"/>
            <a:chOff x="571500" y="904875"/>
            <a:chExt cx="3762300" cy="3238500"/>
          </a:xfrm>
        </p:grpSpPr>
        <p:sp>
          <p:nvSpPr>
            <p:cNvPr id="448" name="Google Shape;448;p28"/>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8"/>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8"/>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FORMULATION_02 // NEIGHBORS_CLASSIFICATION</a:t>
              </a:r>
              <a:endParaRPr b="1" sz="850">
                <a:solidFill>
                  <a:srgbClr val="10B981"/>
                </a:solidFill>
                <a:latin typeface="Courier New"/>
                <a:ea typeface="Courier New"/>
                <a:cs typeface="Courier New"/>
                <a:sym typeface="Courier New"/>
              </a:endParaRPr>
            </a:p>
            <a:p>
              <a:pPr indent="0" lvl="0" marL="0" rtl="1" algn="r">
                <a:spcBef>
                  <a:spcPts val="450"/>
                </a:spcBef>
                <a:spcAft>
                  <a:spcPts val="0"/>
                </a:spcAft>
                <a:buNone/>
              </a:pPr>
              <a:r>
                <a:rPr b="1" lang="iw" sz="1400">
                  <a:solidFill>
                    <a:srgbClr val="FFFFFF"/>
                  </a:solidFill>
                  <a:latin typeface="Assistant"/>
                  <a:ea typeface="Assistant"/>
                  <a:cs typeface="Assistant"/>
                  <a:sym typeface="Assistant"/>
                </a:rPr>
                <a:t>סיווג לפי רוב קולות השכנים</a:t>
              </a:r>
              <a:endParaRPr b="1" sz="1400">
                <a:solidFill>
                  <a:srgbClr val="FFFFFF"/>
                </a:solidFill>
                <a:latin typeface="Assistant"/>
                <a:ea typeface="Assistant"/>
                <a:cs typeface="Assistant"/>
                <a:sym typeface="Assistant"/>
              </a:endParaRPr>
            </a:p>
            <a:p>
              <a:pPr indent="0" lvl="0" marL="0" rtl="1" algn="ctr">
                <a:spcBef>
                  <a:spcPts val="1200"/>
                </a:spcBef>
                <a:spcAft>
                  <a:spcPts val="0"/>
                </a:spcAft>
                <a:buNone/>
              </a:pPr>
              <a:r>
                <a:rPr b="1" lang="iw" sz="1400">
                  <a:solidFill>
                    <a:srgbClr val="10B981"/>
                  </a:solidFill>
                  <a:highlight>
                    <a:srgbClr val="14322C"/>
                  </a:highlight>
                  <a:latin typeface="Courier New"/>
                  <a:ea typeface="Courier New"/>
                  <a:cs typeface="Courier New"/>
                  <a:sym typeface="Courier New"/>
                </a:rPr>
                <a:t>ŷ = argmax_c ∑_{i ∈ N_K(x)} I(y_i = c)</a:t>
              </a:r>
              <a:endParaRPr b="1" sz="1400">
                <a:solidFill>
                  <a:srgbClr val="10B981"/>
                </a:solidFill>
                <a:highlight>
                  <a:srgbClr val="14322C"/>
                </a:highlight>
                <a:latin typeface="Courier New"/>
                <a:ea typeface="Courier New"/>
                <a:cs typeface="Courier New"/>
                <a:sym typeface="Courier New"/>
              </a:endParaRPr>
            </a:p>
            <a:p>
              <a:pPr indent="0" lvl="0" marL="0" rtl="1" algn="r">
                <a:spcBef>
                  <a:spcPts val="1200"/>
                </a:spcBef>
                <a:spcAft>
                  <a:spcPts val="0"/>
                </a:spcAft>
                <a:buNone/>
              </a:pPr>
              <a:r>
                <a:rPr b="0" lang="iw" sz="950">
                  <a:solidFill>
                    <a:srgbClr val="A0B2C6"/>
                  </a:solidFill>
                  <a:latin typeface="Assistant"/>
                  <a:ea typeface="Assistant"/>
                  <a:cs typeface="Assistant"/>
                  <a:sym typeface="Assistant"/>
                </a:rPr>
                <a:t>לאחר חישוב המרחקים, האלגוריתם מאתר את K השכנים הקרובים ביותר ומבצע החלטה דמוקרטית המבוססת על השכיח בקבוצה.</a:t>
              </a:r>
              <a:endParaRPr b="0" sz="950">
                <a:solidFill>
                  <a:srgbClr val="A0B2C6"/>
                </a:solidFill>
                <a:latin typeface="Assistant"/>
                <a:ea typeface="Assistant"/>
                <a:cs typeface="Assistant"/>
                <a:sym typeface="Assistant"/>
              </a:endParaRPr>
            </a:p>
            <a:p>
              <a:pPr indent="0" lvl="0" marL="0" rtl="1" algn="r">
                <a:spcBef>
                  <a:spcPts val="800"/>
                </a:spcBef>
                <a:spcAft>
                  <a:spcPts val="0"/>
                </a:spcAft>
                <a:buNone/>
              </a:pPr>
              <a:r>
                <a:rPr b="1" lang="iw" sz="950">
                  <a:solidFill>
                    <a:srgbClr val="FFFFFF"/>
                  </a:solidFill>
                  <a:latin typeface="Assistant"/>
                  <a:ea typeface="Assistant"/>
                  <a:cs typeface="Assistant"/>
                  <a:sym typeface="Assistant"/>
                </a:rPr>
                <a:t>שלבי האלגוריתם:</a:t>
              </a:r>
              <a:endParaRPr b="1" sz="950">
                <a:solidFill>
                  <a:srgbClr val="FFFFFF"/>
                </a:solidFill>
                <a:latin typeface="Assistant"/>
                <a:ea typeface="Assistant"/>
                <a:cs typeface="Assistant"/>
                <a:sym typeface="Assistant"/>
              </a:endParaRPr>
            </a:p>
            <a:p>
              <a:pPr indent="0" lvl="0" marL="0" rtl="1" algn="r">
                <a:spcBef>
                  <a:spcPts val="4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חישוב מרחקים מקיף:</a:t>
              </a:r>
              <a:r>
                <a:rPr b="0" lang="iw" sz="950">
                  <a:solidFill>
                    <a:srgbClr val="A0B2C6"/>
                  </a:solidFill>
                  <a:latin typeface="Assistant"/>
                  <a:ea typeface="Assistant"/>
                  <a:cs typeface="Assistant"/>
                  <a:sym typeface="Assistant"/>
                </a:rPr>
                <a:t> מדידת המרחק d(x,y) בין הדוגמה החדשה לכל נקודה במאגר.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בחירת K השכנים:</a:t>
              </a:r>
              <a:r>
                <a:rPr b="0" lang="iw" sz="950">
                  <a:solidFill>
                    <a:srgbClr val="A0B2C6"/>
                  </a:solidFill>
                  <a:latin typeface="Assistant"/>
                  <a:ea typeface="Assistant"/>
                  <a:cs typeface="Assistant"/>
                  <a:sym typeface="Assistant"/>
                </a:rPr>
                <a:t> סינון ומציאת ה-K נקודות בעלות המרחק המינימלי ביותר.</a:t>
              </a:r>
              <a:endParaRPr b="0" sz="95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הצבעת הרוב:</a:t>
              </a:r>
              <a:r>
                <a:rPr b="0" lang="iw" sz="950">
                  <a:solidFill>
                    <a:srgbClr val="A0B2C6"/>
                  </a:solidFill>
                  <a:latin typeface="Assistant"/>
                  <a:ea typeface="Assistant"/>
                  <a:cs typeface="Assistant"/>
                  <a:sym typeface="Assistant"/>
                </a:rPr>
                <a:t> קביעת הסיווג הסופי ŷ לפי מחלקת הרוב של השכנים שנבחרו.</a:t>
              </a:r>
              <a:endParaRPr b="0" sz="950">
                <a:solidFill>
                  <a:srgbClr val="A0B2C6"/>
                </a:solidFill>
                <a:latin typeface="Assistant"/>
                <a:ea typeface="Assistant"/>
                <a:cs typeface="Assistant"/>
                <a:sym typeface="Assistant"/>
              </a:endParaRPr>
            </a:p>
          </p:txBody>
        </p:sp>
      </p:grpSp>
      <p:grpSp>
        <p:nvGrpSpPr>
          <p:cNvPr id="451" name="Google Shape;451;p28"/>
          <p:cNvGrpSpPr/>
          <p:nvPr/>
        </p:nvGrpSpPr>
        <p:grpSpPr>
          <a:xfrm>
            <a:off x="571500" y="4333875"/>
            <a:ext cx="8001000" cy="362100"/>
            <a:chOff x="571500" y="4333875"/>
            <a:chExt cx="8001000" cy="362100"/>
          </a:xfrm>
        </p:grpSpPr>
        <p:sp>
          <p:nvSpPr>
            <p:cNvPr id="452" name="Google Shape;452;p28"/>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8"/>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8"/>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הסבר מתמטי: </a:t>
              </a:r>
              <a:r>
                <a:rPr b="0" lang="iw" sz="900">
                  <a:solidFill>
                    <a:srgbClr val="7A8D9E"/>
                  </a:solidFill>
                  <a:latin typeface="Assistant"/>
                  <a:ea typeface="Assistant"/>
                  <a:cs typeface="Assistant"/>
                  <a:sym typeface="Assistant"/>
                </a:rPr>
                <a:t>אלגוריתם KNN אינו מייצר מודל מוכלל אלא משמש כאלגוריתם עצל (Lazy Learner), המבצע את כל חישובי המרחק האוקלידי וסיווג הרוב רק בעת קבלת שאילתה חדשה.</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458" name="Shape 458"/>
        <p:cNvGrpSpPr/>
        <p:nvPr/>
      </p:nvGrpSpPr>
      <p:grpSpPr>
        <a:xfrm>
          <a:off x="0" y="0"/>
          <a:ext cx="0" cy="0"/>
          <a:chOff x="0" y="0"/>
          <a:chExt cx="0" cy="0"/>
        </a:xfrm>
      </p:grpSpPr>
      <p:grpSp>
        <p:nvGrpSpPr>
          <p:cNvPr id="459" name="Google Shape;459;p29"/>
          <p:cNvGrpSpPr/>
          <p:nvPr/>
        </p:nvGrpSpPr>
        <p:grpSpPr>
          <a:xfrm>
            <a:off x="1619250" y="238125"/>
            <a:ext cx="7077375" cy="695250"/>
            <a:chOff x="1619250" y="238125"/>
            <a:chExt cx="7077375" cy="695250"/>
          </a:xfrm>
        </p:grpSpPr>
        <p:sp>
          <p:nvSpPr>
            <p:cNvPr id="460" name="Google Shape;460;p29"/>
            <p:cNvSpPr txBox="1"/>
            <p:nvPr/>
          </p:nvSpPr>
          <p:spPr>
            <a:xfrm>
              <a:off x="4505625"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השוואת ביצועי מודלי הסיווג</a:t>
              </a:r>
              <a:endParaRPr b="0" sz="2400">
                <a:solidFill>
                  <a:srgbClr val="FFFFFF"/>
                </a:solidFill>
                <a:latin typeface="Assistant ExtraBold"/>
                <a:ea typeface="Assistant ExtraBold"/>
                <a:cs typeface="Assistant ExtraBold"/>
                <a:sym typeface="Assistant ExtraBold"/>
              </a:endParaRPr>
            </a:p>
          </p:txBody>
        </p:sp>
        <p:sp>
          <p:nvSpPr>
            <p:cNvPr id="461" name="Google Shape;461;p29"/>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השוואה והערכת ביצועי המודלים השונים באמצעות מדדי דיוק, מטריצת בלבול ועקומת ROC.</a:t>
              </a:r>
              <a:endParaRPr b="0" sz="1000">
                <a:solidFill>
                  <a:srgbClr val="7A8D9E"/>
                </a:solidFill>
                <a:latin typeface="Assistant"/>
                <a:ea typeface="Assistant"/>
                <a:cs typeface="Assistant"/>
                <a:sym typeface="Assistant"/>
              </a:endParaRPr>
            </a:p>
          </p:txBody>
        </p:sp>
      </p:grpSp>
      <p:grpSp>
        <p:nvGrpSpPr>
          <p:cNvPr id="462" name="Google Shape;462;p29"/>
          <p:cNvGrpSpPr/>
          <p:nvPr/>
        </p:nvGrpSpPr>
        <p:grpSpPr>
          <a:xfrm>
            <a:off x="571500" y="904907"/>
            <a:ext cx="3762300" cy="4086339"/>
            <a:chOff x="571500" y="904875"/>
            <a:chExt cx="3762300" cy="3238500"/>
          </a:xfrm>
        </p:grpSpPr>
        <p:sp>
          <p:nvSpPr>
            <p:cNvPr id="463" name="Google Shape;463;p29"/>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9"/>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9"/>
            <p:cNvSpPr txBox="1"/>
            <p:nvPr/>
          </p:nvSpPr>
          <p:spPr>
            <a:xfrm>
              <a:off x="762000" y="1095375"/>
              <a:ext cx="3381300" cy="28575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EVALUATION_METRICS // 03</a:t>
              </a:r>
              <a:endParaRPr b="1" sz="850">
                <a:solidFill>
                  <a:srgbClr val="00E5FF"/>
                </a:solidFill>
                <a:latin typeface="Courier New"/>
                <a:ea typeface="Courier New"/>
                <a:cs typeface="Courier New"/>
                <a:sym typeface="Courier New"/>
              </a:endParaRPr>
            </a:p>
            <a:p>
              <a:pPr indent="0" lvl="0" marL="0" rtl="1" algn="r">
                <a:spcBef>
                  <a:spcPts val="675"/>
                </a:spcBef>
                <a:spcAft>
                  <a:spcPts val="0"/>
                </a:spcAft>
                <a:buNone/>
              </a:pPr>
              <a:r>
                <a:rPr b="1" lang="iw" sz="1400">
                  <a:solidFill>
                    <a:srgbClr val="FFFFFF"/>
                  </a:solidFill>
                  <a:latin typeface="Assistant"/>
                  <a:ea typeface="Assistant"/>
                  <a:cs typeface="Assistant"/>
                  <a:sym typeface="Assistant"/>
                </a:rPr>
                <a:t>רכיבי ההערכה</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1100">
                  <a:solidFill>
                    <a:srgbClr val="A0B2C6"/>
                  </a:solidFill>
                  <a:latin typeface="Assistant"/>
                  <a:ea typeface="Assistant"/>
                  <a:cs typeface="Assistant"/>
                  <a:sym typeface="Assistant"/>
                </a:rPr>
                <a:t>בוצעה השוואה בין ארבעה מודלי סיווג עיקריים:</a:t>
              </a:r>
              <a:endParaRPr b="0" sz="1100">
                <a:solidFill>
                  <a:srgbClr val="A0B2C6"/>
                </a:solidFill>
                <a:latin typeface="Assistant"/>
                <a:ea typeface="Assistant"/>
                <a:cs typeface="Assistant"/>
                <a:sym typeface="Assistant"/>
              </a:endParaRPr>
            </a:p>
            <a:p>
              <a:pPr indent="-298450" lvl="0" marL="457200" rtl="1" algn="r">
                <a:spcBef>
                  <a:spcPts val="90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Logistic Regression</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K-Nearest Neighbors (KNN)</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Support Vector Machine (SVM)</a:t>
              </a:r>
              <a:endParaRPr b="0" sz="1100">
                <a:solidFill>
                  <a:srgbClr val="A0B2C6"/>
                </a:solidFill>
                <a:latin typeface="Assistant"/>
                <a:ea typeface="Assistant"/>
                <a:cs typeface="Assistant"/>
                <a:sym typeface="Assistant"/>
              </a:endParaRPr>
            </a:p>
            <a:p>
              <a:pPr indent="-298450" lvl="0" marL="457200" rtl="1" algn="r">
                <a:spcBef>
                  <a:spcPts val="450"/>
                </a:spcBef>
                <a:spcAft>
                  <a:spcPts val="0"/>
                </a:spcAft>
                <a:buClr>
                  <a:srgbClr val="A0B2C6"/>
                </a:buClr>
                <a:buSzPts val="1100"/>
                <a:buFont typeface="Assistant"/>
                <a:buChar char="●"/>
              </a:pPr>
              <a:r>
                <a:rPr b="1" lang="iw" sz="1100">
                  <a:solidFill>
                    <a:srgbClr val="FFFFFF"/>
                  </a:solidFill>
                  <a:latin typeface="Assistant"/>
                  <a:ea typeface="Assistant"/>
                  <a:cs typeface="Assistant"/>
                  <a:sym typeface="Assistant"/>
                </a:rPr>
                <a:t>Random Forest</a:t>
              </a:r>
              <a:br>
                <a:rPr lang="iw" sz="1100">
                  <a:solidFill>
                    <a:srgbClr val="A0B2C6"/>
                  </a:solidFill>
                  <a:latin typeface="Assistant"/>
                  <a:ea typeface="Assistant"/>
                  <a:cs typeface="Assistant"/>
                  <a:sym typeface="Assistant"/>
                </a:rPr>
              </a:br>
              <a:br>
                <a:rPr lang="iw" sz="1100">
                  <a:solidFill>
                    <a:srgbClr val="A0B2C6"/>
                  </a:solidFill>
                  <a:latin typeface="Assistant"/>
                  <a:ea typeface="Assistant"/>
                  <a:cs typeface="Assistant"/>
                  <a:sym typeface="Assistant"/>
                </a:rPr>
              </a:br>
              <a:r>
                <a:rPr lang="iw" sz="1100">
                  <a:solidFill>
                    <a:srgbClr val="A0B2C6"/>
                  </a:solidFill>
                  <a:latin typeface="Assistant"/>
                  <a:ea typeface="Assistant"/>
                  <a:cs typeface="Assistant"/>
                  <a:sym typeface="Assistant"/>
                </a:rPr>
                <a:t>בוצעה השוואה בין ארבעת מודלי הסיווג באמצעות Accuracy, Precision, Recall, F1-Score ו־ROC-AUC.</a:t>
              </a:r>
              <a:endParaRPr sz="1100">
                <a:solidFill>
                  <a:srgbClr val="A0B2C6"/>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1100">
                  <a:solidFill>
                    <a:srgbClr val="A0B2C6"/>
                  </a:solidFill>
                  <a:latin typeface="Assistant"/>
                  <a:ea typeface="Assistant"/>
                  <a:cs typeface="Assistant"/>
                  <a:sym typeface="Assistant"/>
                </a:rPr>
                <a:t>Random Forest השיג את הביצועים הגבוהים ביותר, ואחריו SVM, KNN ו־Logistic Regression. סדר התוצאות תואם את מסקנות המאמר.</a:t>
              </a:r>
              <a:r>
                <a:rPr lang="iw" sz="1100">
                  <a:solidFill>
                    <a:srgbClr val="A0B2C6"/>
                  </a:solidFill>
                  <a:latin typeface="Assistant"/>
                  <a:ea typeface="Assistant"/>
                  <a:cs typeface="Assistant"/>
                  <a:sym typeface="Assistant"/>
                </a:rPr>
                <a:t>מודל Random Forest השיג את רמת הדיוק הגבוהה ביותר (100%) על הדאטהסט שנבדק, ובכך חיזק את מסקנת המאמר שלפיה Random Forest הוא המודל בעל הביצועים הטובים ביותר. </a:t>
              </a:r>
              <a:endParaRPr sz="1100"/>
            </a:p>
            <a:p>
              <a:pPr indent="0" lvl="0" marL="0" rtl="1" algn="r">
                <a:spcBef>
                  <a:spcPts val="1200"/>
                </a:spcBef>
                <a:spcAft>
                  <a:spcPts val="0"/>
                </a:spcAft>
                <a:buNone/>
              </a:pPr>
              <a:r>
                <a:t/>
              </a:r>
              <a:endParaRPr sz="1100">
                <a:solidFill>
                  <a:srgbClr val="A0B2C6"/>
                </a:solidFill>
                <a:latin typeface="Assistant"/>
                <a:ea typeface="Assistant"/>
                <a:cs typeface="Assistant"/>
                <a:sym typeface="Assistant"/>
              </a:endParaRPr>
            </a:p>
          </p:txBody>
        </p:sp>
      </p:grpSp>
      <p:pic>
        <p:nvPicPr>
          <p:cNvPr id="466" name="Google Shape;466;p29"/>
          <p:cNvPicPr preferRelativeResize="0"/>
          <p:nvPr/>
        </p:nvPicPr>
        <p:blipFill>
          <a:blip r:embed="rId3">
            <a:alphaModFix/>
          </a:blip>
          <a:stretch>
            <a:fillRect/>
          </a:stretch>
        </p:blipFill>
        <p:spPr>
          <a:xfrm>
            <a:off x="4486200" y="1085775"/>
            <a:ext cx="4505399" cy="2536653"/>
          </a:xfrm>
          <a:prstGeom prst="rect">
            <a:avLst/>
          </a:prstGeom>
          <a:noFill/>
          <a:ln>
            <a:noFill/>
          </a:ln>
        </p:spPr>
      </p:pic>
      <p:pic>
        <p:nvPicPr>
          <p:cNvPr id="467" name="Google Shape;467;p29"/>
          <p:cNvPicPr preferRelativeResize="0"/>
          <p:nvPr/>
        </p:nvPicPr>
        <p:blipFill>
          <a:blip r:embed="rId4">
            <a:alphaModFix/>
          </a:blip>
          <a:stretch>
            <a:fillRect/>
          </a:stretch>
        </p:blipFill>
        <p:spPr>
          <a:xfrm>
            <a:off x="4674525" y="3774828"/>
            <a:ext cx="3776844" cy="12162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grpSp>
        <p:nvGrpSpPr>
          <p:cNvPr id="472" name="Google Shape;472;p30"/>
          <p:cNvGrpSpPr/>
          <p:nvPr/>
        </p:nvGrpSpPr>
        <p:grpSpPr>
          <a:xfrm>
            <a:off x="1619250" y="238125"/>
            <a:ext cx="6953400" cy="666900"/>
            <a:chOff x="1619250" y="238125"/>
            <a:chExt cx="6953400" cy="666900"/>
          </a:xfrm>
        </p:grpSpPr>
        <p:sp>
          <p:nvSpPr>
            <p:cNvPr id="473" name="Google Shape;473;p30"/>
            <p:cNvSpPr txBox="1"/>
            <p:nvPr/>
          </p:nvSpPr>
          <p:spPr>
            <a:xfrm>
              <a:off x="3810000" y="23812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תוצאות המודלים (Model Evaluation)</a:t>
              </a:r>
              <a:endParaRPr b="0" sz="2400">
                <a:solidFill>
                  <a:srgbClr val="FFFFFF"/>
                </a:solidFill>
                <a:latin typeface="Assistant ExtraBold"/>
                <a:ea typeface="Assistant ExtraBold"/>
                <a:cs typeface="Assistant ExtraBold"/>
                <a:sym typeface="Assistant ExtraBold"/>
              </a:endParaRPr>
            </a:p>
          </p:txBody>
        </p:sp>
        <p:sp>
          <p:nvSpPr>
            <p:cNvPr id="474" name="Google Shape;474;p30"/>
            <p:cNvSpPr txBox="1"/>
            <p:nvPr/>
          </p:nvSpPr>
          <p:spPr>
            <a:xfrm>
              <a:off x="1619250" y="619125"/>
              <a:ext cx="695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הערכת ביצועי מודלי הסיווג והשוואת הטעויות באמצעות מטריצות בלבול מפורטות.</a:t>
              </a:r>
              <a:endParaRPr b="0" sz="1000">
                <a:solidFill>
                  <a:srgbClr val="7A8D9E"/>
                </a:solidFill>
                <a:latin typeface="Assistant"/>
                <a:ea typeface="Assistant"/>
                <a:cs typeface="Assistant"/>
                <a:sym typeface="Assistant"/>
              </a:endParaRPr>
            </a:p>
          </p:txBody>
        </p:sp>
      </p:grpSp>
      <p:pic>
        <p:nvPicPr>
          <p:cNvPr id="475" name="Google Shape;475;p30"/>
          <p:cNvPicPr preferRelativeResize="0"/>
          <p:nvPr/>
        </p:nvPicPr>
        <p:blipFill rotWithShape="1">
          <a:blip r:embed="rId3">
            <a:alphaModFix/>
          </a:blip>
          <a:srcRect b="70" l="0" r="0" t="80"/>
          <a:stretch/>
        </p:blipFill>
        <p:spPr>
          <a:xfrm>
            <a:off x="571500" y="990175"/>
            <a:ext cx="4286400" cy="3914700"/>
          </a:xfrm>
          <a:prstGeom prst="rect">
            <a:avLst/>
          </a:prstGeom>
          <a:noFill/>
          <a:ln>
            <a:noFill/>
          </a:ln>
        </p:spPr>
      </p:pic>
      <p:grpSp>
        <p:nvGrpSpPr>
          <p:cNvPr id="476" name="Google Shape;476;p30"/>
          <p:cNvGrpSpPr/>
          <p:nvPr/>
        </p:nvGrpSpPr>
        <p:grpSpPr>
          <a:xfrm>
            <a:off x="5143500" y="952500"/>
            <a:ext cx="3429000" cy="3914700"/>
            <a:chOff x="5143500" y="952500"/>
            <a:chExt cx="3429000" cy="3914700"/>
          </a:xfrm>
        </p:grpSpPr>
        <p:sp>
          <p:nvSpPr>
            <p:cNvPr id="477" name="Google Shape;477;p30"/>
            <p:cNvSpPr/>
            <p:nvPr/>
          </p:nvSpPr>
          <p:spPr>
            <a:xfrm>
              <a:off x="5143500" y="952500"/>
              <a:ext cx="3429000" cy="3914700"/>
            </a:xfrm>
            <a:prstGeom prst="roundRect">
              <a:avLst>
                <a:gd fmla="val 1666"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30"/>
            <p:cNvSpPr/>
            <p:nvPr/>
          </p:nvSpPr>
          <p:spPr>
            <a:xfrm>
              <a:off x="5143500" y="952500"/>
              <a:ext cx="34290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30"/>
            <p:cNvSpPr txBox="1"/>
            <p:nvPr/>
          </p:nvSpPr>
          <p:spPr>
            <a:xfrm>
              <a:off x="5334000" y="1143000"/>
              <a:ext cx="3048000" cy="35244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CONFUSION_MATRIX // EVAL</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מטריצת בלבול (Confusion Matrix)</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1050">
                  <a:solidFill>
                    <a:srgbClr val="A0B2C6"/>
                  </a:solidFill>
                  <a:latin typeface="Assistant"/>
                  <a:ea typeface="Assistant"/>
                  <a:cs typeface="Assistant"/>
                  <a:sym typeface="Assistant"/>
                </a:rPr>
                <a:t>בוצעה הערכה של כל אחד ממודלי הסיווג המציגה את מספר הדוגמאות שסווגו נכון ושגוי. מודל </a:t>
              </a:r>
              <a:r>
                <a:rPr b="1" lang="iw" sz="1050">
                  <a:solidFill>
                    <a:srgbClr val="FFFFFF"/>
                  </a:solidFill>
                  <a:latin typeface="Assistant"/>
                  <a:ea typeface="Assistant"/>
                  <a:cs typeface="Assistant"/>
                  <a:sym typeface="Assistant"/>
                </a:rPr>
                <a:t>Random Forest</a:t>
              </a:r>
              <a:r>
                <a:rPr b="0" lang="iw" sz="1050">
                  <a:solidFill>
                    <a:srgbClr val="A0B2C6"/>
                  </a:solidFill>
                  <a:latin typeface="Assistant"/>
                  <a:ea typeface="Assistant"/>
                  <a:cs typeface="Assistant"/>
                  <a:sym typeface="Assistant"/>
                </a:rPr>
                <a:t> הציג את מספר הטעויות הנמוך ביותר ואת יכולת הסיווג הטובה ביותר.</a:t>
              </a:r>
              <a:endParaRPr b="0" sz="10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Matrix Metrics Summary:</a:t>
              </a:r>
              <a:endParaRPr b="1" sz="1100">
                <a:solidFill>
                  <a:srgbClr val="FFFFFF"/>
                </a:solidFill>
                <a:latin typeface="Assistant"/>
                <a:ea typeface="Assistant"/>
                <a:cs typeface="Assistant"/>
                <a:sym typeface="Assistant"/>
              </a:endParaRPr>
            </a:p>
            <a:p>
              <a:pPr indent="0" lvl="0" marL="0" rtl="1" algn="r">
                <a:spcBef>
                  <a:spcPts val="600"/>
                </a:spcBef>
                <a:spcAft>
                  <a:spcPts val="0"/>
                </a:spcAft>
                <a:buNone/>
              </a:pPr>
              <a:r>
                <a:rPr b="1" lang="iw" sz="1000">
                  <a:solidFill>
                    <a:srgbClr val="00E5FF"/>
                  </a:solidFill>
                  <a:latin typeface="Assistant"/>
                  <a:ea typeface="Assistant"/>
                  <a:cs typeface="Assistant"/>
                  <a:sym typeface="Assistant"/>
                </a:rPr>
                <a:t>• True Positives (TP)</a:t>
              </a:r>
              <a:r>
                <a:rPr lang="iw" sz="1000">
                  <a:solidFill>
                    <a:srgbClr val="A0B2C6"/>
                  </a:solidFill>
                  <a:latin typeface="Assistant"/>
                  <a:ea typeface="Assistant"/>
                  <a:cs typeface="Assistant"/>
                  <a:sym typeface="Assistant"/>
                </a:rPr>
                <a:t> / </a:t>
              </a:r>
              <a:r>
                <a:rPr b="1" lang="iw" sz="1000">
                  <a:solidFill>
                    <a:srgbClr val="10B981"/>
                  </a:solidFill>
                  <a:latin typeface="Assistant"/>
                  <a:ea typeface="Assistant"/>
                  <a:cs typeface="Assistant"/>
                  <a:sym typeface="Assistant"/>
                </a:rPr>
                <a:t>True Negatives (TN)</a:t>
              </a:r>
              <a:endParaRPr sz="1000">
                <a:solidFill>
                  <a:srgbClr val="A0B2C6"/>
                </a:solidFill>
                <a:latin typeface="Assistant"/>
                <a:ea typeface="Assistant"/>
                <a:cs typeface="Assistant"/>
                <a:sym typeface="Assistant"/>
              </a:endParaRPr>
            </a:p>
            <a:p>
              <a:pPr indent="0" lvl="0" marL="0" rtl="1" algn="r">
                <a:spcBef>
                  <a:spcPts val="300"/>
                </a:spcBef>
                <a:spcAft>
                  <a:spcPts val="0"/>
                </a:spcAft>
                <a:buNone/>
              </a:pPr>
              <a:r>
                <a:rPr b="1" lang="iw" sz="1000">
                  <a:solidFill>
                    <a:srgbClr val="FF5F56"/>
                  </a:solidFill>
                  <a:latin typeface="Assistant"/>
                  <a:ea typeface="Assistant"/>
                  <a:cs typeface="Assistant"/>
                  <a:sym typeface="Assistant"/>
                </a:rPr>
                <a:t>• False Positives (FP)</a:t>
              </a:r>
              <a:r>
                <a:rPr lang="iw" sz="1000">
                  <a:solidFill>
                    <a:srgbClr val="A0B2C6"/>
                  </a:solidFill>
                  <a:latin typeface="Assistant"/>
                  <a:ea typeface="Assistant"/>
                  <a:cs typeface="Assistant"/>
                  <a:sym typeface="Assistant"/>
                </a:rPr>
                <a:t> / </a:t>
              </a:r>
              <a:r>
                <a:rPr b="1" lang="iw" sz="1000">
                  <a:solidFill>
                    <a:srgbClr val="FFBD2E"/>
                  </a:solidFill>
                  <a:latin typeface="Assistant"/>
                  <a:ea typeface="Assistant"/>
                  <a:cs typeface="Assistant"/>
                  <a:sym typeface="Assistant"/>
                </a:rPr>
                <a:t>False Negatives (FN)</a:t>
              </a:r>
              <a:endParaRPr sz="1000">
                <a:solidFill>
                  <a:srgbClr val="A0B2C6"/>
                </a:solidFill>
                <a:latin typeface="Assistant"/>
                <a:ea typeface="Assistant"/>
                <a:cs typeface="Assistant"/>
                <a:sym typeface="Assistant"/>
              </a:endParaRPr>
            </a:p>
            <a:p>
              <a:pPr indent="0" lvl="0" marL="0" rtl="1" algn="r">
                <a:spcBef>
                  <a:spcPts val="900"/>
                </a:spcBef>
                <a:spcAft>
                  <a:spcPts val="0"/>
                </a:spcAft>
                <a:buNone/>
              </a:pPr>
              <a:r>
                <a:rPr i="1" lang="iw" sz="950">
                  <a:solidFill>
                    <a:srgbClr val="7A8D9E"/>
                  </a:solidFill>
                  <a:latin typeface="Assistant"/>
                  <a:ea typeface="Assistant"/>
                  <a:cs typeface="Assistant"/>
                  <a:sym typeface="Assistant"/>
                </a:rPr>
                <a:t>This visualization helps identify the specific types of classification errors made by each model.</a:t>
              </a:r>
              <a:endParaRPr i="1" sz="950">
                <a:solidFill>
                  <a:srgbClr val="7A8D9E"/>
                </a:solidFill>
                <a:latin typeface="Assistant"/>
                <a:ea typeface="Assistant"/>
                <a:cs typeface="Assistant"/>
                <a:sym typeface="Assistant"/>
              </a:endParaRPr>
            </a:p>
          </p:txBody>
        </p:sp>
      </p:grpSp>
      <p:sp>
        <p:nvSpPr>
          <p:cNvPr id="480" name="Google Shape;480;p30"/>
          <p:cNvSpPr txBox="1"/>
          <p:nvPr/>
        </p:nvSpPr>
        <p:spPr>
          <a:xfrm>
            <a:off x="775825" y="162525"/>
            <a:ext cx="1687200" cy="818100"/>
          </a:xfrm>
          <a:prstGeom prst="rect">
            <a:avLst/>
          </a:prstGeom>
          <a:noFill/>
          <a:ln>
            <a:noFill/>
          </a:ln>
        </p:spPr>
        <p:txBody>
          <a:bodyPr anchorCtr="0" anchor="t" bIns="91425" lIns="91425" spcFirstLastPara="1" rIns="91425" wrap="square" tIns="91425">
            <a:spAutoFit/>
          </a:bodyPr>
          <a:lstStyle/>
          <a:p>
            <a:pPr indent="-254000" lvl="0" marL="457200" rtl="1" algn="r">
              <a:lnSpc>
                <a:spcPct val="115000"/>
              </a:lnSpc>
              <a:spcBef>
                <a:spcPts val="1200"/>
              </a:spcBef>
              <a:spcAft>
                <a:spcPts val="0"/>
              </a:spcAft>
              <a:buClr>
                <a:schemeClr val="lt1"/>
              </a:buClr>
              <a:buSzPts val="400"/>
              <a:buChar char="●"/>
            </a:pPr>
            <a:r>
              <a:rPr lang="iw" sz="700">
                <a:solidFill>
                  <a:schemeClr val="lt1"/>
                </a:solidFill>
              </a:rPr>
              <a:t>זיהה 96 חולים נכון ✅</a:t>
            </a:r>
            <a:endParaRPr sz="700">
              <a:solidFill>
                <a:schemeClr val="lt1"/>
              </a:solidFill>
            </a:endParaRPr>
          </a:p>
          <a:p>
            <a:pPr indent="-254000" lvl="0" marL="457200" rtl="1" algn="r">
              <a:lnSpc>
                <a:spcPct val="115000"/>
              </a:lnSpc>
              <a:spcBef>
                <a:spcPts val="0"/>
              </a:spcBef>
              <a:spcAft>
                <a:spcPts val="0"/>
              </a:spcAft>
              <a:buClr>
                <a:schemeClr val="lt1"/>
              </a:buClr>
              <a:buSzPts val="400"/>
              <a:buChar char="●"/>
            </a:pPr>
            <a:r>
              <a:rPr lang="iw" sz="700">
                <a:solidFill>
                  <a:schemeClr val="lt1"/>
                </a:solidFill>
              </a:rPr>
              <a:t>פספס 9 חולים ❌</a:t>
            </a:r>
            <a:endParaRPr sz="700">
              <a:solidFill>
                <a:schemeClr val="lt1"/>
              </a:solidFill>
            </a:endParaRPr>
          </a:p>
          <a:p>
            <a:pPr indent="-254000" lvl="0" marL="457200" rtl="1" algn="r">
              <a:lnSpc>
                <a:spcPct val="115000"/>
              </a:lnSpc>
              <a:spcBef>
                <a:spcPts val="0"/>
              </a:spcBef>
              <a:spcAft>
                <a:spcPts val="0"/>
              </a:spcAft>
              <a:buClr>
                <a:schemeClr val="lt1"/>
              </a:buClr>
              <a:buSzPts val="400"/>
              <a:buChar char="●"/>
            </a:pPr>
            <a:r>
              <a:rPr lang="iw" sz="700">
                <a:solidFill>
                  <a:schemeClr val="lt1"/>
                </a:solidFill>
              </a:rPr>
              <a:t>טעה לגבי 30 בריאים</a:t>
            </a:r>
            <a:endParaRPr sz="700">
              <a:solidFill>
                <a:schemeClr val="lt1"/>
              </a:solidFill>
            </a:endParaRPr>
          </a:p>
          <a:p>
            <a:pPr indent="0" lvl="0" marL="0" rtl="1" algn="r">
              <a:lnSpc>
                <a:spcPct val="115000"/>
              </a:lnSpc>
              <a:spcBef>
                <a:spcPts val="1200"/>
              </a:spcBef>
              <a:spcAft>
                <a:spcPts val="1200"/>
              </a:spcAft>
              <a:buNone/>
            </a:pPr>
            <a:r>
              <a:rPr lang="iw" sz="700">
                <a:solidFill>
                  <a:schemeClr val="lt1"/>
                </a:solidFill>
              </a:rPr>
              <a:t>זה מתאים ל־Accuracy של בערך 81%.</a:t>
            </a:r>
            <a:endParaRPr sz="7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31"/>
          <p:cNvPicPr preferRelativeResize="0"/>
          <p:nvPr/>
        </p:nvPicPr>
        <p:blipFill rotWithShape="1">
          <a:blip r:embed="rId3">
            <a:alphaModFix/>
          </a:blip>
          <a:srcRect b="0" l="407" r="417" t="0"/>
          <a:stretch/>
        </p:blipFill>
        <p:spPr>
          <a:xfrm>
            <a:off x="381000" y="1047750"/>
            <a:ext cx="4953000" cy="3619500"/>
          </a:xfrm>
          <a:prstGeom prst="rect">
            <a:avLst/>
          </a:prstGeom>
          <a:noFill/>
          <a:ln>
            <a:noFill/>
          </a:ln>
        </p:spPr>
      </p:pic>
      <p:grpSp>
        <p:nvGrpSpPr>
          <p:cNvPr id="486" name="Google Shape;486;p31"/>
          <p:cNvGrpSpPr/>
          <p:nvPr/>
        </p:nvGrpSpPr>
        <p:grpSpPr>
          <a:xfrm>
            <a:off x="1809750" y="238125"/>
            <a:ext cx="6953400" cy="666900"/>
            <a:chOff x="1809750" y="238125"/>
            <a:chExt cx="6953400" cy="666900"/>
          </a:xfrm>
        </p:grpSpPr>
        <p:sp>
          <p:nvSpPr>
            <p:cNvPr id="487" name="Google Shape;487;p31"/>
            <p:cNvSpPr txBox="1"/>
            <p:nvPr/>
          </p:nvSpPr>
          <p:spPr>
            <a:xfrm>
              <a:off x="4000500" y="23812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עקומת (ROC Curve)</a:t>
              </a:r>
              <a:endParaRPr b="0" sz="2400">
                <a:solidFill>
                  <a:srgbClr val="FFFFFF"/>
                </a:solidFill>
                <a:latin typeface="Assistant ExtraBold"/>
                <a:ea typeface="Assistant ExtraBold"/>
                <a:cs typeface="Assistant ExtraBold"/>
                <a:sym typeface="Assistant ExtraBold"/>
              </a:endParaRPr>
            </a:p>
          </p:txBody>
        </p:sp>
        <p:sp>
          <p:nvSpPr>
            <p:cNvPr id="488" name="Google Shape;488;p31"/>
            <p:cNvSpPr txBox="1"/>
            <p:nvPr/>
          </p:nvSpPr>
          <p:spPr>
            <a:xfrm>
              <a:off x="1809750" y="619125"/>
              <a:ext cx="695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השוואה והערכת יכולת ההבחנה וההפרדה של מודלי הסיווג השונים.</a:t>
              </a:r>
              <a:endParaRPr b="0" sz="1000">
                <a:solidFill>
                  <a:srgbClr val="7A8D9E"/>
                </a:solidFill>
                <a:latin typeface="Assistant"/>
                <a:ea typeface="Assistant"/>
                <a:cs typeface="Assistant"/>
                <a:sym typeface="Assistant"/>
              </a:endParaRPr>
            </a:p>
          </p:txBody>
        </p:sp>
      </p:grpSp>
      <p:grpSp>
        <p:nvGrpSpPr>
          <p:cNvPr id="489" name="Google Shape;489;p31"/>
          <p:cNvGrpSpPr/>
          <p:nvPr/>
        </p:nvGrpSpPr>
        <p:grpSpPr>
          <a:xfrm>
            <a:off x="5524500" y="1047750"/>
            <a:ext cx="3238500" cy="3619500"/>
            <a:chOff x="5524500" y="1047750"/>
            <a:chExt cx="3238500" cy="3619500"/>
          </a:xfrm>
        </p:grpSpPr>
        <p:sp>
          <p:nvSpPr>
            <p:cNvPr id="490" name="Google Shape;490;p31"/>
            <p:cNvSpPr/>
            <p:nvPr/>
          </p:nvSpPr>
          <p:spPr>
            <a:xfrm>
              <a:off x="5524500" y="1047750"/>
              <a:ext cx="3238500" cy="3619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31"/>
            <p:cNvSpPr/>
            <p:nvPr/>
          </p:nvSpPr>
          <p:spPr>
            <a:xfrm>
              <a:off x="5524500" y="1047750"/>
              <a:ext cx="32385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31"/>
            <p:cNvSpPr txBox="1"/>
            <p:nvPr/>
          </p:nvSpPr>
          <p:spPr>
            <a:xfrm>
              <a:off x="5715000" y="1285875"/>
              <a:ext cx="2857500" cy="3143400"/>
            </a:xfrm>
            <a:prstGeom prst="rect">
              <a:avLst/>
            </a:prstGeom>
            <a:solidFill>
              <a:srgbClr val="000000">
                <a:alpha val="0"/>
              </a:srgbClr>
            </a:solid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ROC_CURVE // EVALUATION</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מדד יכולת ההבחנה</a:t>
              </a:r>
              <a:endParaRPr b="1" sz="900">
                <a:solidFill>
                  <a:srgbClr val="00E5FF"/>
                </a:solidFill>
                <a:latin typeface="Courier New"/>
                <a:ea typeface="Courier New"/>
                <a:cs typeface="Courier New"/>
                <a:sym typeface="Courier New"/>
              </a:endParaRPr>
            </a:p>
            <a:p>
              <a:pPr indent="0" lvl="0" marL="0" rtl="1" algn="r">
                <a:spcBef>
                  <a:spcPts val="1200"/>
                </a:spcBef>
                <a:spcAft>
                  <a:spcPts val="0"/>
                </a:spcAft>
                <a:buNone/>
              </a:pPr>
              <a:r>
                <a:rPr b="1" lang="iw" sz="1100">
                  <a:solidFill>
                    <a:srgbClr val="FFFFFF"/>
                  </a:solidFill>
                  <a:latin typeface="Assistant"/>
                  <a:ea typeface="Assistant"/>
                  <a:cs typeface="Assistant"/>
                  <a:sym typeface="Assistant"/>
                </a:rPr>
                <a:t>עקומת ROC</a:t>
              </a:r>
              <a:r>
                <a:rPr b="0" lang="iw" sz="1100">
                  <a:solidFill>
                    <a:srgbClr val="A0B2C6"/>
                  </a:solidFill>
                  <a:latin typeface="Assistant"/>
                  <a:ea typeface="Assistant"/>
                  <a:cs typeface="Assistant"/>
                  <a:sym typeface="Assistant"/>
                </a:rPr>
                <a:t> משמשת להשוואת יכולת ההבחנה של המודל בין מחלקות (חולים לעומת בריאים) עבור כל אחד מהמודלים שנבחנו.</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מודל בעל ערך </a:t>
              </a:r>
              <a:r>
                <a:rPr b="1" lang="iw" sz="1100">
                  <a:solidFill>
                    <a:srgbClr val="00E5FF"/>
                  </a:solidFill>
                  <a:latin typeface="Assistant"/>
                  <a:ea typeface="Assistant"/>
                  <a:cs typeface="Assistant"/>
                  <a:sym typeface="Assistant"/>
                </a:rPr>
                <a:t>ROC-AUC</a:t>
              </a:r>
              <a:r>
                <a:rPr b="0" lang="iw" sz="1100">
                  <a:solidFill>
                    <a:srgbClr val="A0B2C6"/>
                  </a:solidFill>
                  <a:latin typeface="Assistant"/>
                  <a:ea typeface="Assistant"/>
                  <a:cs typeface="Assistant"/>
                  <a:sym typeface="Assistant"/>
                </a:rPr>
                <a:t> גבוה יותר מסוגל להבחין בצורה מדויקת וטובה יותר בין מטופלים בריאים לבין מטופלים הסובלים ממחלת לב.</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i="1" lang="iw" sz="1000">
                  <a:solidFill>
                    <a:srgbClr val="7A8D9E"/>
                  </a:solidFill>
                  <a:latin typeface="Assistant"/>
                  <a:ea typeface="Assistant"/>
                  <a:cs typeface="Assistant"/>
                  <a:sym typeface="Assistant"/>
                </a:rPr>
                <a:t>רמת AUC הקרובה ל-1.0 מייצגת מודל סיווג מושלם וכמעט ללא שגיאות.</a:t>
              </a:r>
              <a:endParaRPr b="0" i="1" sz="1000">
                <a:solidFill>
                  <a:srgbClr val="7A8D9E"/>
                </a:solidFill>
                <a:latin typeface="Assistant"/>
                <a:ea typeface="Assistant"/>
                <a:cs typeface="Assistant"/>
                <a:sym typeface="Assistant"/>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32"/>
          <p:cNvPicPr preferRelativeResize="0"/>
          <p:nvPr/>
        </p:nvPicPr>
        <p:blipFill>
          <a:blip r:embed="rId3">
            <a:alphaModFix/>
          </a:blip>
          <a:stretch>
            <a:fillRect/>
          </a:stretch>
        </p:blipFill>
        <p:spPr>
          <a:xfrm>
            <a:off x="122275" y="913150"/>
            <a:ext cx="5171051" cy="2970040"/>
          </a:xfrm>
          <a:prstGeom prst="rect">
            <a:avLst/>
          </a:prstGeom>
          <a:noFill/>
          <a:ln>
            <a:noFill/>
          </a:ln>
        </p:spPr>
      </p:pic>
      <p:grpSp>
        <p:nvGrpSpPr>
          <p:cNvPr id="498" name="Google Shape;498;p32"/>
          <p:cNvGrpSpPr/>
          <p:nvPr/>
        </p:nvGrpSpPr>
        <p:grpSpPr>
          <a:xfrm>
            <a:off x="1809750" y="238125"/>
            <a:ext cx="6953400" cy="714300"/>
            <a:chOff x="1809750" y="238125"/>
            <a:chExt cx="6953400" cy="714300"/>
          </a:xfrm>
        </p:grpSpPr>
        <p:sp>
          <p:nvSpPr>
            <p:cNvPr id="499" name="Google Shape;499;p32"/>
            <p:cNvSpPr txBox="1"/>
            <p:nvPr/>
          </p:nvSpPr>
          <p:spPr>
            <a:xfrm>
              <a:off x="4000500" y="238125"/>
              <a:ext cx="47625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220">
                  <a:solidFill>
                    <a:srgbClr val="FFFFFF"/>
                  </a:solidFill>
                  <a:latin typeface="Assistant ExtraBold"/>
                  <a:ea typeface="Assistant ExtraBold"/>
                  <a:cs typeface="Assistant ExtraBold"/>
                  <a:sym typeface="Assistant ExtraBold"/>
                </a:rPr>
                <a:t>חשיבות מאפיינים (Feature Importance)</a:t>
              </a:r>
              <a:endParaRPr b="0" sz="2220">
                <a:solidFill>
                  <a:srgbClr val="FFFFFF"/>
                </a:solidFill>
                <a:latin typeface="Assistant ExtraBold"/>
                <a:ea typeface="Assistant ExtraBold"/>
                <a:cs typeface="Assistant ExtraBold"/>
                <a:sym typeface="Assistant ExtraBold"/>
              </a:endParaRPr>
            </a:p>
          </p:txBody>
        </p:sp>
        <p:sp>
          <p:nvSpPr>
            <p:cNvPr id="500" name="Google Shape;500;p32"/>
            <p:cNvSpPr txBox="1"/>
            <p:nvPr/>
          </p:nvSpPr>
          <p:spPr>
            <a:xfrm>
              <a:off x="1809750" y="61912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ניתוח תרומת המשתנים השונים לקבלת ההחלטות במודל הלמידה הסטטיסטי.</a:t>
              </a:r>
              <a:endParaRPr b="0" sz="1000">
                <a:solidFill>
                  <a:srgbClr val="7A8D9E"/>
                </a:solidFill>
                <a:latin typeface="Assistant"/>
                <a:ea typeface="Assistant"/>
                <a:cs typeface="Assistant"/>
                <a:sym typeface="Assistant"/>
              </a:endParaRPr>
            </a:p>
          </p:txBody>
        </p:sp>
      </p:grpSp>
      <p:grpSp>
        <p:nvGrpSpPr>
          <p:cNvPr id="501" name="Google Shape;501;p32"/>
          <p:cNvGrpSpPr/>
          <p:nvPr/>
        </p:nvGrpSpPr>
        <p:grpSpPr>
          <a:xfrm>
            <a:off x="5486825" y="1025150"/>
            <a:ext cx="3238500" cy="3619500"/>
            <a:chOff x="5524500" y="1047750"/>
            <a:chExt cx="3238500" cy="3619500"/>
          </a:xfrm>
        </p:grpSpPr>
        <p:sp>
          <p:nvSpPr>
            <p:cNvPr id="502" name="Google Shape;502;p32"/>
            <p:cNvSpPr/>
            <p:nvPr/>
          </p:nvSpPr>
          <p:spPr>
            <a:xfrm>
              <a:off x="5524500" y="1047750"/>
              <a:ext cx="3238500" cy="3619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32"/>
            <p:cNvSpPr/>
            <p:nvPr/>
          </p:nvSpPr>
          <p:spPr>
            <a:xfrm>
              <a:off x="5524500" y="1047750"/>
              <a:ext cx="3238500" cy="47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32"/>
            <p:cNvSpPr txBox="1"/>
            <p:nvPr/>
          </p:nvSpPr>
          <p:spPr>
            <a:xfrm>
              <a:off x="5715000" y="1285875"/>
              <a:ext cx="2857500" cy="31434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900">
                  <a:solidFill>
                    <a:srgbClr val="00E5FF"/>
                  </a:solidFill>
                  <a:latin typeface="Courier New"/>
                  <a:ea typeface="Courier New"/>
                  <a:cs typeface="Courier New"/>
                  <a:sym typeface="Courier New"/>
                </a:rPr>
                <a:t>FEATURE_IMPORTANCE // MODEL_INSIGHTS</a:t>
              </a:r>
              <a:endParaRPr b="1" sz="900">
                <a:solidFill>
                  <a:srgbClr val="00E5FF"/>
                </a:solidFill>
                <a:latin typeface="Courier New"/>
                <a:ea typeface="Courier New"/>
                <a:cs typeface="Courier New"/>
                <a:sym typeface="Courier New"/>
              </a:endParaRPr>
            </a:p>
            <a:p>
              <a:pPr indent="0" lvl="0" marL="0" rtl="1" algn="r">
                <a:spcBef>
                  <a:spcPts val="600"/>
                </a:spcBef>
                <a:spcAft>
                  <a:spcPts val="0"/>
                </a:spcAft>
                <a:buNone/>
              </a:pPr>
              <a:r>
                <a:rPr b="1" lang="iw" sz="1400">
                  <a:solidFill>
                    <a:srgbClr val="FFFFFF"/>
                  </a:solidFill>
                  <a:latin typeface="Assistant"/>
                  <a:ea typeface="Assistant"/>
                  <a:cs typeface="Assistant"/>
                  <a:sym typeface="Assistant"/>
                </a:rPr>
                <a:t>זיהוי גורמי סיכון מרכזיים</a:t>
              </a:r>
              <a:endParaRPr b="1" sz="1400">
                <a:solidFill>
                  <a:srgbClr val="FFFFFF"/>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הגרף מציג את תרומתו היחסית של כל מאפיין רפואי לתהליך קבלת ההחלטות של מודל </a:t>
              </a:r>
              <a:r>
                <a:rPr b="1" lang="iw" sz="1100">
                  <a:solidFill>
                    <a:srgbClr val="FFFFFF"/>
                  </a:solidFill>
                  <a:latin typeface="Assistant"/>
                  <a:ea typeface="Assistant"/>
                  <a:cs typeface="Assistant"/>
                  <a:sym typeface="Assistant"/>
                </a:rPr>
                <a:t>Random Forest</a:t>
              </a:r>
              <a:r>
                <a:rPr b="0" lang="iw" sz="1100">
                  <a:solidFill>
                    <a:srgbClr val="A0B2C6"/>
                  </a:solidFill>
                  <a:latin typeface="Assistant"/>
                  <a:ea typeface="Assistant"/>
                  <a:cs typeface="Assistant"/>
                  <a:sym typeface="Assistant"/>
                </a:rPr>
                <a:t>.</a:t>
              </a:r>
              <a:endParaRPr b="0" sz="1100">
                <a:solidFill>
                  <a:srgbClr val="A0B2C6"/>
                </a:solidFill>
                <a:latin typeface="Assistant"/>
                <a:ea typeface="Assistant"/>
                <a:cs typeface="Assistant"/>
                <a:sym typeface="Assistant"/>
              </a:endParaRPr>
            </a:p>
            <a:p>
              <a:pPr indent="0" lvl="0" marL="0" rtl="1" algn="r">
                <a:spcBef>
                  <a:spcPts val="1200"/>
                </a:spcBef>
                <a:spcAft>
                  <a:spcPts val="0"/>
                </a:spcAft>
                <a:buNone/>
              </a:pPr>
              <a:r>
                <a:rPr b="0" lang="iw" sz="1100">
                  <a:solidFill>
                    <a:srgbClr val="A0B2C6"/>
                  </a:solidFill>
                  <a:latin typeface="Assistant"/>
                  <a:ea typeface="Assistant"/>
                  <a:cs typeface="Assistant"/>
                  <a:sym typeface="Assistant"/>
                </a:rPr>
                <a:t>ניתוח זה מאפשר לזהות אילו מאפיינים משפיעים ביותר על חיזוי מחלת הלב ומהווים גורמי סיכון משמעותיים בהערכה הרפואית.</a:t>
              </a:r>
              <a:br>
                <a:rPr b="0" lang="iw" sz="1100">
                  <a:solidFill>
                    <a:srgbClr val="A0B2C6"/>
                  </a:solidFill>
                  <a:latin typeface="Assistant"/>
                  <a:ea typeface="Assistant"/>
                  <a:cs typeface="Assistant"/>
                  <a:sym typeface="Assistant"/>
                </a:rPr>
              </a:br>
              <a:br>
                <a:rPr b="0" lang="iw" sz="1100">
                  <a:solidFill>
                    <a:srgbClr val="A0B2C6"/>
                  </a:solidFill>
                  <a:latin typeface="Assistant"/>
                  <a:ea typeface="Assistant"/>
                  <a:cs typeface="Assistant"/>
                  <a:sym typeface="Assistant"/>
                </a:rPr>
              </a:br>
              <a:br>
                <a:rPr b="0" lang="iw" sz="1100">
                  <a:solidFill>
                    <a:srgbClr val="A0B2C6"/>
                  </a:solidFill>
                  <a:latin typeface="Assistant"/>
                  <a:ea typeface="Assistant"/>
                  <a:cs typeface="Assistant"/>
                  <a:sym typeface="Assistant"/>
                </a:rPr>
              </a:br>
              <a:r>
                <a:rPr lang="iw" sz="1100">
                  <a:solidFill>
                    <a:srgbClr val="A0B2C6"/>
                  </a:solidFill>
                  <a:latin typeface="Assistant"/>
                  <a:ea typeface="Assistant"/>
                  <a:cs typeface="Assistant"/>
                  <a:sym typeface="Assistant"/>
                </a:rPr>
                <a:t>Chest Pain cp הוא אחד מגורמי האבחון החשובים ביותר.</a:t>
              </a:r>
              <a:endParaRPr sz="1100">
                <a:solidFill>
                  <a:srgbClr val="A0B2C6"/>
                </a:solidFill>
                <a:latin typeface="Assistant"/>
                <a:ea typeface="Assistant"/>
                <a:cs typeface="Assistant"/>
                <a:sym typeface="Assistant"/>
              </a:endParaRPr>
            </a:p>
            <a:p>
              <a:pPr indent="0" lvl="0" marL="0" rtl="1" algn="r">
                <a:spcBef>
                  <a:spcPts val="0"/>
                </a:spcBef>
                <a:spcAft>
                  <a:spcPts val="0"/>
                </a:spcAft>
                <a:buNone/>
              </a:pPr>
              <a:r>
                <a:rPr lang="iw" sz="1100">
                  <a:solidFill>
                    <a:srgbClr val="A0B2C6"/>
                  </a:solidFill>
                  <a:latin typeface="Assistant"/>
                  <a:ea typeface="Assistant"/>
                  <a:cs typeface="Assistant"/>
                  <a:sym typeface="Assistant"/>
                </a:rPr>
                <a:t>Maximum Heart Rate thalach ו־oldpeak הם מדדים קרדיולוגיים משמעותיים.</a:t>
              </a:r>
              <a:endParaRPr sz="1100">
                <a:solidFill>
                  <a:srgbClr val="A0B2C6"/>
                </a:solidFill>
                <a:latin typeface="Assistant"/>
                <a:ea typeface="Assistant"/>
                <a:cs typeface="Assistant"/>
                <a:sym typeface="Assistant"/>
              </a:endParaRPr>
            </a:p>
            <a:p>
              <a:pPr indent="0" lvl="0" marL="0" rtl="1" algn="r">
                <a:spcBef>
                  <a:spcPts val="0"/>
                </a:spcBef>
                <a:spcAft>
                  <a:spcPts val="0"/>
                </a:spcAft>
                <a:buNone/>
              </a:pPr>
              <a:r>
                <a:rPr lang="iw" sz="1100">
                  <a:solidFill>
                    <a:srgbClr val="A0B2C6"/>
                  </a:solidFill>
                  <a:latin typeface="Assistant"/>
                  <a:ea typeface="Assistant"/>
                  <a:cs typeface="Assistant"/>
                  <a:sym typeface="Assistant"/>
                </a:rPr>
                <a:t>ca ו־thal ידועים גם הם כמשתנים חשובים במאגרי Heart Disease.</a:t>
              </a:r>
              <a:endParaRPr sz="1100">
                <a:solidFill>
                  <a:schemeClr val="lt1"/>
                </a:solidFill>
              </a:endParaRPr>
            </a:p>
            <a:p>
              <a:pPr indent="0" lvl="0" marL="0" rtl="1" algn="r">
                <a:spcBef>
                  <a:spcPts val="0"/>
                </a:spcBef>
                <a:spcAft>
                  <a:spcPts val="0"/>
                </a:spcAft>
                <a:buNone/>
              </a:pPr>
              <a:r>
                <a:t/>
              </a:r>
              <a:endParaRPr sz="1100">
                <a:solidFill>
                  <a:srgbClr val="A0B2C6"/>
                </a:solidFill>
                <a:latin typeface="Assistant"/>
                <a:ea typeface="Assistant"/>
                <a:cs typeface="Assistant"/>
                <a:sym typeface="Assistan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508" name="Shape 508"/>
        <p:cNvGrpSpPr/>
        <p:nvPr/>
      </p:nvGrpSpPr>
      <p:grpSpPr>
        <a:xfrm>
          <a:off x="0" y="0"/>
          <a:ext cx="0" cy="0"/>
          <a:chOff x="0" y="0"/>
          <a:chExt cx="0" cy="0"/>
        </a:xfrm>
      </p:grpSpPr>
      <p:grpSp>
        <p:nvGrpSpPr>
          <p:cNvPr id="509" name="Google Shape;509;p33"/>
          <p:cNvGrpSpPr/>
          <p:nvPr/>
        </p:nvGrpSpPr>
        <p:grpSpPr>
          <a:xfrm>
            <a:off x="1619250" y="238125"/>
            <a:ext cx="6953400" cy="695250"/>
            <a:chOff x="1619250" y="238125"/>
            <a:chExt cx="6953400" cy="695250"/>
          </a:xfrm>
        </p:grpSpPr>
        <p:sp>
          <p:nvSpPr>
            <p:cNvPr id="510" name="Google Shape;510;p33"/>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Proposed Extension</a:t>
              </a:r>
              <a:endParaRPr b="0" sz="2400">
                <a:solidFill>
                  <a:srgbClr val="FFFFFF"/>
                </a:solidFill>
                <a:latin typeface="Assistant ExtraBold"/>
                <a:ea typeface="Assistant ExtraBold"/>
                <a:cs typeface="Assistant ExtraBold"/>
                <a:sym typeface="Assistant ExtraBold"/>
              </a:endParaRPr>
            </a:p>
          </p:txBody>
        </p:sp>
        <p:sp>
          <p:nvSpPr>
            <p:cNvPr id="511" name="Google Shape;511;p33"/>
            <p:cNvSpPr txBox="1"/>
            <p:nvPr/>
          </p:nvSpPr>
          <p:spPr>
            <a:xfrm>
              <a:off x="1619250" y="600075"/>
              <a:ext cx="6953400" cy="3333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הרחבה שבוצעה פה המרצה יאהב: שיפור המודל והערכת ביצועים מתקדמת מעבר לשחזור המאמר הבסיסי.</a:t>
              </a:r>
              <a:endParaRPr b="0" sz="1000">
                <a:solidFill>
                  <a:srgbClr val="7A8D9E"/>
                </a:solidFill>
                <a:latin typeface="Assistant"/>
                <a:ea typeface="Assistant"/>
                <a:cs typeface="Assistant"/>
                <a:sym typeface="Assistant"/>
              </a:endParaRPr>
            </a:p>
          </p:txBody>
        </p:sp>
      </p:grpSp>
      <p:grpSp>
        <p:nvGrpSpPr>
          <p:cNvPr id="512" name="Google Shape;512;p33"/>
          <p:cNvGrpSpPr/>
          <p:nvPr/>
        </p:nvGrpSpPr>
        <p:grpSpPr>
          <a:xfrm>
            <a:off x="4805363" y="900113"/>
            <a:ext cx="3771900" cy="3248100"/>
            <a:chOff x="4805363" y="900113"/>
            <a:chExt cx="3771900" cy="3248100"/>
          </a:xfrm>
        </p:grpSpPr>
        <p:pic>
          <p:nvPicPr>
            <p:cNvPr id="513" name="Google Shape;513;p33"/>
            <p:cNvPicPr preferRelativeResize="0"/>
            <p:nvPr/>
          </p:nvPicPr>
          <p:blipFill rotWithShape="1">
            <a:blip r:embed="rId3">
              <a:alphaModFix/>
            </a:blip>
            <a:srcRect b="0" l="0" r="0" t="0"/>
            <a:stretch/>
          </p:blipFill>
          <p:spPr>
            <a:xfrm>
              <a:off x="4805363" y="900113"/>
              <a:ext cx="3771900" cy="3248100"/>
            </a:xfrm>
            <a:prstGeom prst="rect">
              <a:avLst/>
            </a:prstGeom>
            <a:noFill/>
            <a:ln>
              <a:noFill/>
            </a:ln>
          </p:spPr>
        </p:pic>
        <p:sp>
          <p:nvSpPr>
            <p:cNvPr id="514" name="Google Shape;514;p33"/>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33"/>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METHODOLOGY // GRID_SEARCH_CV</a:t>
              </a:r>
              <a:endParaRPr b="1" sz="850">
                <a:solidFill>
                  <a:srgbClr val="00E5FF"/>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שיפור המודל באמצעות GridSearchCV</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A0B2C6"/>
                  </a:solidFill>
                  <a:latin typeface="Assistant"/>
                  <a:ea typeface="Assistant"/>
                  <a:cs typeface="Assistant"/>
                  <a:sym typeface="Assistant"/>
                </a:rPr>
                <a:t>חיפוש שיטתי ומקיף של סט הפרמטרים האופטימלי לכל אחד מהמודלים שנבחנו, במטרה למקסם את מדדי הדיוק.</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000">
                  <a:solidFill>
                    <a:schemeClr val="lt1"/>
                  </a:solidFill>
                  <a:latin typeface="Assistant"/>
                  <a:ea typeface="Assistant"/>
                  <a:cs typeface="Assistant"/>
                  <a:sym typeface="Assistant"/>
                </a:rPr>
                <a:t>רכיבי התהליך:</a:t>
              </a:r>
              <a:br>
                <a:rPr b="1" lang="iw" sz="1000">
                  <a:solidFill>
                    <a:schemeClr val="lt1"/>
                  </a:solidFill>
                  <a:latin typeface="Assistant"/>
                  <a:ea typeface="Assistant"/>
                  <a:cs typeface="Assistant"/>
                  <a:sym typeface="Assistant"/>
                </a:rPr>
              </a:br>
              <a:endParaRPr b="1" sz="1000">
                <a:solidFill>
                  <a:schemeClr val="lt1"/>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כוונון היפר-פרמטרים:</a:t>
              </a:r>
              <a:r>
                <a:rPr b="0" lang="iw" sz="950">
                  <a:solidFill>
                    <a:srgbClr val="A0B2C6"/>
                  </a:solidFill>
                  <a:latin typeface="Assistant"/>
                  <a:ea typeface="Assistant"/>
                  <a:cs typeface="Assistant"/>
                  <a:sym typeface="Assistant"/>
                </a:rPr>
                <a:t> הגדרת מרחב חיפוש רחב לכל מודל (כגון ערכי K ב-KNN ומשקולות ברגרסיה).</a:t>
              </a:r>
              <a:br>
                <a:rPr b="0" lang="iw" sz="950">
                  <a:solidFill>
                    <a:srgbClr val="A0B2C6"/>
                  </a:solidFill>
                  <a:latin typeface="Assistant"/>
                  <a:ea typeface="Assistant"/>
                  <a:cs typeface="Assistant"/>
                  <a:sym typeface="Assistant"/>
                </a:rPr>
              </a:br>
              <a:endParaRPr b="0" sz="950">
                <a:solidFill>
                  <a:srgbClr val="A0B2C6"/>
                </a:solidFill>
                <a:latin typeface="Assistant"/>
                <a:ea typeface="Assistant"/>
                <a:cs typeface="Assistant"/>
                <a:sym typeface="Assistant"/>
              </a:endParaRPr>
            </a:p>
            <a:p>
              <a:pPr indent="0" lvl="0" marL="0" rtl="1" algn="r">
                <a:spcBef>
                  <a:spcPts val="300"/>
                </a:spcBef>
                <a:spcAft>
                  <a:spcPts val="75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בחירה אוטומטית:</a:t>
              </a:r>
              <a:r>
                <a:rPr b="0" lang="iw" sz="950">
                  <a:solidFill>
                    <a:srgbClr val="A0B2C6"/>
                  </a:solidFill>
                  <a:latin typeface="Assistant"/>
                  <a:ea typeface="Assistant"/>
                  <a:cs typeface="Assistant"/>
                  <a:sym typeface="Assistant"/>
                </a:rPr>
                <a:t> מציאת הקומבינציה שמניבה את התוצאות הטובות ביותר עבור מדד ההערכה שנבחר.</a:t>
              </a:r>
              <a:endParaRPr b="0" sz="950">
                <a:solidFill>
                  <a:srgbClr val="A0B2C6"/>
                </a:solidFill>
                <a:latin typeface="Assistant"/>
                <a:ea typeface="Assistant"/>
                <a:cs typeface="Assistant"/>
                <a:sym typeface="Assistant"/>
              </a:endParaRPr>
            </a:p>
          </p:txBody>
        </p:sp>
      </p:grpSp>
      <p:grpSp>
        <p:nvGrpSpPr>
          <p:cNvPr id="516" name="Google Shape;516;p33"/>
          <p:cNvGrpSpPr/>
          <p:nvPr/>
        </p:nvGrpSpPr>
        <p:grpSpPr>
          <a:xfrm>
            <a:off x="566738" y="900113"/>
            <a:ext cx="3771900" cy="3248100"/>
            <a:chOff x="566738" y="900113"/>
            <a:chExt cx="3771900" cy="3248100"/>
          </a:xfrm>
        </p:grpSpPr>
        <p:pic>
          <p:nvPicPr>
            <p:cNvPr id="517" name="Google Shape;517;p33"/>
            <p:cNvPicPr preferRelativeResize="0"/>
            <p:nvPr/>
          </p:nvPicPr>
          <p:blipFill rotWithShape="1">
            <a:blip r:embed="rId3">
              <a:alphaModFix/>
            </a:blip>
            <a:srcRect b="0" l="0" r="0" t="0"/>
            <a:stretch/>
          </p:blipFill>
          <p:spPr>
            <a:xfrm>
              <a:off x="566738" y="900113"/>
              <a:ext cx="3771900" cy="3248100"/>
            </a:xfrm>
            <a:prstGeom prst="rect">
              <a:avLst/>
            </a:prstGeom>
            <a:noFill/>
            <a:ln>
              <a:noFill/>
            </a:ln>
          </p:spPr>
        </p:pic>
        <p:sp>
          <p:nvSpPr>
            <p:cNvPr id="518" name="Google Shape;518;p33"/>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33"/>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EVALUATION // CROSS_VALIDATION</a:t>
              </a:r>
              <a:endParaRPr b="1" sz="850">
                <a:solidFill>
                  <a:srgbClr val="10B981"/>
                </a:solidFill>
                <a:latin typeface="Courier New"/>
                <a:ea typeface="Courier New"/>
                <a:cs typeface="Courier New"/>
                <a:sym typeface="Courier New"/>
              </a:endParaRPr>
            </a:p>
            <a:p>
              <a:pPr indent="0" lvl="0" marL="0" rtl="1" algn="r">
                <a:spcBef>
                  <a:spcPts val="300"/>
                </a:spcBef>
                <a:spcAft>
                  <a:spcPts val="0"/>
                </a:spcAft>
                <a:buNone/>
              </a:pPr>
              <a:r>
                <a:rPr b="1" lang="iw" sz="1400">
                  <a:solidFill>
                    <a:srgbClr val="FFFFFF"/>
                  </a:solidFill>
                  <a:latin typeface="Assistant"/>
                  <a:ea typeface="Assistant"/>
                  <a:cs typeface="Assistant"/>
                  <a:sym typeface="Assistant"/>
                </a:rPr>
                <a:t>הערכה יציבה בעזרת Cross Validation</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0" lang="iw" sz="950">
                  <a:solidFill>
                    <a:srgbClr val="A0B2C6"/>
                  </a:solidFill>
                  <a:latin typeface="Assistant"/>
                  <a:ea typeface="Assistant"/>
                  <a:cs typeface="Assistant"/>
                  <a:sym typeface="Assistant"/>
                </a:rPr>
                <a:t>שימוש בתיקוף צולב (K-Fold CV) להבטחת עקביות ומניעת Overfitting של המודלים על נתוני האימון.</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0" lang="iw" sz="900">
                  <a:solidFill>
                    <a:srgbClr val="A0B2C6"/>
                  </a:solidFill>
                  <a:latin typeface="Assistant"/>
                  <a:ea typeface="Assistant"/>
                  <a:cs typeface="Assistant"/>
                  <a:sym typeface="Assistant"/>
                </a:rPr>
                <a:t>יתרונות מרכזיים:</a:t>
              </a:r>
              <a:br>
                <a:rPr b="0" lang="iw" sz="900">
                  <a:solidFill>
                    <a:srgbClr val="A0B2C6"/>
                  </a:solidFill>
                  <a:latin typeface="Assistant"/>
                  <a:ea typeface="Assistant"/>
                  <a:cs typeface="Assistant"/>
                  <a:sym typeface="Assistant"/>
                </a:rPr>
              </a:br>
              <a:endParaRPr b="0" sz="900">
                <a:solidFill>
                  <a:srgbClr val="A0B2C6"/>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מניעת הטיות:</a:t>
              </a:r>
              <a:r>
                <a:rPr b="0" lang="iw" sz="950">
                  <a:solidFill>
                    <a:srgbClr val="A0B2C6"/>
                  </a:solidFill>
                  <a:latin typeface="Assistant"/>
                  <a:ea typeface="Assistant"/>
                  <a:cs typeface="Assistant"/>
                  <a:sym typeface="Assistant"/>
                </a:rPr>
                <a:t> חלוקת הנתונים למספר תתי-קבוצות מבטיחה שהמודל נבחן על כל חלקי המידע.</a:t>
              </a:r>
              <a:endParaRPr b="0" sz="950">
                <a:solidFill>
                  <a:srgbClr val="A0B2C6"/>
                </a:solidFill>
                <a:latin typeface="Assistant"/>
                <a:ea typeface="Assistant"/>
                <a:cs typeface="Assistant"/>
                <a:sym typeface="Assistant"/>
              </a:endParaRPr>
            </a:p>
            <a:p>
              <a:pPr indent="0" lvl="0" marL="0" rtl="1" algn="r">
                <a:spcBef>
                  <a:spcPts val="300"/>
                </a:spcBef>
                <a:spcAft>
                  <a:spcPts val="750"/>
                </a:spcAft>
                <a:buNone/>
              </a:pPr>
              <a:r>
                <a:rPr b="0" lang="iw" sz="950">
                  <a:solidFill>
                    <a:srgbClr val="A0B2C6"/>
                  </a:solidFill>
                  <a:latin typeface="Assistant"/>
                  <a:ea typeface="Assistant"/>
                  <a:cs typeface="Assistant"/>
                  <a:sym typeface="Assistant"/>
                </a:rPr>
                <a:t>• </a:t>
              </a:r>
              <a:r>
                <a:rPr b="1" lang="iw" sz="950">
                  <a:solidFill>
                    <a:srgbClr val="FFFFFF"/>
                  </a:solidFill>
                  <a:latin typeface="Assistant"/>
                  <a:ea typeface="Assistant"/>
                  <a:cs typeface="Assistant"/>
                  <a:sym typeface="Assistant"/>
                </a:rPr>
                <a:t>מדד אמינות גבוה:</a:t>
              </a:r>
              <a:r>
                <a:rPr b="0" lang="iw" sz="950">
                  <a:solidFill>
                    <a:srgbClr val="A0B2C6"/>
                  </a:solidFill>
                  <a:latin typeface="Assistant"/>
                  <a:ea typeface="Assistant"/>
                  <a:cs typeface="Assistant"/>
                  <a:sym typeface="Assistant"/>
                </a:rPr>
                <a:t> הפקת ממוצע ביצועים סטטיסטי המייצג נאמנה את יכולת ההכללה על נתונים חדשים.</a:t>
              </a:r>
              <a:endParaRPr b="0" sz="950">
                <a:solidFill>
                  <a:srgbClr val="A0B2C6"/>
                </a:solidFill>
                <a:latin typeface="Assistant"/>
                <a:ea typeface="Assistant"/>
                <a:cs typeface="Assistant"/>
                <a:sym typeface="Assistant"/>
              </a:endParaRPr>
            </a:p>
          </p:txBody>
        </p:sp>
      </p:grpSp>
      <p:grpSp>
        <p:nvGrpSpPr>
          <p:cNvPr id="520" name="Google Shape;520;p33"/>
          <p:cNvGrpSpPr/>
          <p:nvPr/>
        </p:nvGrpSpPr>
        <p:grpSpPr>
          <a:xfrm>
            <a:off x="566738" y="4329113"/>
            <a:ext cx="8010600" cy="371400"/>
            <a:chOff x="566738" y="4329113"/>
            <a:chExt cx="8010600" cy="371400"/>
          </a:xfrm>
        </p:grpSpPr>
        <p:pic>
          <p:nvPicPr>
            <p:cNvPr id="521" name="Google Shape;521;p33"/>
            <p:cNvPicPr preferRelativeResize="0"/>
            <p:nvPr/>
          </p:nvPicPr>
          <p:blipFill rotWithShape="1">
            <a:blip r:embed="rId4">
              <a:alphaModFix/>
            </a:blip>
            <a:srcRect b="0" l="0" r="0" t="0"/>
            <a:stretch/>
          </p:blipFill>
          <p:spPr>
            <a:xfrm>
              <a:off x="566738" y="4329113"/>
              <a:ext cx="8010600" cy="371400"/>
            </a:xfrm>
            <a:prstGeom prst="rect">
              <a:avLst/>
            </a:prstGeom>
            <a:noFill/>
            <a:ln>
              <a:noFill/>
            </a:ln>
          </p:spPr>
        </p:pic>
        <p:sp>
          <p:nvSpPr>
            <p:cNvPr id="522" name="Google Shape;522;p33"/>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33"/>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השוואת ביצועים: </a:t>
              </a:r>
              <a:r>
                <a:rPr b="0" lang="iw" sz="900">
                  <a:solidFill>
                    <a:srgbClr val="7A8D9E"/>
                  </a:solidFill>
                  <a:latin typeface="Assistant"/>
                  <a:ea typeface="Assistant"/>
                  <a:cs typeface="Assistant"/>
                  <a:sym typeface="Assistant"/>
                </a:rPr>
                <a:t>בנוסף לשחזור המאמר בוצעו תהליכי אופטימיזציה מלאים והשוואה מדויקת של ביצועי המודלים לפני ואחרי הכיוונון.</a:t>
              </a:r>
              <a:endParaRPr b="1" sz="900">
                <a:solidFill>
                  <a:srgbClr val="10B981"/>
                </a:solidFill>
                <a:latin typeface="Courier New"/>
                <a:ea typeface="Courier New"/>
                <a:cs typeface="Courier New"/>
                <a:sym typeface="Courier New"/>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4"/>
          <p:cNvSpPr txBox="1"/>
          <p:nvPr/>
        </p:nvSpPr>
        <p:spPr>
          <a:xfrm>
            <a:off x="1705775" y="879775"/>
            <a:ext cx="7173900" cy="36603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במאמר הוצגו תוצאות של מודלי הסיווג, אך לא ניתן פירוט מלא של תהליך כיוונון ההיפר־פרמטרים. לכן הוספנו GridSearchCV כהרחבה משלימה, במטרה לבדוק האם ניתן לשפר את ביצועי Random Forest ולוודא שהפרמטרים שנבחרו אינם אקראיים.</a:t>
            </a:r>
            <a:endParaRPr b="1" sz="15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GridSearchCV בוחן מספר שילובים אפשריים של היפר־פרמטרים, כגון:</a:t>
            </a:r>
            <a:endParaRPr sz="900">
              <a:solidFill>
                <a:schemeClr val="lt1"/>
              </a:solidFill>
              <a:latin typeface="Assistant"/>
              <a:ea typeface="Assistant"/>
              <a:cs typeface="Assistant"/>
              <a:sym typeface="Assistant"/>
            </a:endParaRPr>
          </a:p>
          <a:p>
            <a:pPr indent="-285750" lvl="0" marL="457200" rtl="1" algn="r">
              <a:lnSpc>
                <a:spcPct val="115000"/>
              </a:lnSpc>
              <a:spcBef>
                <a:spcPts val="120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העצים ביער</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עומק מרבי של כל עץ</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מינימלי של דגימות לפיצול</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מספר מינימלי של דגימות בעלה</a:t>
            </a:r>
            <a:endParaRPr sz="9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900">
                <a:solidFill>
                  <a:schemeClr val="lt1"/>
                </a:solidFill>
                <a:latin typeface="Assistant"/>
                <a:ea typeface="Assistant"/>
                <a:cs typeface="Assistant"/>
                <a:sym typeface="Assistant"/>
              </a:rPr>
              <a:t>כל שילוב נבדק באמצעות 5-Fold Cross Validation, ולאחר מכן נבחר השילוב שהשיג את הדיוק הממוצע הגבוה ביותר.</a:t>
            </a:r>
            <a:endParaRPr b="1" sz="1500">
              <a:solidFill>
                <a:schemeClr val="lt1"/>
              </a:solidFill>
              <a:latin typeface="Assistant"/>
              <a:ea typeface="Assistant"/>
              <a:cs typeface="Assistant"/>
              <a:sym typeface="Assistant"/>
            </a:endParaRPr>
          </a:p>
          <a:p>
            <a:pPr indent="-285750" lvl="0" marL="457200" rtl="1" algn="r">
              <a:lnSpc>
                <a:spcPct val="115000"/>
              </a:lnSpc>
              <a:spcBef>
                <a:spcPts val="120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להפחית Overfitting</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לשפר את יכולת ההכללה על נתונים חדשים</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לבחור מודל יציב יותר</a:t>
            </a:r>
            <a:endParaRPr sz="900">
              <a:solidFill>
                <a:schemeClr val="lt1"/>
              </a:solidFill>
              <a:latin typeface="Assistant"/>
              <a:ea typeface="Assistant"/>
              <a:cs typeface="Assistant"/>
              <a:sym typeface="Assistant"/>
            </a:endParaRPr>
          </a:p>
          <a:p>
            <a:pPr indent="-285750" lvl="0" marL="457200" rtl="1" algn="r">
              <a:lnSpc>
                <a:spcPct val="115000"/>
              </a:lnSpc>
              <a:spcBef>
                <a:spcPts val="0"/>
              </a:spcBef>
              <a:spcAft>
                <a:spcPts val="0"/>
              </a:spcAft>
              <a:buClr>
                <a:schemeClr val="lt1"/>
              </a:buClr>
              <a:buSzPts val="900"/>
              <a:buFont typeface="Assistant"/>
              <a:buChar char="●"/>
            </a:pPr>
            <a:r>
              <a:rPr lang="iw" sz="900">
                <a:solidFill>
                  <a:schemeClr val="lt1"/>
                </a:solidFill>
                <a:latin typeface="Assistant"/>
                <a:ea typeface="Assistant"/>
                <a:cs typeface="Assistant"/>
                <a:sym typeface="Assistant"/>
              </a:rPr>
              <a:t>לבסס את בחירת הפרמטרים באופן שיטתי ולא ידני</a:t>
            </a:r>
            <a:endParaRPr sz="900">
              <a:solidFill>
                <a:schemeClr val="lt1"/>
              </a:solidFill>
              <a:latin typeface="Assistant"/>
              <a:ea typeface="Assistant"/>
              <a:cs typeface="Assistant"/>
              <a:sym typeface="Assistant"/>
            </a:endParaRPr>
          </a:p>
          <a:p>
            <a:pPr indent="0" lvl="0" marL="0" rtl="1" algn="r">
              <a:lnSpc>
                <a:spcPct val="115000"/>
              </a:lnSpc>
              <a:spcBef>
                <a:spcPts val="1800"/>
              </a:spcBef>
              <a:spcAft>
                <a:spcPts val="0"/>
              </a:spcAft>
              <a:buNone/>
            </a:pPr>
            <a:r>
              <a:rPr b="1" lang="iw" sz="1500">
                <a:solidFill>
                  <a:schemeClr val="lt1"/>
                </a:solidFill>
                <a:latin typeface="Assistant"/>
                <a:ea typeface="Assistant"/>
                <a:cs typeface="Assistant"/>
                <a:sym typeface="Assistant"/>
              </a:rPr>
              <a:t>מסקנה :</a:t>
            </a:r>
            <a:r>
              <a:rPr lang="iw" sz="900">
                <a:solidFill>
                  <a:schemeClr val="lt1"/>
                </a:solidFill>
                <a:latin typeface="Assistant"/>
                <a:ea typeface="Assistant"/>
                <a:cs typeface="Assistant"/>
                <a:sym typeface="Assistant"/>
              </a:rPr>
              <a:t>הפרמטרים שנבחרו הניבו דיוק ממוצע של </a:t>
            </a:r>
            <a:r>
              <a:rPr b="1" lang="iw" sz="900">
                <a:solidFill>
                  <a:schemeClr val="lt1"/>
                </a:solidFill>
                <a:latin typeface="Assistant"/>
                <a:ea typeface="Assistant"/>
                <a:cs typeface="Assistant"/>
                <a:sym typeface="Assistant"/>
              </a:rPr>
              <a:t>98.54%</a:t>
            </a:r>
            <a:r>
              <a:rPr lang="iw" sz="900">
                <a:solidFill>
                  <a:schemeClr val="lt1"/>
                </a:solidFill>
                <a:latin typeface="Assistant"/>
                <a:ea typeface="Assistant"/>
                <a:cs typeface="Assistant"/>
                <a:sym typeface="Assistant"/>
              </a:rPr>
              <a:t> ב־Cross Validation. תוצאה זו מחזקת את המסקנה ש־Random Forest הוא המודל המוביל, גם כאשר בוחנים אותו על מספר חלוקות שונות של הנתונים.</a:t>
            </a:r>
            <a:endParaRPr sz="900">
              <a:solidFill>
                <a:schemeClr val="lt1"/>
              </a:solidFill>
              <a:latin typeface="Assistant"/>
              <a:ea typeface="Assistant"/>
              <a:cs typeface="Assistant"/>
              <a:sym typeface="Assistant"/>
            </a:endParaRPr>
          </a:p>
          <a:p>
            <a:pPr indent="0" lvl="0" marL="381000" marR="381000" rtl="1" algn="r">
              <a:lnSpc>
                <a:spcPct val="115000"/>
              </a:lnSpc>
              <a:spcBef>
                <a:spcPts val="1200"/>
              </a:spcBef>
              <a:spcAft>
                <a:spcPts val="1200"/>
              </a:spcAft>
              <a:buNone/>
            </a:pPr>
            <a:r>
              <a:t/>
            </a:r>
            <a:endParaRPr sz="900">
              <a:solidFill>
                <a:schemeClr val="lt1"/>
              </a:solidFill>
              <a:latin typeface="Assistant"/>
              <a:ea typeface="Assistant"/>
              <a:cs typeface="Assistant"/>
              <a:sym typeface="Assistant"/>
            </a:endParaRPr>
          </a:p>
        </p:txBody>
      </p:sp>
      <p:pic>
        <p:nvPicPr>
          <p:cNvPr id="529" name="Google Shape;529;p34"/>
          <p:cNvPicPr preferRelativeResize="0"/>
          <p:nvPr/>
        </p:nvPicPr>
        <p:blipFill>
          <a:blip r:embed="rId3">
            <a:alphaModFix/>
          </a:blip>
          <a:stretch>
            <a:fillRect/>
          </a:stretch>
        </p:blipFill>
        <p:spPr>
          <a:xfrm>
            <a:off x="2205625" y="4252825"/>
            <a:ext cx="4547675" cy="688525"/>
          </a:xfrm>
          <a:prstGeom prst="rect">
            <a:avLst/>
          </a:prstGeom>
          <a:noFill/>
          <a:ln>
            <a:noFill/>
          </a:ln>
        </p:spPr>
      </p:pic>
      <p:sp>
        <p:nvSpPr>
          <p:cNvPr id="530" name="Google Shape;530;p34"/>
          <p:cNvSpPr txBox="1"/>
          <p:nvPr/>
        </p:nvSpPr>
        <p:spPr>
          <a:xfrm>
            <a:off x="204325" y="177875"/>
            <a:ext cx="47625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b="1" lang="iw" sz="2100">
                <a:solidFill>
                  <a:schemeClr val="lt1"/>
                </a:solidFill>
                <a:latin typeface="Assistant"/>
                <a:ea typeface="Assistant"/>
                <a:cs typeface="Assistant"/>
                <a:sym typeface="Assistant"/>
              </a:rPr>
              <a:t>Hyperparameter Tuning (GridSearchCV)</a:t>
            </a:r>
            <a:endParaRPr sz="3400">
              <a:solidFill>
                <a:schemeClr val="lt1"/>
              </a:solidFill>
              <a:latin typeface="Assistant ExtraBold"/>
              <a:ea typeface="Assistant ExtraBold"/>
              <a:cs typeface="Assistant ExtraBold"/>
              <a:sym typeface="Assistant ExtraBold"/>
            </a:endParaRPr>
          </a:p>
        </p:txBody>
      </p:sp>
      <p:graphicFrame>
        <p:nvGraphicFramePr>
          <p:cNvPr id="531" name="Google Shape;531;p34"/>
          <p:cNvGraphicFramePr/>
          <p:nvPr/>
        </p:nvGraphicFramePr>
        <p:xfrm>
          <a:off x="590925" y="1332550"/>
          <a:ext cx="3000000" cy="3000000"/>
        </p:xfrm>
        <a:graphic>
          <a:graphicData uri="http://schemas.openxmlformats.org/drawingml/2006/table">
            <a:tbl>
              <a:tblPr>
                <a:noFill/>
                <a:tableStyleId>{02DBEA51-1367-44D0-BEA1-586531EC675E}</a:tableStyleId>
              </a:tblPr>
              <a:tblGrid>
                <a:gridCol w="1110500"/>
                <a:gridCol w="1110500"/>
              </a:tblGrid>
              <a:tr h="276850">
                <a:tc>
                  <a:txBody>
                    <a:bodyPr/>
                    <a:lstStyle/>
                    <a:p>
                      <a:pPr indent="0" lvl="0" marL="0" rtl="0" algn="l">
                        <a:spcBef>
                          <a:spcPts val="0"/>
                        </a:spcBef>
                        <a:spcAft>
                          <a:spcPts val="0"/>
                        </a:spcAft>
                        <a:buNone/>
                      </a:pPr>
                      <a:r>
                        <a:rPr lang="iw" sz="900">
                          <a:solidFill>
                            <a:schemeClr val="lt1"/>
                          </a:solidFill>
                        </a:rPr>
                        <a:t>Hyperparameter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Optimal Value </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n_estimators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200</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max_depth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10</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min_samples_split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2</a:t>
                      </a:r>
                      <a:endParaRPr sz="900">
                        <a:solidFill>
                          <a:schemeClr val="lt1"/>
                        </a:solidFill>
                      </a:endParaRPr>
                    </a:p>
                  </a:txBody>
                  <a:tcPr marT="91425" marB="91425" marR="91425" marL="91425"/>
                </a:tc>
              </a:tr>
              <a:tr h="276850">
                <a:tc>
                  <a:txBody>
                    <a:bodyPr/>
                    <a:lstStyle/>
                    <a:p>
                      <a:pPr indent="0" lvl="0" marL="0" rtl="0" algn="l">
                        <a:spcBef>
                          <a:spcPts val="0"/>
                        </a:spcBef>
                        <a:spcAft>
                          <a:spcPts val="0"/>
                        </a:spcAft>
                        <a:buNone/>
                      </a:pPr>
                      <a:r>
                        <a:rPr lang="iw" sz="900">
                          <a:solidFill>
                            <a:schemeClr val="lt1"/>
                          </a:solidFill>
                        </a:rPr>
                        <a:t>min_samples_leaf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1</a:t>
                      </a:r>
                      <a:endParaRPr sz="900">
                        <a:solidFill>
                          <a:schemeClr val="lt1"/>
                        </a:solidFill>
                      </a:endParaRPr>
                    </a:p>
                  </a:txBody>
                  <a:tcPr marT="91425" marB="91425" marR="91425" marL="91425"/>
                </a:tc>
              </a:tr>
              <a:tr h="409300">
                <a:tc>
                  <a:txBody>
                    <a:bodyPr/>
                    <a:lstStyle/>
                    <a:p>
                      <a:pPr indent="0" lvl="0" marL="0" rtl="0" algn="l">
                        <a:spcBef>
                          <a:spcPts val="0"/>
                        </a:spcBef>
                        <a:spcAft>
                          <a:spcPts val="0"/>
                        </a:spcAft>
                        <a:buNone/>
                      </a:pPr>
                      <a:r>
                        <a:rPr lang="iw" sz="900">
                          <a:solidFill>
                            <a:schemeClr val="lt1"/>
                          </a:solidFill>
                        </a:rPr>
                        <a:t>Cross Validation Accuracy </a:t>
                      </a:r>
                      <a:endParaRPr sz="900">
                        <a:solidFill>
                          <a:schemeClr val="lt1"/>
                        </a:solidFill>
                      </a:endParaRPr>
                    </a:p>
                  </a:txBody>
                  <a:tcPr marT="91425" marB="91425" marR="91425" marL="91425"/>
                </a:tc>
                <a:tc>
                  <a:txBody>
                    <a:bodyPr/>
                    <a:lstStyle/>
                    <a:p>
                      <a:pPr indent="0" lvl="0" marL="0" rtl="0" algn="l">
                        <a:spcBef>
                          <a:spcPts val="0"/>
                        </a:spcBef>
                        <a:spcAft>
                          <a:spcPts val="0"/>
                        </a:spcAft>
                        <a:buNone/>
                      </a:pPr>
                      <a:r>
                        <a:rPr lang="iw" sz="900">
                          <a:solidFill>
                            <a:schemeClr val="lt1"/>
                          </a:solidFill>
                        </a:rPr>
                        <a:t>98.54%</a:t>
                      </a:r>
                      <a:endParaRPr sz="900">
                        <a:solidFill>
                          <a:schemeClr val="lt1"/>
                        </a:solidFill>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35"/>
          <p:cNvPicPr preferRelativeResize="0"/>
          <p:nvPr/>
        </p:nvPicPr>
        <p:blipFill>
          <a:blip r:embed="rId3">
            <a:alphaModFix/>
          </a:blip>
          <a:stretch>
            <a:fillRect/>
          </a:stretch>
        </p:blipFill>
        <p:spPr>
          <a:xfrm>
            <a:off x="407063" y="1294375"/>
            <a:ext cx="2257425" cy="1152525"/>
          </a:xfrm>
          <a:prstGeom prst="rect">
            <a:avLst/>
          </a:prstGeom>
          <a:noFill/>
          <a:ln>
            <a:noFill/>
          </a:ln>
        </p:spPr>
      </p:pic>
      <p:pic>
        <p:nvPicPr>
          <p:cNvPr id="537" name="Google Shape;537;p35"/>
          <p:cNvPicPr preferRelativeResize="0"/>
          <p:nvPr/>
        </p:nvPicPr>
        <p:blipFill>
          <a:blip r:embed="rId4">
            <a:alphaModFix/>
          </a:blip>
          <a:stretch>
            <a:fillRect/>
          </a:stretch>
        </p:blipFill>
        <p:spPr>
          <a:xfrm>
            <a:off x="483075" y="2827199"/>
            <a:ext cx="2631200" cy="1662575"/>
          </a:xfrm>
          <a:prstGeom prst="rect">
            <a:avLst/>
          </a:prstGeom>
          <a:noFill/>
          <a:ln>
            <a:noFill/>
          </a:ln>
        </p:spPr>
      </p:pic>
      <p:sp>
        <p:nvSpPr>
          <p:cNvPr id="538" name="Google Shape;538;p35"/>
          <p:cNvSpPr txBox="1"/>
          <p:nvPr/>
        </p:nvSpPr>
        <p:spPr>
          <a:xfrm>
            <a:off x="4133850" y="795125"/>
            <a:ext cx="4669200" cy="42006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2400"/>
              </a:spcBef>
              <a:spcAft>
                <a:spcPts val="0"/>
              </a:spcAft>
              <a:buNone/>
            </a:pPr>
            <a:r>
              <a:rPr b="1" lang="iw" sz="1800">
                <a:solidFill>
                  <a:schemeClr val="lt1"/>
                </a:solidFill>
                <a:latin typeface="Assistant"/>
                <a:ea typeface="Assistant"/>
                <a:cs typeface="Assistant"/>
                <a:sym typeface="Assistant"/>
              </a:rPr>
              <a:t>למה ביצענו Cross Validation?</a:t>
            </a:r>
            <a:endParaRPr b="1" sz="18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b="1" lang="iw" sz="600">
                <a:solidFill>
                  <a:schemeClr val="lt1"/>
                </a:solidFill>
                <a:latin typeface="Assistant"/>
                <a:ea typeface="Assistant"/>
                <a:cs typeface="Assistant"/>
                <a:sym typeface="Assistant"/>
              </a:rPr>
              <a:t>מטרת ההרחבה</a:t>
            </a:r>
            <a:endParaRPr b="1" sz="6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600">
                <a:solidFill>
                  <a:schemeClr val="lt1"/>
                </a:solidFill>
                <a:latin typeface="Assistant"/>
                <a:ea typeface="Assistant"/>
                <a:cs typeface="Assistant"/>
                <a:sym typeface="Assistant"/>
              </a:rPr>
              <a:t>בוצע תהליך </a:t>
            </a:r>
            <a:r>
              <a:rPr b="1" lang="iw" sz="600">
                <a:solidFill>
                  <a:schemeClr val="lt1"/>
                </a:solidFill>
                <a:latin typeface="Assistant"/>
                <a:ea typeface="Assistant"/>
                <a:cs typeface="Assistant"/>
                <a:sym typeface="Assistant"/>
              </a:rPr>
              <a:t>5-Fold Cross Validation</a:t>
            </a:r>
            <a:r>
              <a:rPr lang="iw" sz="600">
                <a:solidFill>
                  <a:schemeClr val="lt1"/>
                </a:solidFill>
                <a:latin typeface="Assistant"/>
                <a:ea typeface="Assistant"/>
                <a:cs typeface="Assistant"/>
                <a:sym typeface="Assistant"/>
              </a:rPr>
              <a:t> כהרחבה למאמר, במטרה להעריך את יציבות המודלים ולאמת שהתוצאות אינן תלויות בחלוקה אקראית אחת של הנתונים ל־Train ו־Test.</a:t>
            </a:r>
            <a:endParaRPr sz="600">
              <a:solidFill>
                <a:schemeClr val="lt1"/>
              </a:solidFill>
              <a:latin typeface="Assistant"/>
              <a:ea typeface="Assistant"/>
              <a:cs typeface="Assistant"/>
              <a:sym typeface="Assistant"/>
            </a:endParaRPr>
          </a:p>
          <a:p>
            <a:pPr indent="0" lvl="0" marL="0" rtl="1" algn="r">
              <a:lnSpc>
                <a:spcPct val="115000"/>
              </a:lnSpc>
              <a:spcBef>
                <a:spcPts val="2400"/>
              </a:spcBef>
              <a:spcAft>
                <a:spcPts val="0"/>
              </a:spcAft>
              <a:buNone/>
            </a:pPr>
            <a:r>
              <a:rPr b="1" lang="iw" sz="1800">
                <a:solidFill>
                  <a:schemeClr val="lt1"/>
                </a:solidFill>
                <a:latin typeface="Assistant"/>
                <a:ea typeface="Assistant"/>
                <a:cs typeface="Assistant"/>
                <a:sym typeface="Assistant"/>
              </a:rPr>
              <a:t>Cross Validation - </a:t>
            </a:r>
            <a:r>
              <a:rPr lang="iw" sz="600">
                <a:solidFill>
                  <a:schemeClr val="lt1"/>
                </a:solidFill>
                <a:latin typeface="Assistant"/>
                <a:ea typeface="Assistant"/>
                <a:cs typeface="Assistant"/>
                <a:sym typeface="Assistant"/>
              </a:rPr>
              <a:t>במקום לבצע הערכה על חלוקה אחת בלבד, הדאטהסט מחולק ל־5 קבוצות (Folds).</a:t>
            </a:r>
            <a:endParaRPr sz="6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600">
                <a:solidFill>
                  <a:schemeClr val="lt1"/>
                </a:solidFill>
                <a:latin typeface="Assistant"/>
                <a:ea typeface="Assistant"/>
                <a:cs typeface="Assistant"/>
                <a:sym typeface="Assistant"/>
              </a:rPr>
              <a:t>בכל איטרציה:</a:t>
            </a:r>
            <a:endParaRPr sz="600">
              <a:solidFill>
                <a:schemeClr val="lt1"/>
              </a:solidFill>
              <a:latin typeface="Assistant"/>
              <a:ea typeface="Assistant"/>
              <a:cs typeface="Assistant"/>
              <a:sym typeface="Assistant"/>
            </a:endParaRPr>
          </a:p>
          <a:p>
            <a:pPr indent="-266700" lvl="0" marL="457200" rtl="1" algn="r">
              <a:lnSpc>
                <a:spcPct val="115000"/>
              </a:lnSpc>
              <a:spcBef>
                <a:spcPts val="1200"/>
              </a:spcBef>
              <a:spcAft>
                <a:spcPts val="0"/>
              </a:spcAft>
              <a:buClr>
                <a:schemeClr val="lt1"/>
              </a:buClr>
              <a:buSzPts val="600"/>
              <a:buFont typeface="Assistant"/>
              <a:buChar char="●"/>
            </a:pPr>
            <a:r>
              <a:rPr lang="iw" sz="600">
                <a:solidFill>
                  <a:schemeClr val="lt1"/>
                </a:solidFill>
                <a:latin typeface="Assistant"/>
                <a:ea typeface="Assistant"/>
                <a:cs typeface="Assistant"/>
                <a:sym typeface="Assistant"/>
              </a:rPr>
              <a:t>4 קבוצות משמשות לאימון המודל.</a:t>
            </a:r>
            <a:endParaRPr sz="600">
              <a:solidFill>
                <a:schemeClr val="lt1"/>
              </a:solidFill>
              <a:latin typeface="Assistant"/>
              <a:ea typeface="Assistant"/>
              <a:cs typeface="Assistant"/>
              <a:sym typeface="Assistant"/>
            </a:endParaRPr>
          </a:p>
          <a:p>
            <a:pPr indent="-266700" lvl="0" marL="457200" rtl="1" algn="r">
              <a:lnSpc>
                <a:spcPct val="115000"/>
              </a:lnSpc>
              <a:spcBef>
                <a:spcPts val="0"/>
              </a:spcBef>
              <a:spcAft>
                <a:spcPts val="0"/>
              </a:spcAft>
              <a:buClr>
                <a:schemeClr val="lt1"/>
              </a:buClr>
              <a:buSzPts val="600"/>
              <a:buFont typeface="Assistant"/>
              <a:buChar char="●"/>
            </a:pPr>
            <a:r>
              <a:rPr lang="iw" sz="600">
                <a:solidFill>
                  <a:schemeClr val="lt1"/>
                </a:solidFill>
                <a:latin typeface="Assistant"/>
                <a:ea typeface="Assistant"/>
                <a:cs typeface="Assistant"/>
                <a:sym typeface="Assistant"/>
              </a:rPr>
              <a:t>קבוצה אחת משמשת לבדיקה.</a:t>
            </a:r>
            <a:endParaRPr sz="600">
              <a:solidFill>
                <a:schemeClr val="lt1"/>
              </a:solidFill>
              <a:latin typeface="Assistant"/>
              <a:ea typeface="Assistant"/>
              <a:cs typeface="Assistant"/>
              <a:sym typeface="Assistant"/>
            </a:endParaRPr>
          </a:p>
          <a:p>
            <a:pPr indent="-266700" lvl="0" marL="457200" rtl="1" algn="r">
              <a:lnSpc>
                <a:spcPct val="115000"/>
              </a:lnSpc>
              <a:spcBef>
                <a:spcPts val="0"/>
              </a:spcBef>
              <a:spcAft>
                <a:spcPts val="0"/>
              </a:spcAft>
              <a:buClr>
                <a:schemeClr val="lt1"/>
              </a:buClr>
              <a:buSzPts val="600"/>
              <a:buFont typeface="Assistant"/>
              <a:buChar char="●"/>
            </a:pPr>
            <a:r>
              <a:rPr lang="iw" sz="600">
                <a:solidFill>
                  <a:schemeClr val="lt1"/>
                </a:solidFill>
                <a:latin typeface="Assistant"/>
                <a:ea typeface="Assistant"/>
                <a:cs typeface="Assistant"/>
                <a:sym typeface="Assistant"/>
              </a:rPr>
              <a:t>התהליך חוזר 5 פעמים, כך שכל קבוצה משמשת פעם אחת כקבוצת בדיקה.</a:t>
            </a:r>
            <a:endParaRPr sz="6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600">
                <a:solidFill>
                  <a:schemeClr val="lt1"/>
                </a:solidFill>
                <a:latin typeface="Assistant"/>
                <a:ea typeface="Assistant"/>
                <a:cs typeface="Assistant"/>
                <a:sym typeface="Assistant"/>
              </a:rPr>
              <a:t>התוצאה הסופית היא </a:t>
            </a:r>
            <a:r>
              <a:rPr b="1" lang="iw" sz="600">
                <a:solidFill>
                  <a:schemeClr val="lt1"/>
                </a:solidFill>
                <a:latin typeface="Assistant"/>
                <a:ea typeface="Assistant"/>
                <a:cs typeface="Assistant"/>
                <a:sym typeface="Assistant"/>
              </a:rPr>
              <a:t>ממוצע הדיוקים</a:t>
            </a:r>
            <a:r>
              <a:rPr lang="iw" sz="600">
                <a:solidFill>
                  <a:schemeClr val="lt1"/>
                </a:solidFill>
                <a:latin typeface="Assistant"/>
                <a:ea typeface="Assistant"/>
                <a:cs typeface="Assistant"/>
                <a:sym typeface="Assistant"/>
              </a:rPr>
              <a:t> על פני כל החלוקות.</a:t>
            </a:r>
            <a:endParaRPr sz="600">
              <a:solidFill>
                <a:schemeClr val="lt1"/>
              </a:solidFill>
              <a:latin typeface="Assistant"/>
              <a:ea typeface="Assistant"/>
              <a:cs typeface="Assistant"/>
              <a:sym typeface="Assistant"/>
            </a:endParaRPr>
          </a:p>
          <a:p>
            <a:pPr indent="0" lvl="0" marL="0" rtl="1" algn="r">
              <a:lnSpc>
                <a:spcPct val="115000"/>
              </a:lnSpc>
              <a:spcBef>
                <a:spcPts val="2400"/>
              </a:spcBef>
              <a:spcAft>
                <a:spcPts val="0"/>
              </a:spcAft>
              <a:buNone/>
            </a:pPr>
            <a:r>
              <a:rPr b="1" lang="iw" sz="1800">
                <a:solidFill>
                  <a:schemeClr val="lt1"/>
                </a:solidFill>
                <a:latin typeface="Assistant"/>
                <a:ea typeface="Assistant"/>
                <a:cs typeface="Assistant"/>
                <a:sym typeface="Assistant"/>
              </a:rPr>
              <a:t>מ</a:t>
            </a:r>
            <a:r>
              <a:rPr b="1" lang="iw" sz="1800">
                <a:solidFill>
                  <a:schemeClr val="lt1"/>
                </a:solidFill>
                <a:latin typeface="Assistant"/>
                <a:ea typeface="Assistant"/>
                <a:cs typeface="Assistant"/>
                <a:sym typeface="Assistant"/>
              </a:rPr>
              <a:t>סקנות</a:t>
            </a:r>
            <a:endParaRPr b="1" sz="1800">
              <a:solidFill>
                <a:schemeClr val="lt1"/>
              </a:solidFill>
              <a:latin typeface="Assistant"/>
              <a:ea typeface="Assistant"/>
              <a:cs typeface="Assistant"/>
              <a:sym typeface="Assistant"/>
            </a:endParaRPr>
          </a:p>
          <a:p>
            <a:pPr indent="0" lvl="0" marL="0" rtl="1" algn="r">
              <a:lnSpc>
                <a:spcPct val="115000"/>
              </a:lnSpc>
              <a:spcBef>
                <a:spcPts val="1200"/>
              </a:spcBef>
              <a:spcAft>
                <a:spcPts val="0"/>
              </a:spcAft>
              <a:buNone/>
            </a:pPr>
            <a:r>
              <a:rPr lang="iw" sz="600">
                <a:solidFill>
                  <a:schemeClr val="lt1"/>
                </a:solidFill>
                <a:latin typeface="Assistant"/>
                <a:ea typeface="Assistant"/>
                <a:cs typeface="Assistant"/>
                <a:sym typeface="Assistant"/>
              </a:rPr>
              <a:t>ניתן לראות כי גם לאחר ביצוע Cross Validation:</a:t>
            </a:r>
            <a:endParaRPr sz="600">
              <a:solidFill>
                <a:schemeClr val="lt1"/>
              </a:solidFill>
              <a:latin typeface="Assistant"/>
              <a:ea typeface="Assistant"/>
              <a:cs typeface="Assistant"/>
              <a:sym typeface="Assistant"/>
            </a:endParaRPr>
          </a:p>
          <a:p>
            <a:pPr indent="-266700" lvl="0" marL="457200" rtl="1" algn="r">
              <a:lnSpc>
                <a:spcPct val="115000"/>
              </a:lnSpc>
              <a:spcBef>
                <a:spcPts val="1200"/>
              </a:spcBef>
              <a:spcAft>
                <a:spcPts val="0"/>
              </a:spcAft>
              <a:buClr>
                <a:schemeClr val="lt1"/>
              </a:buClr>
              <a:buSzPts val="600"/>
              <a:buChar char="●"/>
            </a:pPr>
            <a:r>
              <a:rPr b="1" lang="iw" sz="600">
                <a:solidFill>
                  <a:schemeClr val="lt1"/>
                </a:solidFill>
                <a:latin typeface="Assistant"/>
                <a:ea typeface="Assistant"/>
                <a:cs typeface="Assistant"/>
                <a:sym typeface="Assistant"/>
              </a:rPr>
              <a:t>Random Forest</a:t>
            </a:r>
            <a:r>
              <a:rPr lang="iw" sz="600">
                <a:solidFill>
                  <a:schemeClr val="lt1"/>
                </a:solidFill>
                <a:latin typeface="Assistant"/>
                <a:ea typeface="Assistant"/>
                <a:cs typeface="Assistant"/>
                <a:sym typeface="Assistant"/>
              </a:rPr>
              <a:t> השיג את הדיוק הממוצע הגבוה ביותר (</a:t>
            </a:r>
            <a:r>
              <a:rPr b="1" lang="iw" sz="600">
                <a:solidFill>
                  <a:schemeClr val="lt1"/>
                </a:solidFill>
                <a:latin typeface="Assistant"/>
                <a:ea typeface="Assistant"/>
                <a:cs typeface="Assistant"/>
                <a:sym typeface="Assistant"/>
              </a:rPr>
              <a:t>99.71%</a:t>
            </a:r>
            <a:r>
              <a:rPr lang="iw" sz="600">
                <a:solidFill>
                  <a:schemeClr val="lt1"/>
                </a:solidFill>
                <a:latin typeface="Assistant"/>
                <a:ea typeface="Assistant"/>
                <a:cs typeface="Assistant"/>
                <a:sym typeface="Assistant"/>
              </a:rPr>
              <a:t>).</a:t>
            </a:r>
            <a:endParaRPr sz="600">
              <a:solidFill>
                <a:schemeClr val="lt1"/>
              </a:solidFill>
              <a:latin typeface="Assistant"/>
              <a:ea typeface="Assistant"/>
              <a:cs typeface="Assistant"/>
              <a:sym typeface="Assistant"/>
            </a:endParaRPr>
          </a:p>
          <a:p>
            <a:pPr indent="-266700" lvl="0" marL="457200" rtl="1" algn="r">
              <a:lnSpc>
                <a:spcPct val="115000"/>
              </a:lnSpc>
              <a:spcBef>
                <a:spcPts val="0"/>
              </a:spcBef>
              <a:spcAft>
                <a:spcPts val="0"/>
              </a:spcAft>
              <a:buClr>
                <a:schemeClr val="lt1"/>
              </a:buClr>
              <a:buSzPts val="600"/>
              <a:buChar char="●"/>
            </a:pPr>
            <a:r>
              <a:rPr b="1" lang="iw" sz="600">
                <a:solidFill>
                  <a:schemeClr val="lt1"/>
                </a:solidFill>
                <a:latin typeface="Assistant"/>
                <a:ea typeface="Assistant"/>
                <a:cs typeface="Assistant"/>
                <a:sym typeface="Assistant"/>
              </a:rPr>
              <a:t>SVM</a:t>
            </a:r>
            <a:r>
              <a:rPr lang="iw" sz="600">
                <a:solidFill>
                  <a:schemeClr val="lt1"/>
                </a:solidFill>
                <a:latin typeface="Assistant"/>
                <a:ea typeface="Assistant"/>
                <a:cs typeface="Assistant"/>
                <a:sym typeface="Assistant"/>
              </a:rPr>
              <a:t> הציג ביצועים גבוהים ויציבים (</a:t>
            </a:r>
            <a:r>
              <a:rPr b="1" lang="iw" sz="600">
                <a:solidFill>
                  <a:schemeClr val="lt1"/>
                </a:solidFill>
                <a:latin typeface="Assistant"/>
                <a:ea typeface="Assistant"/>
                <a:cs typeface="Assistant"/>
                <a:sym typeface="Assistant"/>
              </a:rPr>
              <a:t>92.10%</a:t>
            </a:r>
            <a:r>
              <a:rPr lang="iw" sz="600">
                <a:solidFill>
                  <a:schemeClr val="lt1"/>
                </a:solidFill>
                <a:latin typeface="Assistant"/>
                <a:ea typeface="Assistant"/>
                <a:cs typeface="Assistant"/>
                <a:sym typeface="Assistant"/>
              </a:rPr>
              <a:t>).</a:t>
            </a:r>
            <a:endParaRPr sz="600">
              <a:solidFill>
                <a:schemeClr val="lt1"/>
              </a:solidFill>
              <a:latin typeface="Assistant"/>
              <a:ea typeface="Assistant"/>
              <a:cs typeface="Assistant"/>
              <a:sym typeface="Assistant"/>
            </a:endParaRPr>
          </a:p>
          <a:p>
            <a:pPr indent="-266700" lvl="0" marL="457200" rtl="1" algn="r">
              <a:lnSpc>
                <a:spcPct val="115000"/>
              </a:lnSpc>
              <a:spcBef>
                <a:spcPts val="0"/>
              </a:spcBef>
              <a:spcAft>
                <a:spcPts val="0"/>
              </a:spcAft>
              <a:buClr>
                <a:schemeClr val="lt1"/>
              </a:buClr>
              <a:buSzPts val="600"/>
              <a:buChar char="●"/>
            </a:pPr>
            <a:r>
              <a:rPr b="1" lang="iw" sz="600">
                <a:solidFill>
                  <a:schemeClr val="lt1"/>
                </a:solidFill>
                <a:latin typeface="Assistant"/>
                <a:ea typeface="Assistant"/>
                <a:cs typeface="Assistant"/>
                <a:sym typeface="Assistant"/>
              </a:rPr>
              <a:t>Logistic Regression</a:t>
            </a:r>
            <a:r>
              <a:rPr lang="iw" sz="600">
                <a:solidFill>
                  <a:schemeClr val="lt1"/>
                </a:solidFill>
                <a:latin typeface="Assistant"/>
                <a:ea typeface="Assistant"/>
                <a:cs typeface="Assistant"/>
                <a:sym typeface="Assistant"/>
              </a:rPr>
              <a:t> ו־</a:t>
            </a:r>
            <a:r>
              <a:rPr b="1" lang="iw" sz="600">
                <a:solidFill>
                  <a:schemeClr val="lt1"/>
                </a:solidFill>
                <a:latin typeface="Assistant"/>
                <a:ea typeface="Assistant"/>
                <a:cs typeface="Assistant"/>
                <a:sym typeface="Assistant"/>
              </a:rPr>
              <a:t>KNN</a:t>
            </a:r>
            <a:r>
              <a:rPr lang="iw" sz="600">
                <a:solidFill>
                  <a:schemeClr val="lt1"/>
                </a:solidFill>
                <a:latin typeface="Assistant"/>
                <a:ea typeface="Assistant"/>
                <a:cs typeface="Assistant"/>
                <a:sym typeface="Assistant"/>
              </a:rPr>
              <a:t> הציגו ביצועים נמוכים יותר באופן עקבי.</a:t>
            </a:r>
            <a:endParaRPr sz="600">
              <a:solidFill>
                <a:schemeClr val="lt1"/>
              </a:solidFill>
              <a:latin typeface="Assistant"/>
              <a:ea typeface="Assistant"/>
              <a:cs typeface="Assistant"/>
              <a:sym typeface="Assistant"/>
            </a:endParaRPr>
          </a:p>
          <a:p>
            <a:pPr indent="-266700" lvl="0" marL="457200" rtl="1" algn="r">
              <a:lnSpc>
                <a:spcPct val="115000"/>
              </a:lnSpc>
              <a:spcBef>
                <a:spcPts val="0"/>
              </a:spcBef>
              <a:spcAft>
                <a:spcPts val="0"/>
              </a:spcAft>
              <a:buClr>
                <a:schemeClr val="lt1"/>
              </a:buClr>
              <a:buSzPts val="600"/>
              <a:buChar char="●"/>
            </a:pPr>
            <a:r>
              <a:rPr lang="iw" sz="600">
                <a:solidFill>
                  <a:schemeClr val="lt1"/>
                </a:solidFill>
                <a:latin typeface="Assistant"/>
                <a:ea typeface="Assistant"/>
                <a:cs typeface="Assistant"/>
                <a:sym typeface="Assistant"/>
              </a:rPr>
              <a:t>סטיית התקן של Random Forest היא הנמוכה ביותר (</a:t>
            </a:r>
            <a:r>
              <a:rPr b="1" lang="iw" sz="600">
                <a:solidFill>
                  <a:schemeClr val="lt1"/>
                </a:solidFill>
                <a:latin typeface="Assistant"/>
                <a:ea typeface="Assistant"/>
                <a:cs typeface="Assistant"/>
                <a:sym typeface="Assistant"/>
              </a:rPr>
              <a:t>0.0059</a:t>
            </a:r>
            <a:r>
              <a:rPr lang="iw" sz="600">
                <a:solidFill>
                  <a:schemeClr val="lt1"/>
                </a:solidFill>
                <a:latin typeface="Assistant"/>
                <a:ea typeface="Assistant"/>
                <a:cs typeface="Assistant"/>
                <a:sym typeface="Assistant"/>
              </a:rPr>
              <a:t>), דבר המעיד על יציבות גבוהה של המודל בין חלוקות שונות של הנתונים.</a:t>
            </a:r>
            <a:endParaRPr sz="600">
              <a:solidFill>
                <a:schemeClr val="lt1"/>
              </a:solidFill>
              <a:latin typeface="Assistant"/>
              <a:ea typeface="Assistant"/>
              <a:cs typeface="Assistant"/>
              <a:sym typeface="Assistan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12C"/>
        </a:solidFill>
      </p:bgPr>
    </p:bg>
    <p:spTree>
      <p:nvGrpSpPr>
        <p:cNvPr id="542" name="Shape 542"/>
        <p:cNvGrpSpPr/>
        <p:nvPr/>
      </p:nvGrpSpPr>
      <p:grpSpPr>
        <a:xfrm>
          <a:off x="0" y="0"/>
          <a:ext cx="0" cy="0"/>
          <a:chOff x="0" y="0"/>
          <a:chExt cx="0" cy="0"/>
        </a:xfrm>
      </p:grpSpPr>
      <p:grpSp>
        <p:nvGrpSpPr>
          <p:cNvPr id="543" name="Google Shape;543;p36"/>
          <p:cNvGrpSpPr/>
          <p:nvPr/>
        </p:nvGrpSpPr>
        <p:grpSpPr>
          <a:xfrm>
            <a:off x="1619250" y="238125"/>
            <a:ext cx="6953400" cy="695250"/>
            <a:chOff x="1619250" y="238125"/>
            <a:chExt cx="6953400" cy="695250"/>
          </a:xfrm>
        </p:grpSpPr>
        <p:sp>
          <p:nvSpPr>
            <p:cNvPr id="544" name="Google Shape;544;p36"/>
            <p:cNvSpPr txBox="1"/>
            <p:nvPr/>
          </p:nvSpPr>
          <p:spPr>
            <a:xfrm>
              <a:off x="4381500" y="238125"/>
              <a:ext cx="4191000" cy="4287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0" lang="iw" sz="2400">
                  <a:solidFill>
                    <a:srgbClr val="FFFFFF"/>
                  </a:solidFill>
                  <a:latin typeface="Assistant ExtraBold"/>
                  <a:ea typeface="Assistant ExtraBold"/>
                  <a:cs typeface="Assistant ExtraBold"/>
                  <a:sym typeface="Assistant ExtraBold"/>
                </a:rPr>
                <a:t>מסקנות ותובנות מהמחקר</a:t>
              </a:r>
              <a:endParaRPr b="0" sz="2400">
                <a:solidFill>
                  <a:srgbClr val="FFFFFF"/>
                </a:solidFill>
                <a:latin typeface="Assistant ExtraBold"/>
                <a:ea typeface="Assistant ExtraBold"/>
                <a:cs typeface="Assistant ExtraBold"/>
                <a:sym typeface="Assistant ExtraBold"/>
              </a:endParaRPr>
            </a:p>
          </p:txBody>
        </p:sp>
        <p:sp>
          <p:nvSpPr>
            <p:cNvPr id="545" name="Google Shape;545;p36"/>
            <p:cNvSpPr txBox="1"/>
            <p:nvPr/>
          </p:nvSpPr>
          <p:spPr>
            <a:xfrm>
              <a:off x="1619250" y="600075"/>
              <a:ext cx="6953400" cy="3333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0" lang="iw" sz="1000">
                  <a:solidFill>
                    <a:srgbClr val="7A8D9E"/>
                  </a:solidFill>
                  <a:latin typeface="Assistant"/>
                  <a:ea typeface="Assistant"/>
                  <a:cs typeface="Assistant"/>
                  <a:sym typeface="Assistant"/>
                </a:rPr>
                <a:t>סיכום ממצאי השוואת המודלים, השפעת הרחבת הפרויקט והצגת כיוונים אפשריים למחקר והמשך פיתוח.</a:t>
              </a:r>
              <a:endParaRPr b="0" sz="1000">
                <a:solidFill>
                  <a:srgbClr val="7A8D9E"/>
                </a:solidFill>
                <a:latin typeface="Assistant"/>
                <a:ea typeface="Assistant"/>
                <a:cs typeface="Assistant"/>
                <a:sym typeface="Assistant"/>
              </a:endParaRPr>
            </a:p>
          </p:txBody>
        </p:sp>
      </p:grpSp>
      <p:grpSp>
        <p:nvGrpSpPr>
          <p:cNvPr id="546" name="Google Shape;546;p36"/>
          <p:cNvGrpSpPr/>
          <p:nvPr/>
        </p:nvGrpSpPr>
        <p:grpSpPr>
          <a:xfrm>
            <a:off x="4810125" y="904875"/>
            <a:ext cx="3762300" cy="3238500"/>
            <a:chOff x="4810125" y="904875"/>
            <a:chExt cx="3762300" cy="3238500"/>
          </a:xfrm>
        </p:grpSpPr>
        <p:sp>
          <p:nvSpPr>
            <p:cNvPr id="547" name="Google Shape;547;p36"/>
            <p:cNvSpPr/>
            <p:nvPr/>
          </p:nvSpPr>
          <p:spPr>
            <a:xfrm>
              <a:off x="4810125"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36"/>
            <p:cNvSpPr/>
            <p:nvPr/>
          </p:nvSpPr>
          <p:spPr>
            <a:xfrm>
              <a:off x="4810125" y="904875"/>
              <a:ext cx="37623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36"/>
            <p:cNvSpPr txBox="1"/>
            <p:nvPr/>
          </p:nvSpPr>
          <p:spPr>
            <a:xfrm>
              <a:off x="5000625"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00E5FF"/>
                  </a:solidFill>
                  <a:latin typeface="Courier New"/>
                  <a:ea typeface="Courier New"/>
                  <a:cs typeface="Courier New"/>
                  <a:sym typeface="Courier New"/>
                </a:rPr>
                <a:t>CONCLUSIONS // MODEL_EVALUATION</a:t>
              </a:r>
              <a:endParaRPr b="1" sz="850">
                <a:solidFill>
                  <a:srgbClr val="00E5FF"/>
                </a:solidFill>
                <a:latin typeface="Courier New"/>
                <a:ea typeface="Courier New"/>
                <a:cs typeface="Courier New"/>
                <a:sym typeface="Courier New"/>
              </a:endParaRPr>
            </a:p>
            <a:p>
              <a:pPr indent="0" lvl="0" marL="0" rtl="1" algn="r">
                <a:spcBef>
                  <a:spcPts val="900"/>
                </a:spcBef>
                <a:spcAft>
                  <a:spcPts val="0"/>
                </a:spcAft>
                <a:buNone/>
              </a:pPr>
              <a:r>
                <a:rPr b="1" lang="iw" sz="1400">
                  <a:solidFill>
                    <a:srgbClr val="FFFFFF"/>
                  </a:solidFill>
                  <a:latin typeface="Assistant"/>
                  <a:ea typeface="Assistant"/>
                  <a:cs typeface="Assistant"/>
                  <a:sym typeface="Assistant"/>
                </a:rPr>
                <a:t>מסקנות ותוצאות עיקריות</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Random Forest מוביל בביצועים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אלגוריתם ה-Random Forest השיג את התוצאות הטובות ביותר מבין כלל המודלים שנבחנו, עם דיוק ויציבות מירביים.</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SVM הציג ביצועים גבוהים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מודל ה-SVM הפגין יכולת הכללה מרשימה והיווה מתחרה חזק מאוד בחיזוי מדויק של המחלה.</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תרומת הרחבת הפרויקט</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תהליכי ה-GridSearchCV וה-Cross Validation שיפרו משמעותית את יציבות המודלים ומנעו תופעות של הטיות או התאמת יתר.</a:t>
              </a:r>
              <a:endParaRPr b="0" sz="950">
                <a:solidFill>
                  <a:srgbClr val="A0B2C6"/>
                </a:solidFill>
                <a:latin typeface="Assistant"/>
                <a:ea typeface="Assistant"/>
                <a:cs typeface="Assistant"/>
                <a:sym typeface="Assistant"/>
              </a:endParaRPr>
            </a:p>
            <a:p>
              <a:pPr indent="0" lvl="0" marL="0" rtl="1" algn="r">
                <a:spcBef>
                  <a:spcPts val="750"/>
                </a:spcBef>
                <a:spcAft>
                  <a:spcPts val="0"/>
                </a:spcAft>
                <a:buNone/>
              </a:pPr>
              <a:r>
                <a:rPr b="1" lang="iw" sz="1100">
                  <a:solidFill>
                    <a:srgbClr val="FFFFFF"/>
                  </a:solidFill>
                  <a:latin typeface="Assistant"/>
                  <a:ea typeface="Assistant"/>
                  <a:cs typeface="Assistant"/>
                  <a:sym typeface="Assistant"/>
                </a:rPr>
                <a:t>• זיהוי מוקדם מציל חיים</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הוכח כי שימוש במודלי למידת מכונה יכול להוות כלי עזר קליני יקיר ערך לרופאים לצורך זיהוי מוקדם של מחלות לב.</a:t>
              </a:r>
              <a:endParaRPr b="0" sz="950">
                <a:solidFill>
                  <a:srgbClr val="A0B2C6"/>
                </a:solidFill>
                <a:latin typeface="Assistant"/>
                <a:ea typeface="Assistant"/>
                <a:cs typeface="Assistant"/>
                <a:sym typeface="Assistant"/>
              </a:endParaRPr>
            </a:p>
          </p:txBody>
        </p:sp>
      </p:grpSp>
      <p:grpSp>
        <p:nvGrpSpPr>
          <p:cNvPr id="550" name="Google Shape;550;p36"/>
          <p:cNvGrpSpPr/>
          <p:nvPr/>
        </p:nvGrpSpPr>
        <p:grpSpPr>
          <a:xfrm>
            <a:off x="571500" y="904875"/>
            <a:ext cx="3762300" cy="3238500"/>
            <a:chOff x="571500" y="904875"/>
            <a:chExt cx="3762300" cy="3238500"/>
          </a:xfrm>
        </p:grpSpPr>
        <p:sp>
          <p:nvSpPr>
            <p:cNvPr id="551" name="Google Shape;551;p36"/>
            <p:cNvSpPr/>
            <p:nvPr/>
          </p:nvSpPr>
          <p:spPr>
            <a:xfrm>
              <a:off x="571500" y="904875"/>
              <a:ext cx="3762300" cy="3238500"/>
            </a:xfrm>
            <a:prstGeom prst="roundRect">
              <a:avLst>
                <a:gd fmla="val 1764" name="adj"/>
              </a:avLst>
            </a:prstGeom>
            <a:solidFill>
              <a:srgbClr val="0E1524"/>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6"/>
            <p:cNvSpPr/>
            <p:nvPr/>
          </p:nvSpPr>
          <p:spPr>
            <a:xfrm>
              <a:off x="571500" y="904875"/>
              <a:ext cx="3762300" cy="38100"/>
            </a:xfrm>
            <a:prstGeom prst="rect">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36"/>
            <p:cNvSpPr txBox="1"/>
            <p:nvPr/>
          </p:nvSpPr>
          <p:spPr>
            <a:xfrm>
              <a:off x="762000" y="1047750"/>
              <a:ext cx="3381300" cy="29529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b="1" lang="iw" sz="850">
                  <a:solidFill>
                    <a:srgbClr val="10B981"/>
                  </a:solidFill>
                  <a:latin typeface="Courier New"/>
                  <a:ea typeface="Courier New"/>
                  <a:cs typeface="Courier New"/>
                  <a:sym typeface="Courier New"/>
                </a:rPr>
                <a:t>FUTURE_WORK // NEXT_STEPS</a:t>
              </a:r>
              <a:endParaRPr b="1" sz="850">
                <a:solidFill>
                  <a:srgbClr val="10B981"/>
                </a:solidFill>
                <a:latin typeface="Courier New"/>
                <a:ea typeface="Courier New"/>
                <a:cs typeface="Courier New"/>
                <a:sym typeface="Courier New"/>
              </a:endParaRPr>
            </a:p>
            <a:p>
              <a:pPr indent="0" lvl="0" marL="0" rtl="1" algn="r">
                <a:spcBef>
                  <a:spcPts val="900"/>
                </a:spcBef>
                <a:spcAft>
                  <a:spcPts val="0"/>
                </a:spcAft>
                <a:buNone/>
              </a:pPr>
              <a:r>
                <a:rPr b="1" lang="iw" sz="1400">
                  <a:solidFill>
                    <a:srgbClr val="FFFFFF"/>
                  </a:solidFill>
                  <a:latin typeface="Assistant"/>
                  <a:ea typeface="Assistant"/>
                  <a:cs typeface="Assistant"/>
                  <a:sym typeface="Assistant"/>
                </a:rPr>
                <a:t>כיווני מחקר ועבודות עתידיות</a:t>
              </a:r>
              <a:endParaRPr b="1" sz="1400">
                <a:solidFill>
                  <a:srgbClr val="FFFFFF"/>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שילוב למידה עמוקה (Deep Learning)</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מעבר מרשתות שטוחות לשימוש בארכיטקטורות מורכבות של Deep Learning (כמו MLP או RNN) לשיפור איכות המידול של קשרים לא ליניאריים בנתונים הרפואיים.</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עיבוד נתונים בזמן אמת (Real-Time Data)</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פיתוח תשתית קליטה וניתוח המאפשרת להזרים נתוני מטופלים בזמן אמת ולקבל חיזויים מיידיים לתמיכה בהחלטות רפואיות דחופות.</a:t>
              </a:r>
              <a:endParaRPr b="0" sz="950">
                <a:solidFill>
                  <a:srgbClr val="A0B2C6"/>
                </a:solidFill>
                <a:latin typeface="Assistant"/>
                <a:ea typeface="Assistant"/>
                <a:cs typeface="Assistant"/>
                <a:sym typeface="Assistant"/>
              </a:endParaRPr>
            </a:p>
            <a:p>
              <a:pPr indent="0" lvl="0" marL="0" rtl="1" algn="r">
                <a:spcBef>
                  <a:spcPts val="900"/>
                </a:spcBef>
                <a:spcAft>
                  <a:spcPts val="0"/>
                </a:spcAft>
                <a:buNone/>
              </a:pPr>
              <a:r>
                <a:rPr b="1" lang="iw" sz="1100">
                  <a:solidFill>
                    <a:srgbClr val="FFFFFF"/>
                  </a:solidFill>
                  <a:latin typeface="Assistant"/>
                  <a:ea typeface="Assistant"/>
                  <a:cs typeface="Assistant"/>
                  <a:sym typeface="Assistant"/>
                </a:rPr>
                <a:t>• אינטגרציה עם מכשירים לבישים (Wearable Devices)</a:t>
              </a:r>
              <a:endParaRPr b="1" sz="1100">
                <a:solidFill>
                  <a:srgbClr val="FFFFFF"/>
                </a:solidFill>
                <a:latin typeface="Assistant"/>
                <a:ea typeface="Assistant"/>
                <a:cs typeface="Assistant"/>
                <a:sym typeface="Assistant"/>
              </a:endParaRPr>
            </a:p>
            <a:p>
              <a:pPr indent="0" lvl="0" marL="0" rtl="1" algn="r">
                <a:spcBef>
                  <a:spcPts val="300"/>
                </a:spcBef>
                <a:spcAft>
                  <a:spcPts val="0"/>
                </a:spcAft>
                <a:buNone/>
              </a:pPr>
              <a:r>
                <a:rPr b="0" lang="iw" sz="950">
                  <a:solidFill>
                    <a:srgbClr val="A0B2C6"/>
                  </a:solidFill>
                  <a:latin typeface="Assistant"/>
                  <a:ea typeface="Assistant"/>
                  <a:cs typeface="Assistant"/>
                  <a:sym typeface="Assistant"/>
                </a:rPr>
                <a:t>חיבור המודלים למדדים המופקים משעונים חכמים וסנסורים לבישים (כגון דופק רציף ורמות חמצן) לצורך ניטור קבוע וחיזוי מוקדם של אירועי לב בסביבה היומיומית.</a:t>
              </a:r>
              <a:endParaRPr b="0" sz="950">
                <a:solidFill>
                  <a:srgbClr val="A0B2C6"/>
                </a:solidFill>
                <a:latin typeface="Assistant"/>
                <a:ea typeface="Assistant"/>
                <a:cs typeface="Assistant"/>
                <a:sym typeface="Assistant"/>
              </a:endParaRPr>
            </a:p>
          </p:txBody>
        </p:sp>
      </p:grpSp>
      <p:grpSp>
        <p:nvGrpSpPr>
          <p:cNvPr id="554" name="Google Shape;554;p36"/>
          <p:cNvGrpSpPr/>
          <p:nvPr/>
        </p:nvGrpSpPr>
        <p:grpSpPr>
          <a:xfrm>
            <a:off x="571500" y="4333875"/>
            <a:ext cx="8001000" cy="362100"/>
            <a:chOff x="571500" y="4333875"/>
            <a:chExt cx="8001000" cy="362100"/>
          </a:xfrm>
        </p:grpSpPr>
        <p:sp>
          <p:nvSpPr>
            <p:cNvPr id="555" name="Google Shape;555;p36"/>
            <p:cNvSpPr/>
            <p:nvPr/>
          </p:nvSpPr>
          <p:spPr>
            <a:xfrm>
              <a:off x="571500" y="4333875"/>
              <a:ext cx="8001000" cy="362100"/>
            </a:xfrm>
            <a:prstGeom prst="roundRect">
              <a:avLst>
                <a:gd fmla="val 10526" name="adj"/>
              </a:avLst>
            </a:prstGeom>
            <a:solidFill>
              <a:srgbClr val="0A0E1A"/>
            </a:solidFill>
            <a:ln cap="flat" cmpd="sng" w="9525">
              <a:solidFill>
                <a:srgbClr val="1F2E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36"/>
            <p:cNvSpPr/>
            <p:nvPr/>
          </p:nvSpPr>
          <p:spPr>
            <a:xfrm>
              <a:off x="7772400" y="44767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36"/>
            <p:cNvSpPr txBox="1"/>
            <p:nvPr/>
          </p:nvSpPr>
          <p:spPr>
            <a:xfrm>
              <a:off x="714375" y="4333875"/>
              <a:ext cx="6905700" cy="3621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None/>
              </a:pPr>
              <a:r>
                <a:rPr b="1" lang="iw" sz="900">
                  <a:solidFill>
                    <a:srgbClr val="10B981"/>
                  </a:solidFill>
                  <a:latin typeface="Courier New"/>
                  <a:ea typeface="Courier New"/>
                  <a:cs typeface="Courier New"/>
                  <a:sym typeface="Courier New"/>
                </a:rPr>
                <a:t>שורה תחתונה: </a:t>
              </a:r>
              <a:r>
                <a:rPr b="0" lang="iw" sz="900">
                  <a:solidFill>
                    <a:srgbClr val="7A8D9E"/>
                  </a:solidFill>
                  <a:latin typeface="Assistant"/>
                  <a:ea typeface="Assistant"/>
                  <a:cs typeface="Assistant"/>
                  <a:sym typeface="Assistant"/>
                </a:rPr>
                <a:t>למידת מכונה מוכיחה את עצמה כארגז כלים קריטי לאבחון רפואי מונע, כאשר הרחבות מתקדמות ושילוב נתוני זמן אמת הם המפתח לשלב הפיתוח הבא.</a:t>
              </a:r>
              <a:endParaRPr b="1" sz="900">
                <a:solidFill>
                  <a:srgbClr val="10B981"/>
                </a:solidFill>
                <a:latin typeface="Courier New"/>
                <a:ea typeface="Courier New"/>
                <a:cs typeface="Courier New"/>
                <a:sym typeface="Courier New"/>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